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“My project is a Library Management System built around more than basic CRUD operations. I focused on how the system is structured internally: how business rules stay consistent, how the custom data structure works, and how persistence is kept separate from the application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 is not only to store records. The application must know whether a book can be borrowed, whether a member has reached the limit, and whether a removal is safe. We designed operations so those rules live in one service rather than being repeated in menu handlers.”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execution path is straightforward. The console gathers a command, the service checks business rules, and the domain objects represent book and member state. For mutations such as borrowing, the service calls the repository first and updates in-memory state only after persistence succeeds. The repository abstraction means the service is not coupled directly to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UI knows how to communicate with the user, but it does not implement borrowing rules or SQL. LibraryService is the orchestration point. Book and Member own domain state, strategies isolate algorithms, Container owns storage mechanics, and ILibraryRepository hides the database implementation. This makes each part easier to test and change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names are useful because each one tells us where to look for a change. Console interaction belongs in the UI classes. The central library behavior belongs in LibraryService. Domain entities validate their own core fields. Search and sort are separate strategies. The custom container owns node operations. The repository adapters own the details of persistence.”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 and Member are real domain types, not just database rows. The service checks uniqueness and prevents unsafe removal. A member can have at most five active loans, and a book cannot be borrowed if it is already unavailable. In SQLite, a loan is considered open while returned_at is null, and a partial unique index prevents more than one open loan for the same ISBN.”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“Container&lt;T&gt; is a templated doubly linked list implemented inside the project. Each node contains a value and prev/next links. Insertion at the head or tail is constant time, and once a node is located it can be unlinked without shifting other elements. Finding a value or an index still needs traversal, so those operations are linear. The custom container also makes iterators and sorting behavior explicit for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facade pattern is represented by LibraryService: it gives the UI one place to call. Strategy separates search and sorting choices from the orchestration layer. Repository hides the storage mechanism behind ILibraryRepository. There are also supporting techniques: factories create strategies from names, iterators hide linked-list navigation, NullRepository removes some conditional handling, and RAII controls resource lifetimes.”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“SQLite stores books, members and loan history. A loan is open when returned_at is null; availability is derived from open loan records rather than duplicated as a separate boolean in the database. Foreign keys protect relationships, prepared statements bind query values, and a partial unique index ensures a book cannot have two open loans. The service depends on the repository interface, not on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menu exposes book creation and removal, searching and sorting, borrowing and returning, member management, and basic statistics. The important point is that each feature shares the same service rules. For example, removal does not bypass borrowing checks, and the available/borrowed counters come from the application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a borrow, the service normalizes the ISBN and resolves both entities. It checks that the member exists, the book exists and is available, and the member has not reached the five-book limit. Then it records the borrow through the repository. Only after that succeeds does it add the ISBN to the member and mark the book as borrowed. This ordering helps ensure a database error does not mutate in-memory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README documents 189 test cases and 209,475 assertions passing with no failures, plus a 3,000-operation randomized scenario test. Coverage includes the custom container, iterators, algorithms, domain rules, service operations, SQLite storage, persistence reload, and console behavior. AddressSanitizer and UndefinedBehaviorSanitizer are enabled by default for supported GCC and Clang builds on Linux and macOS, and are run in the Linux CI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engineering challenge was consistency: a borrow affects a book, a member and persistent loan history. The service makes those changes in a controlled order. The container was another challenge because node pointers and iterators must remain valid across insertions and removals. Search and sort became easier to extend with strategies. RAII also reduces the risk of leaking SQLite resources.” Note for the presenter: describe the exception-safety guarantee accurately—ordinary repository failures occur before memory mutation, but the README documents an allocation edge case if memory allocation fails after persistence has succeeded.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combines practical library workflows with software engineering ideas: layered design, explicit domain invariants, a custom container, replaceable search and sort strategies, a repository abstraction, and automated testing. The current application is a single-user, single-threaded console system. The next steps focus on usability, reporting, security and broader operational concerns.”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work can build on the current service and repository boundaries. A GUI should reuse the same service API. More advanced search and reporting improve usability. Authentication and permissions introduce access control. Due dates, renewals and fines extend circulation rules. Schema migrations and backup improve operations, while concurrency and state refresh are needed before supporting multiple application instances against the same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30352" y="6510528"/>
            <a:ext cx="11137392" cy="10973"/>
          </a:xfrm>
          <a:prstGeom prst="rect">
            <a:avLst/>
          </a:prstGeom>
          <a:solidFill>
            <a:srgbClr val="E0E7EB"/>
          </a:solidFill>
          <a:ln w="12700">
            <a:solidFill>
              <a:srgbClr val="E0E7EB">
                <a:alpha val="0"/>
              </a:srgbClr>
            </a:solidFill>
            <a:prstDash val="solid"/>
          </a:ln>
        </p:spPr>
      </p:sp>
      <p:sp>
        <p:nvSpPr>
          <p:cNvPr id="3" name="Text 1"/>
          <p:cNvSpPr/>
          <p:nvPr/>
        </p:nvSpPr>
        <p:spPr>
          <a:xfrm>
            <a:off x="566928" y="6565392"/>
            <a:ext cx="5303520" cy="146304"/>
          </a:xfrm>
          <a:prstGeom prst="rect">
            <a:avLst/>
          </a:prstGeom>
          <a:noFill/>
          <a:ln/>
        </p:spPr>
        <p:txBody>
          <a:bodyPr wrap="square" lIns="0" tIns="0" rIns="0" bIns="0" rtlCol="0" anchor="ctr"/>
          <a:lstStyle/>
          <a:p>
            <a:pPr indent="0" marL="0">
              <a:buNone/>
            </a:pPr>
            <a:r>
              <a:rPr lang="en-US" sz="750" spc="110" kern="0" dirty="0">
                <a:solidFill>
                  <a:srgbClr val="6B7A88"/>
                </a:solidFill>
                <a:latin typeface="Inter" pitchFamily="34" charset="0"/>
                <a:ea typeface="Inter" pitchFamily="34" charset="-122"/>
                <a:cs typeface="Inter" pitchFamily="34" charset="-120"/>
              </a:rPr>
              <a:t>TITANS  /  LIBRARY MANAGEMENT SYSTEM</a:t>
            </a:r>
            <a:endParaRPr lang="en-US" sz="75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3A"/>
        </a:solidFill>
      </p:bgPr>
    </p:bg>
    <p:spTree>
      <p:nvGrpSpPr>
        <p:cNvPr id="1" name=""/>
        <p:cNvGrpSpPr/>
        <p:nvPr/>
      </p:nvGrpSpPr>
      <p:grpSpPr>
        <a:xfrm>
          <a:off x="0" y="0"/>
          <a:ext cx="0" cy="0"/>
          <a:chOff x="0" y="0"/>
          <a:chExt cx="0" cy="0"/>
        </a:xfrm>
      </p:grpSpPr>
      <p:sp>
        <p:nvSpPr>
          <p:cNvPr id="2" name="Shape 0"/>
          <p:cNvSpPr/>
          <p:nvPr/>
        </p:nvSpPr>
        <p:spPr>
          <a:xfrm>
            <a:off x="7132320" y="0"/>
            <a:ext cx="0" cy="6858000"/>
          </a:xfrm>
          <a:prstGeom prst="line">
            <a:avLst/>
          </a:prstGeom>
          <a:noFill/>
          <a:ln w="6350">
            <a:solidFill>
              <a:srgbClr val="294357"/>
            </a:solidFill>
            <a:prstDash val="solid"/>
          </a:ln>
        </p:spPr>
      </p:sp>
      <p:sp>
        <p:nvSpPr>
          <p:cNvPr id="3" name="Shape 1"/>
          <p:cNvSpPr/>
          <p:nvPr/>
        </p:nvSpPr>
        <p:spPr>
          <a:xfrm>
            <a:off x="7699248" y="0"/>
            <a:ext cx="0" cy="6858000"/>
          </a:xfrm>
          <a:prstGeom prst="line">
            <a:avLst/>
          </a:prstGeom>
          <a:noFill/>
          <a:ln w="6350">
            <a:solidFill>
              <a:srgbClr val="294357"/>
            </a:solidFill>
            <a:prstDash val="solid"/>
          </a:ln>
        </p:spPr>
      </p:sp>
      <p:sp>
        <p:nvSpPr>
          <p:cNvPr id="4" name="Shape 2"/>
          <p:cNvSpPr/>
          <p:nvPr/>
        </p:nvSpPr>
        <p:spPr>
          <a:xfrm>
            <a:off x="8266176" y="0"/>
            <a:ext cx="0" cy="6858000"/>
          </a:xfrm>
          <a:prstGeom prst="line">
            <a:avLst/>
          </a:prstGeom>
          <a:noFill/>
          <a:ln w="6350">
            <a:solidFill>
              <a:srgbClr val="294357"/>
            </a:solidFill>
            <a:prstDash val="solid"/>
          </a:ln>
        </p:spPr>
      </p:sp>
      <p:sp>
        <p:nvSpPr>
          <p:cNvPr id="5" name="Shape 3"/>
          <p:cNvSpPr/>
          <p:nvPr/>
        </p:nvSpPr>
        <p:spPr>
          <a:xfrm>
            <a:off x="8833104" y="0"/>
            <a:ext cx="0" cy="6858000"/>
          </a:xfrm>
          <a:prstGeom prst="line">
            <a:avLst/>
          </a:prstGeom>
          <a:noFill/>
          <a:ln w="6350">
            <a:solidFill>
              <a:srgbClr val="294357"/>
            </a:solidFill>
            <a:prstDash val="solid"/>
          </a:ln>
        </p:spPr>
      </p:sp>
      <p:sp>
        <p:nvSpPr>
          <p:cNvPr id="6" name="Shape 4"/>
          <p:cNvSpPr/>
          <p:nvPr/>
        </p:nvSpPr>
        <p:spPr>
          <a:xfrm>
            <a:off x="9400032" y="0"/>
            <a:ext cx="0" cy="6858000"/>
          </a:xfrm>
          <a:prstGeom prst="line">
            <a:avLst/>
          </a:prstGeom>
          <a:noFill/>
          <a:ln w="6350">
            <a:solidFill>
              <a:srgbClr val="294357"/>
            </a:solidFill>
            <a:prstDash val="solid"/>
          </a:ln>
        </p:spPr>
      </p:sp>
      <p:sp>
        <p:nvSpPr>
          <p:cNvPr id="7" name="Shape 5"/>
          <p:cNvSpPr/>
          <p:nvPr/>
        </p:nvSpPr>
        <p:spPr>
          <a:xfrm>
            <a:off x="9966960" y="0"/>
            <a:ext cx="0" cy="6858000"/>
          </a:xfrm>
          <a:prstGeom prst="line">
            <a:avLst/>
          </a:prstGeom>
          <a:noFill/>
          <a:ln w="6350">
            <a:solidFill>
              <a:srgbClr val="294357"/>
            </a:solidFill>
            <a:prstDash val="solid"/>
          </a:ln>
        </p:spPr>
      </p:sp>
      <p:sp>
        <p:nvSpPr>
          <p:cNvPr id="8" name="Shape 6"/>
          <p:cNvSpPr/>
          <p:nvPr/>
        </p:nvSpPr>
        <p:spPr>
          <a:xfrm>
            <a:off x="10533888" y="0"/>
            <a:ext cx="0" cy="6858000"/>
          </a:xfrm>
          <a:prstGeom prst="line">
            <a:avLst/>
          </a:prstGeom>
          <a:noFill/>
          <a:ln w="6350">
            <a:solidFill>
              <a:srgbClr val="294357"/>
            </a:solidFill>
            <a:prstDash val="solid"/>
          </a:ln>
        </p:spPr>
      </p:sp>
      <p:sp>
        <p:nvSpPr>
          <p:cNvPr id="9" name="Shape 7"/>
          <p:cNvSpPr/>
          <p:nvPr/>
        </p:nvSpPr>
        <p:spPr>
          <a:xfrm>
            <a:off x="6812280" y="594360"/>
            <a:ext cx="5376672" cy="0"/>
          </a:xfrm>
          <a:prstGeom prst="line">
            <a:avLst/>
          </a:prstGeom>
          <a:noFill/>
          <a:ln w="6350">
            <a:solidFill>
              <a:srgbClr val="294357"/>
            </a:solidFill>
            <a:prstDash val="solid"/>
          </a:ln>
        </p:spPr>
      </p:sp>
      <p:sp>
        <p:nvSpPr>
          <p:cNvPr id="10" name="Shape 8"/>
          <p:cNvSpPr/>
          <p:nvPr/>
        </p:nvSpPr>
        <p:spPr>
          <a:xfrm>
            <a:off x="6812280" y="1380744"/>
            <a:ext cx="5376672" cy="0"/>
          </a:xfrm>
          <a:prstGeom prst="line">
            <a:avLst/>
          </a:prstGeom>
          <a:noFill/>
          <a:ln w="6350">
            <a:solidFill>
              <a:srgbClr val="294357"/>
            </a:solidFill>
            <a:prstDash val="solid"/>
          </a:ln>
        </p:spPr>
      </p:sp>
      <p:sp>
        <p:nvSpPr>
          <p:cNvPr id="11" name="Shape 9"/>
          <p:cNvSpPr/>
          <p:nvPr/>
        </p:nvSpPr>
        <p:spPr>
          <a:xfrm>
            <a:off x="6812280" y="2167128"/>
            <a:ext cx="5376672" cy="0"/>
          </a:xfrm>
          <a:prstGeom prst="line">
            <a:avLst/>
          </a:prstGeom>
          <a:noFill/>
          <a:ln w="6350">
            <a:solidFill>
              <a:srgbClr val="294357"/>
            </a:solidFill>
            <a:prstDash val="solid"/>
          </a:ln>
        </p:spPr>
      </p:sp>
      <p:sp>
        <p:nvSpPr>
          <p:cNvPr id="12" name="Shape 10"/>
          <p:cNvSpPr/>
          <p:nvPr/>
        </p:nvSpPr>
        <p:spPr>
          <a:xfrm>
            <a:off x="6812280" y="2953512"/>
            <a:ext cx="5376672" cy="0"/>
          </a:xfrm>
          <a:prstGeom prst="line">
            <a:avLst/>
          </a:prstGeom>
          <a:noFill/>
          <a:ln w="6350">
            <a:solidFill>
              <a:srgbClr val="294357"/>
            </a:solidFill>
            <a:prstDash val="solid"/>
          </a:ln>
        </p:spPr>
      </p:sp>
      <p:sp>
        <p:nvSpPr>
          <p:cNvPr id="13" name="Shape 11"/>
          <p:cNvSpPr/>
          <p:nvPr/>
        </p:nvSpPr>
        <p:spPr>
          <a:xfrm>
            <a:off x="6812280" y="3739896"/>
            <a:ext cx="5376672" cy="0"/>
          </a:xfrm>
          <a:prstGeom prst="line">
            <a:avLst/>
          </a:prstGeom>
          <a:noFill/>
          <a:ln w="6350">
            <a:solidFill>
              <a:srgbClr val="294357"/>
            </a:solidFill>
            <a:prstDash val="solid"/>
          </a:ln>
        </p:spPr>
      </p:sp>
      <p:sp>
        <p:nvSpPr>
          <p:cNvPr id="14" name="Shape 12"/>
          <p:cNvSpPr/>
          <p:nvPr/>
        </p:nvSpPr>
        <p:spPr>
          <a:xfrm>
            <a:off x="6812280" y="4526280"/>
            <a:ext cx="5376672" cy="0"/>
          </a:xfrm>
          <a:prstGeom prst="line">
            <a:avLst/>
          </a:prstGeom>
          <a:noFill/>
          <a:ln w="6350">
            <a:solidFill>
              <a:srgbClr val="294357"/>
            </a:solidFill>
            <a:prstDash val="solid"/>
          </a:ln>
        </p:spPr>
      </p:sp>
      <p:sp>
        <p:nvSpPr>
          <p:cNvPr id="15" name="Shape 13"/>
          <p:cNvSpPr/>
          <p:nvPr/>
        </p:nvSpPr>
        <p:spPr>
          <a:xfrm>
            <a:off x="6812280" y="5312664"/>
            <a:ext cx="5376672" cy="0"/>
          </a:xfrm>
          <a:prstGeom prst="line">
            <a:avLst/>
          </a:prstGeom>
          <a:noFill/>
          <a:ln w="6350">
            <a:solidFill>
              <a:srgbClr val="294357"/>
            </a:solidFill>
            <a:prstDash val="solid"/>
          </a:ln>
        </p:spPr>
      </p:sp>
      <p:sp>
        <p:nvSpPr>
          <p:cNvPr id="16" name="Shape 14"/>
          <p:cNvSpPr/>
          <p:nvPr/>
        </p:nvSpPr>
        <p:spPr>
          <a:xfrm>
            <a:off x="0" y="0"/>
            <a:ext cx="109728" cy="6858000"/>
          </a:xfrm>
          <a:prstGeom prst="rect">
            <a:avLst/>
          </a:prstGeom>
          <a:solidFill>
            <a:srgbClr val="16877D"/>
          </a:solidFill>
          <a:ln w="12700">
            <a:solidFill>
              <a:srgbClr val="16877D">
                <a:alpha val="0"/>
              </a:srgbClr>
            </a:solidFill>
            <a:prstDash val="solid"/>
          </a:ln>
        </p:spPr>
      </p:sp>
      <p:sp>
        <p:nvSpPr>
          <p:cNvPr id="17" name="Shape 15"/>
          <p:cNvSpPr/>
          <p:nvPr/>
        </p:nvSpPr>
        <p:spPr>
          <a:xfrm>
            <a:off x="749808" y="731520"/>
            <a:ext cx="2103120" cy="274320"/>
          </a:xfrm>
          <a:prstGeom prst="roundRect">
            <a:avLst>
              <a:gd name="adj" fmla="val 33333"/>
            </a:avLst>
          </a:prstGeom>
          <a:solidFill>
            <a:srgbClr val="254355"/>
          </a:solidFill>
          <a:ln w="12700">
            <a:solidFill>
              <a:srgbClr val="254355">
                <a:alpha val="0"/>
              </a:srgbClr>
            </a:solidFill>
            <a:prstDash val="solid"/>
          </a:ln>
        </p:spPr>
      </p:sp>
      <p:sp>
        <p:nvSpPr>
          <p:cNvPr id="18" name="Text 16"/>
          <p:cNvSpPr txBox="1"/>
          <p:nvPr/>
        </p:nvSpPr>
        <p:spPr>
          <a:xfrm>
            <a:off x="804672" y="745236"/>
            <a:ext cx="1993392" cy="242316"/>
          </a:xfrm>
          <a:prstGeom prst="rect">
            <a:avLst/>
          </a:prstGeom>
          <a:noFill/>
          <a:ln/>
        </p:spPr>
        <p:txBody>
          <a:bodyPr wrap="square" lIns="0" tIns="0" rIns="0" bIns="0" rtlCol="0" anchor="ctr">
            <a:normAutofit/>
          </a:bodyPr>
          <a:lstStyle/>
          <a:p>
            <a:pPr algn="ctr" indent="0" marL="0">
              <a:buNone/>
            </a:pPr>
            <a:r>
              <a:rPr lang="en-US" sz="850" b="1" spc="30" kern="0" dirty="0">
                <a:solidFill>
                  <a:srgbClr val="A5E4DB"/>
                </a:solidFill>
                <a:latin typeface="Inter" pitchFamily="34" charset="0"/>
                <a:ea typeface="Inter" pitchFamily="34" charset="-122"/>
                <a:cs typeface="Inter" pitchFamily="34" charset="-120"/>
              </a:rPr>
              <a:t>GRADUATION PROJECT</a:t>
            </a:r>
            <a:endParaRPr lang="en-US" sz="850" dirty="0"/>
          </a:p>
        </p:txBody>
      </p:sp>
      <p:sp>
        <p:nvSpPr>
          <p:cNvPr id="19" name="Text 17"/>
          <p:cNvSpPr txBox="1"/>
          <p:nvPr/>
        </p:nvSpPr>
        <p:spPr>
          <a:xfrm>
            <a:off x="749808" y="1353312"/>
            <a:ext cx="6400800" cy="1508760"/>
          </a:xfrm>
          <a:prstGeom prst="rect">
            <a:avLst/>
          </a:prstGeom>
          <a:noFill/>
          <a:ln/>
        </p:spPr>
        <p:txBody>
          <a:bodyPr wrap="square" lIns="0" tIns="0" rIns="0" bIns="0" rtlCol="0" anchor="t">
            <a:normAutofit/>
          </a:bodyPr>
          <a:lstStyle/>
          <a:p>
            <a:pPr algn="l" indent="0" marL="0">
              <a:buNone/>
            </a:pPr>
            <a:r>
              <a:rPr lang="en-US" sz="3800" b="1" dirty="0">
                <a:solidFill>
                  <a:srgbClr val="FFFFFF"/>
                </a:solidFill>
                <a:latin typeface="Inter" pitchFamily="34" charset="0"/>
                <a:ea typeface="Inter" pitchFamily="34" charset="-122"/>
                <a:cs typeface="Inter" pitchFamily="34" charset="-120"/>
              </a:rPr>
              <a:t>Library Management</a:t>
            </a:r>
            <a:endParaRPr lang="en-US" sz="3800" dirty="0"/>
          </a:p>
          <a:p>
            <a:pPr algn="l" indent="0" marL="0">
              <a:buNone/>
            </a:pPr>
            <a:r>
              <a:rPr lang="en-US" sz="3800" b="1" dirty="0">
                <a:solidFill>
                  <a:srgbClr val="FFFFFF"/>
                </a:solidFill>
                <a:latin typeface="Inter" pitchFamily="34" charset="0"/>
                <a:ea typeface="Inter" pitchFamily="34" charset="-122"/>
                <a:cs typeface="Inter" pitchFamily="34" charset="-120"/>
              </a:rPr>
              <a:t>System</a:t>
            </a:r>
            <a:endParaRPr lang="en-US" sz="3800" dirty="0"/>
          </a:p>
        </p:txBody>
      </p:sp>
      <p:sp>
        <p:nvSpPr>
          <p:cNvPr id="20" name="Text 18"/>
          <p:cNvSpPr txBox="1"/>
          <p:nvPr/>
        </p:nvSpPr>
        <p:spPr>
          <a:xfrm>
            <a:off x="786384" y="3127248"/>
            <a:ext cx="5760720" cy="804672"/>
          </a:xfrm>
          <a:prstGeom prst="rect">
            <a:avLst/>
          </a:prstGeom>
          <a:noFill/>
          <a:ln/>
        </p:spPr>
        <p:txBody>
          <a:bodyPr wrap="square" lIns="0" tIns="0" rIns="0" bIns="0" rtlCol="0" anchor="t">
            <a:normAutofit/>
          </a:bodyPr>
          <a:lstStyle/>
          <a:p>
            <a:pPr algn="l" indent="0" marL="0">
              <a:buNone/>
            </a:pPr>
            <a:r>
              <a:rPr lang="en-US" sz="1600" dirty="0">
                <a:solidFill>
                  <a:srgbClr val="C4D2DC"/>
                </a:solidFill>
                <a:latin typeface="Inter" pitchFamily="34" charset="0"/>
                <a:ea typeface="Inter" pitchFamily="34" charset="-122"/>
                <a:cs typeface="Inter" pitchFamily="34" charset="-120"/>
              </a:rPr>
              <a:t>A layered, test-driven C++17 application</a:t>
            </a:r>
            <a:endParaRPr lang="en-US" sz="1600" dirty="0"/>
          </a:p>
          <a:p>
            <a:pPr algn="l" indent="0" marL="0">
              <a:buNone/>
            </a:pPr>
            <a:r>
              <a:rPr lang="en-US" sz="1600" dirty="0">
                <a:solidFill>
                  <a:srgbClr val="C4D2DC"/>
                </a:solidFill>
                <a:latin typeface="Inter" pitchFamily="34" charset="0"/>
                <a:ea typeface="Inter" pitchFamily="34" charset="-122"/>
                <a:cs typeface="Inter" pitchFamily="34" charset="-120"/>
              </a:rPr>
              <a:t>with a custom container and SQLite persistence</a:t>
            </a:r>
            <a:endParaRPr lang="en-US" sz="1600" dirty="0"/>
          </a:p>
        </p:txBody>
      </p:sp>
      <p:sp>
        <p:nvSpPr>
          <p:cNvPr id="21" name="Shape 19"/>
          <p:cNvSpPr/>
          <p:nvPr/>
        </p:nvSpPr>
        <p:spPr>
          <a:xfrm>
            <a:off x="786384" y="4343400"/>
            <a:ext cx="5340096" cy="0"/>
          </a:xfrm>
          <a:prstGeom prst="line">
            <a:avLst/>
          </a:prstGeom>
          <a:noFill/>
          <a:ln w="13970">
            <a:solidFill>
              <a:srgbClr val="456175"/>
            </a:solidFill>
            <a:prstDash val="solid"/>
          </a:ln>
        </p:spPr>
      </p:sp>
      <p:sp>
        <p:nvSpPr>
          <p:cNvPr id="22" name="Text 20"/>
          <p:cNvSpPr txBox="1"/>
          <p:nvPr/>
        </p:nvSpPr>
        <p:spPr>
          <a:xfrm>
            <a:off x="786384" y="4590288"/>
            <a:ext cx="3474720" cy="310896"/>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Inter" pitchFamily="34" charset="0"/>
                <a:ea typeface="Inter" pitchFamily="34" charset="-122"/>
                <a:cs typeface="Inter" pitchFamily="34" charset="-120"/>
              </a:rPr>
              <a:t>Mazen Elsayed</a:t>
            </a:r>
            <a:endParaRPr lang="en-US" sz="1600" dirty="0"/>
          </a:p>
        </p:txBody>
      </p:sp>
      <p:sp>
        <p:nvSpPr>
          <p:cNvPr id="23" name="Text 21"/>
          <p:cNvSpPr txBox="1"/>
          <p:nvPr/>
        </p:nvSpPr>
        <p:spPr>
          <a:xfrm>
            <a:off x="786384" y="4974336"/>
            <a:ext cx="5120640" cy="274320"/>
          </a:xfrm>
          <a:prstGeom prst="rect">
            <a:avLst/>
          </a:prstGeom>
          <a:noFill/>
          <a:ln/>
        </p:spPr>
        <p:txBody>
          <a:bodyPr wrap="square" lIns="0" tIns="0" rIns="0" bIns="0" rtlCol="0" anchor="ctr">
            <a:normAutofit/>
          </a:bodyPr>
          <a:lstStyle/>
          <a:p>
            <a:pPr algn="l" indent="0" marL="0">
              <a:buNone/>
            </a:pPr>
            <a:r>
              <a:rPr lang="en-US" sz="1120" dirty="0">
                <a:solidFill>
                  <a:srgbClr val="B8C8D4"/>
                </a:solidFill>
                <a:latin typeface="Inter" pitchFamily="34" charset="0"/>
                <a:ea typeface="Inter" pitchFamily="34" charset="-122"/>
                <a:cs typeface="Inter" pitchFamily="34" charset="-120"/>
              </a:rPr>
              <a:t>Zagazig National University  ·  AI &amp; Data Science</a:t>
            </a:r>
            <a:endParaRPr lang="en-US" sz="1120" dirty="0"/>
          </a:p>
        </p:txBody>
      </p:sp>
      <p:sp>
        <p:nvSpPr>
          <p:cNvPr id="24" name="Text 22"/>
          <p:cNvSpPr txBox="1"/>
          <p:nvPr/>
        </p:nvSpPr>
        <p:spPr>
          <a:xfrm>
            <a:off x="786384" y="6016752"/>
            <a:ext cx="2103120" cy="201168"/>
          </a:xfrm>
          <a:prstGeom prst="rect">
            <a:avLst/>
          </a:prstGeom>
          <a:noFill/>
          <a:ln/>
        </p:spPr>
        <p:txBody>
          <a:bodyPr wrap="square" lIns="0" tIns="0" rIns="0" bIns="0" rtlCol="0" anchor="ctr">
            <a:normAutofit/>
          </a:bodyPr>
          <a:lstStyle/>
          <a:p>
            <a:pPr algn="l" indent="0" marL="0">
              <a:buNone/>
            </a:pPr>
            <a:r>
              <a:rPr lang="en-US" sz="900" b="1" spc="130" kern="0" dirty="0">
                <a:solidFill>
                  <a:srgbClr val="83CFC6"/>
                </a:solidFill>
                <a:latin typeface="Inter" pitchFamily="34" charset="0"/>
                <a:ea typeface="Inter" pitchFamily="34" charset="-122"/>
                <a:cs typeface="Inter" pitchFamily="34" charset="-120"/>
              </a:rPr>
              <a:t>Project defense</a:t>
            </a:r>
            <a:endParaRPr lang="en-US" sz="900" dirty="0"/>
          </a:p>
        </p:txBody>
      </p:sp>
      <p:sp>
        <p:nvSpPr>
          <p:cNvPr id="25" name="Shape 23"/>
          <p:cNvSpPr/>
          <p:nvPr/>
        </p:nvSpPr>
        <p:spPr>
          <a:xfrm>
            <a:off x="8229600" y="3246120"/>
            <a:ext cx="1965960" cy="621792"/>
          </a:xfrm>
          <a:prstGeom prst="roundRect">
            <a:avLst>
              <a:gd name="adj" fmla="val 11765"/>
            </a:avLst>
          </a:prstGeom>
          <a:solidFill>
            <a:srgbClr val="16877D"/>
          </a:solidFill>
          <a:ln w="12700">
            <a:solidFill>
              <a:srgbClr val="16877D">
                <a:alpha val="0"/>
              </a:srgbClr>
            </a:solidFill>
            <a:prstDash val="solid"/>
          </a:ln>
        </p:spPr>
      </p:sp>
      <p:sp>
        <p:nvSpPr>
          <p:cNvPr id="26" name="Shape 24"/>
          <p:cNvSpPr/>
          <p:nvPr/>
        </p:nvSpPr>
        <p:spPr>
          <a:xfrm>
            <a:off x="8412480" y="3355848"/>
            <a:ext cx="91440" cy="402336"/>
          </a:xfrm>
          <a:prstGeom prst="rect">
            <a:avLst/>
          </a:prstGeom>
          <a:solidFill>
            <a:srgbClr val="FFFFFF">
              <a:alpha val="85000"/>
            </a:srgbClr>
          </a:solidFill>
          <a:ln w="12700">
            <a:solidFill>
              <a:srgbClr val="FFFFFF">
                <a:alpha val="0"/>
              </a:srgbClr>
            </a:solidFill>
            <a:prstDash val="solid"/>
          </a:ln>
        </p:spPr>
      </p:sp>
      <p:sp>
        <p:nvSpPr>
          <p:cNvPr id="27" name="Shape 25"/>
          <p:cNvSpPr/>
          <p:nvPr/>
        </p:nvSpPr>
        <p:spPr>
          <a:xfrm>
            <a:off x="8668512" y="3438144"/>
            <a:ext cx="1344168" cy="0"/>
          </a:xfrm>
          <a:prstGeom prst="line">
            <a:avLst/>
          </a:prstGeom>
          <a:noFill/>
          <a:ln w="12700">
            <a:solidFill>
              <a:srgbClr val="FFFFFF"/>
            </a:solidFill>
            <a:prstDash val="solid"/>
          </a:ln>
        </p:spPr>
      </p:sp>
      <p:sp>
        <p:nvSpPr>
          <p:cNvPr id="28" name="Shape 26"/>
          <p:cNvSpPr/>
          <p:nvPr/>
        </p:nvSpPr>
        <p:spPr>
          <a:xfrm>
            <a:off x="8668512" y="3602736"/>
            <a:ext cx="1143000" cy="0"/>
          </a:xfrm>
          <a:prstGeom prst="line">
            <a:avLst/>
          </a:prstGeom>
          <a:noFill/>
          <a:ln w="12700">
            <a:solidFill>
              <a:srgbClr val="FFFFFF"/>
            </a:solidFill>
            <a:prstDash val="solid"/>
          </a:ln>
        </p:spPr>
      </p:sp>
      <p:sp>
        <p:nvSpPr>
          <p:cNvPr id="29" name="Shape 27"/>
          <p:cNvSpPr/>
          <p:nvPr/>
        </p:nvSpPr>
        <p:spPr>
          <a:xfrm>
            <a:off x="8549640" y="2560320"/>
            <a:ext cx="2157984" cy="603504"/>
          </a:xfrm>
          <a:prstGeom prst="roundRect">
            <a:avLst>
              <a:gd name="adj" fmla="val 12121"/>
            </a:avLst>
          </a:prstGeom>
          <a:solidFill>
            <a:srgbClr val="D2E4E8"/>
          </a:solidFill>
          <a:ln w="12700">
            <a:solidFill>
              <a:srgbClr val="D2E4E8">
                <a:alpha val="0"/>
              </a:srgbClr>
            </a:solidFill>
            <a:prstDash val="solid"/>
          </a:ln>
        </p:spPr>
      </p:sp>
      <p:sp>
        <p:nvSpPr>
          <p:cNvPr id="30" name="Shape 28"/>
          <p:cNvSpPr/>
          <p:nvPr/>
        </p:nvSpPr>
        <p:spPr>
          <a:xfrm>
            <a:off x="8732520" y="2670048"/>
            <a:ext cx="91440" cy="384048"/>
          </a:xfrm>
          <a:prstGeom prst="rect">
            <a:avLst/>
          </a:prstGeom>
          <a:solidFill>
            <a:srgbClr val="12263A"/>
          </a:solidFill>
          <a:ln w="12700">
            <a:solidFill>
              <a:srgbClr val="12263A">
                <a:alpha val="0"/>
              </a:srgbClr>
            </a:solidFill>
            <a:prstDash val="solid"/>
          </a:ln>
        </p:spPr>
      </p:sp>
      <p:sp>
        <p:nvSpPr>
          <p:cNvPr id="31" name="Shape 29"/>
          <p:cNvSpPr/>
          <p:nvPr/>
        </p:nvSpPr>
        <p:spPr>
          <a:xfrm>
            <a:off x="8988552" y="2752344"/>
            <a:ext cx="1536192" cy="0"/>
          </a:xfrm>
          <a:prstGeom prst="line">
            <a:avLst/>
          </a:prstGeom>
          <a:noFill/>
          <a:ln w="12700">
            <a:solidFill>
              <a:srgbClr val="12263A"/>
            </a:solidFill>
            <a:prstDash val="solid"/>
          </a:ln>
        </p:spPr>
      </p:sp>
      <p:sp>
        <p:nvSpPr>
          <p:cNvPr id="32" name="Shape 30"/>
          <p:cNvSpPr/>
          <p:nvPr/>
        </p:nvSpPr>
        <p:spPr>
          <a:xfrm>
            <a:off x="8988552" y="2916936"/>
            <a:ext cx="1335024" cy="0"/>
          </a:xfrm>
          <a:prstGeom prst="line">
            <a:avLst/>
          </a:prstGeom>
          <a:noFill/>
          <a:ln w="12700">
            <a:solidFill>
              <a:srgbClr val="12263A"/>
            </a:solidFill>
            <a:prstDash val="solid"/>
          </a:ln>
        </p:spPr>
      </p:sp>
      <p:sp>
        <p:nvSpPr>
          <p:cNvPr id="33" name="Shape 31"/>
          <p:cNvSpPr/>
          <p:nvPr/>
        </p:nvSpPr>
        <p:spPr>
          <a:xfrm>
            <a:off x="8339328" y="1874520"/>
            <a:ext cx="1975104" cy="603504"/>
          </a:xfrm>
          <a:prstGeom prst="roundRect">
            <a:avLst>
              <a:gd name="adj" fmla="val 12121"/>
            </a:avLst>
          </a:prstGeom>
          <a:solidFill>
            <a:srgbClr val="E3A34F"/>
          </a:solidFill>
          <a:ln w="12700">
            <a:solidFill>
              <a:srgbClr val="E3A34F">
                <a:alpha val="0"/>
              </a:srgbClr>
            </a:solidFill>
            <a:prstDash val="solid"/>
          </a:ln>
        </p:spPr>
      </p:sp>
      <p:sp>
        <p:nvSpPr>
          <p:cNvPr id="34" name="Shape 32"/>
          <p:cNvSpPr/>
          <p:nvPr/>
        </p:nvSpPr>
        <p:spPr>
          <a:xfrm>
            <a:off x="8522208" y="1984248"/>
            <a:ext cx="91440" cy="384048"/>
          </a:xfrm>
          <a:prstGeom prst="rect">
            <a:avLst/>
          </a:prstGeom>
          <a:solidFill>
            <a:srgbClr val="FFFFFF">
              <a:alpha val="85000"/>
            </a:srgbClr>
          </a:solidFill>
          <a:ln w="12700">
            <a:solidFill>
              <a:srgbClr val="FFFFFF">
                <a:alpha val="0"/>
              </a:srgbClr>
            </a:solidFill>
            <a:prstDash val="solid"/>
          </a:ln>
        </p:spPr>
      </p:sp>
      <p:sp>
        <p:nvSpPr>
          <p:cNvPr id="35" name="Shape 33"/>
          <p:cNvSpPr/>
          <p:nvPr/>
        </p:nvSpPr>
        <p:spPr>
          <a:xfrm>
            <a:off x="8778240" y="2066544"/>
            <a:ext cx="1353312" cy="0"/>
          </a:xfrm>
          <a:prstGeom prst="line">
            <a:avLst/>
          </a:prstGeom>
          <a:noFill/>
          <a:ln w="12700">
            <a:solidFill>
              <a:srgbClr val="FFFFFF"/>
            </a:solidFill>
            <a:prstDash val="solid"/>
          </a:ln>
        </p:spPr>
      </p:sp>
      <p:sp>
        <p:nvSpPr>
          <p:cNvPr id="36" name="Shape 34"/>
          <p:cNvSpPr/>
          <p:nvPr/>
        </p:nvSpPr>
        <p:spPr>
          <a:xfrm>
            <a:off x="8778240" y="2231136"/>
            <a:ext cx="1152144" cy="0"/>
          </a:xfrm>
          <a:prstGeom prst="line">
            <a:avLst/>
          </a:prstGeom>
          <a:noFill/>
          <a:ln w="12700">
            <a:solidFill>
              <a:srgbClr val="FFFFFF"/>
            </a:solidFill>
            <a:prstDash val="solid"/>
          </a:ln>
        </p:spPr>
      </p:sp>
      <p:sp>
        <p:nvSpPr>
          <p:cNvPr id="37" name="Shape 35"/>
          <p:cNvSpPr/>
          <p:nvPr/>
        </p:nvSpPr>
        <p:spPr>
          <a:xfrm>
            <a:off x="8796528" y="1188720"/>
            <a:ext cx="1691640" cy="585216"/>
          </a:xfrm>
          <a:prstGeom prst="roundRect">
            <a:avLst>
              <a:gd name="adj" fmla="val 12500"/>
            </a:avLst>
          </a:prstGeom>
          <a:solidFill>
            <a:srgbClr val="6E98AD"/>
          </a:solidFill>
          <a:ln w="12700">
            <a:solidFill>
              <a:srgbClr val="6E98AD">
                <a:alpha val="0"/>
              </a:srgbClr>
            </a:solidFill>
            <a:prstDash val="solid"/>
          </a:ln>
        </p:spPr>
      </p:sp>
      <p:sp>
        <p:nvSpPr>
          <p:cNvPr id="38" name="Shape 36"/>
          <p:cNvSpPr/>
          <p:nvPr/>
        </p:nvSpPr>
        <p:spPr>
          <a:xfrm>
            <a:off x="8979408" y="1298448"/>
            <a:ext cx="91440" cy="365760"/>
          </a:xfrm>
          <a:prstGeom prst="rect">
            <a:avLst/>
          </a:prstGeom>
          <a:solidFill>
            <a:srgbClr val="FFFFFF">
              <a:alpha val="85000"/>
            </a:srgbClr>
          </a:solidFill>
          <a:ln w="12700">
            <a:solidFill>
              <a:srgbClr val="FFFFFF">
                <a:alpha val="0"/>
              </a:srgbClr>
            </a:solidFill>
            <a:prstDash val="solid"/>
          </a:ln>
        </p:spPr>
      </p:sp>
      <p:sp>
        <p:nvSpPr>
          <p:cNvPr id="39" name="Shape 37"/>
          <p:cNvSpPr/>
          <p:nvPr/>
        </p:nvSpPr>
        <p:spPr>
          <a:xfrm>
            <a:off x="9235440" y="1380744"/>
            <a:ext cx="1069848" cy="0"/>
          </a:xfrm>
          <a:prstGeom prst="line">
            <a:avLst/>
          </a:prstGeom>
          <a:noFill/>
          <a:ln w="12700">
            <a:solidFill>
              <a:srgbClr val="FFFFFF"/>
            </a:solidFill>
            <a:prstDash val="solid"/>
          </a:ln>
        </p:spPr>
      </p:sp>
      <p:sp>
        <p:nvSpPr>
          <p:cNvPr id="40" name="Shape 38"/>
          <p:cNvSpPr/>
          <p:nvPr/>
        </p:nvSpPr>
        <p:spPr>
          <a:xfrm>
            <a:off x="9235440" y="1545336"/>
            <a:ext cx="868680" cy="0"/>
          </a:xfrm>
          <a:prstGeom prst="line">
            <a:avLst/>
          </a:prstGeom>
          <a:noFill/>
          <a:ln w="12700">
            <a:solidFill>
              <a:srgbClr val="FFFFFF"/>
            </a:solidFill>
            <a:prstDash val="solid"/>
          </a:ln>
        </p:spPr>
      </p:sp>
      <p:sp>
        <p:nvSpPr>
          <p:cNvPr id="41" name="Shape 39"/>
          <p:cNvSpPr/>
          <p:nvPr/>
        </p:nvSpPr>
        <p:spPr>
          <a:xfrm>
            <a:off x="10899648" y="4572000"/>
            <a:ext cx="146304" cy="146304"/>
          </a:xfrm>
          <a:prstGeom prst="ellipse">
            <a:avLst/>
          </a:prstGeom>
          <a:solidFill>
            <a:srgbClr val="53B4A8"/>
          </a:solidFill>
          <a:ln w="12700">
            <a:solidFill>
              <a:srgbClr val="53B4A8">
                <a:alpha val="0"/>
              </a:srgbClr>
            </a:solidFill>
            <a:prstDash val="solid"/>
          </a:ln>
        </p:spPr>
      </p:sp>
      <p:sp>
        <p:nvSpPr>
          <p:cNvPr id="42" name="Shape 40"/>
          <p:cNvSpPr/>
          <p:nvPr/>
        </p:nvSpPr>
        <p:spPr>
          <a:xfrm>
            <a:off x="11155680" y="4572000"/>
            <a:ext cx="146304" cy="146304"/>
          </a:xfrm>
          <a:prstGeom prst="ellipse">
            <a:avLst/>
          </a:prstGeom>
          <a:solidFill>
            <a:srgbClr val="E3A34F"/>
          </a:solidFill>
          <a:ln w="12700">
            <a:solidFill>
              <a:srgbClr val="E3A34F">
                <a:alpha val="0"/>
              </a:srgbClr>
            </a:solidFill>
            <a:prstDash val="solid"/>
          </a:ln>
        </p:spPr>
      </p:sp>
      <p:sp>
        <p:nvSpPr>
          <p:cNvPr id="43" name="Shape 41"/>
          <p:cNvSpPr/>
          <p:nvPr/>
        </p:nvSpPr>
        <p:spPr>
          <a:xfrm>
            <a:off x="11411712" y="4572000"/>
            <a:ext cx="146304" cy="146304"/>
          </a:xfrm>
          <a:prstGeom prst="ellipse">
            <a:avLst/>
          </a:prstGeom>
          <a:solidFill>
            <a:srgbClr val="8FAFC1"/>
          </a:solidFill>
          <a:ln w="12700">
            <a:solidFill>
              <a:srgbClr val="8FAFC1">
                <a:alpha val="0"/>
              </a:srgbClr>
            </a:solidFill>
            <a:prstDash val="solid"/>
          </a:ln>
        </p:spPr>
      </p:sp>
      <p:sp>
        <p:nvSpPr>
          <p:cNvPr id="44" name="Text 42"/>
          <p:cNvSpPr txBox="1"/>
          <p:nvPr/>
        </p:nvSpPr>
        <p:spPr>
          <a:xfrm>
            <a:off x="8138160" y="5029200"/>
            <a:ext cx="3383280" cy="274320"/>
          </a:xfrm>
          <a:prstGeom prst="rect">
            <a:avLst/>
          </a:prstGeom>
          <a:noFill/>
          <a:ln/>
        </p:spPr>
        <p:txBody>
          <a:bodyPr wrap="square" lIns="0" tIns="0" rIns="0" bIns="0" rtlCol="0" anchor="ctr">
            <a:normAutofit/>
          </a:bodyPr>
          <a:lstStyle/>
          <a:p>
            <a:pPr algn="ctr" indent="0" marL="0">
              <a:buNone/>
            </a:pPr>
            <a:r>
              <a:rPr lang="en-US" sz="900" b="1" spc="140" kern="0" dirty="0">
                <a:solidFill>
                  <a:srgbClr val="9FB5C4"/>
                </a:solidFill>
                <a:latin typeface="Inter" pitchFamily="34" charset="0"/>
                <a:ea typeface="Inter" pitchFamily="34" charset="-122"/>
                <a:cs typeface="Inter" pitchFamily="34" charset="-120"/>
              </a:rPr>
              <a:t>DESIGN  ·  DATA  ·  RELIABILITY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66928" y="347472"/>
            <a:ext cx="50292" cy="210312"/>
          </a:xfrm>
          <a:prstGeom prst="rect">
            <a:avLst/>
          </a:prstGeom>
          <a:solidFill>
            <a:srgbClr val="16877D"/>
          </a:solidFill>
          <a:ln w="12700">
            <a:solidFill>
              <a:srgbClr val="16877D">
                <a:alpha val="0"/>
              </a:srgbClr>
            </a:solidFill>
            <a:prstDash val="solid"/>
          </a:ln>
        </p:spPr>
      </p:sp>
      <p:sp>
        <p:nvSpPr>
          <p:cNvPr id="3" name="Text 1"/>
          <p:cNvSpPr txBox="1"/>
          <p:nvPr/>
        </p:nvSpPr>
        <p:spPr>
          <a:xfrm>
            <a:off x="713232" y="333756"/>
            <a:ext cx="3200400" cy="219456"/>
          </a:xfrm>
          <a:prstGeom prst="rect">
            <a:avLst/>
          </a:prstGeom>
          <a:noFill/>
          <a:ln/>
        </p:spPr>
        <p:txBody>
          <a:bodyPr wrap="square" lIns="0" tIns="0" rIns="0" bIns="0" rtlCol="0" anchor="ctr">
            <a:normAutofit/>
          </a:bodyPr>
          <a:lstStyle/>
          <a:p>
            <a:pPr algn="l" indent="0" marL="0">
              <a:buNone/>
            </a:pPr>
            <a:r>
              <a:rPr lang="en-US" sz="810" b="1" spc="180" kern="0" dirty="0">
                <a:solidFill>
                  <a:srgbClr val="16877D"/>
                </a:solidFill>
                <a:latin typeface="Inter" pitchFamily="34" charset="0"/>
                <a:ea typeface="Inter" pitchFamily="34" charset="-122"/>
                <a:cs typeface="Inter" pitchFamily="34" charset="-120"/>
              </a:rPr>
              <a:t>CONTEXT</a:t>
            </a:r>
            <a:endParaRPr lang="en-US" sz="810" dirty="0"/>
          </a:p>
        </p:txBody>
      </p:sp>
      <p:sp>
        <p:nvSpPr>
          <p:cNvPr id="4" name="Text 2"/>
          <p:cNvSpPr txBox="1"/>
          <p:nvPr/>
        </p:nvSpPr>
        <p:spPr>
          <a:xfrm>
            <a:off x="566928" y="658368"/>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2263A"/>
                </a:solidFill>
                <a:latin typeface="Inter" pitchFamily="34" charset="0"/>
                <a:ea typeface="Inter" pitchFamily="34" charset="-122"/>
                <a:cs typeface="Inter" pitchFamily="34" charset="-120"/>
              </a:rPr>
              <a:t>Why this system exists</a:t>
            </a:r>
            <a:endParaRPr lang="en-US" sz="2700" dirty="0"/>
          </a:p>
        </p:txBody>
      </p:sp>
      <p:sp>
        <p:nvSpPr>
          <p:cNvPr id="5" name="Text 3"/>
          <p:cNvSpPr txBox="1"/>
          <p:nvPr/>
        </p:nvSpPr>
        <p:spPr>
          <a:xfrm>
            <a:off x="585216" y="1115568"/>
            <a:ext cx="10972800" cy="274320"/>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The core problem is maintaining a trustworthy catalogue and a consistent borrowing state.</a:t>
            </a:r>
            <a:endParaRPr lang="en-US" sz="1070" dirty="0"/>
          </a:p>
        </p:txBody>
      </p:sp>
      <p:sp>
        <p:nvSpPr>
          <p:cNvPr id="6" name="Shape 4"/>
          <p:cNvSpPr/>
          <p:nvPr/>
        </p:nvSpPr>
        <p:spPr>
          <a:xfrm>
            <a:off x="566928" y="6510528"/>
            <a:ext cx="11119104" cy="0"/>
          </a:xfrm>
          <a:prstGeom prst="line">
            <a:avLst/>
          </a:prstGeom>
          <a:noFill/>
          <a:ln w="10160">
            <a:solidFill>
              <a:srgbClr val="E0E7EB"/>
            </a:solidFill>
            <a:prstDash val="solid"/>
          </a:ln>
        </p:spPr>
      </p:sp>
      <p:sp>
        <p:nvSpPr>
          <p:cNvPr id="7" name="Text 5"/>
          <p:cNvSpPr txBox="1"/>
          <p:nvPr/>
        </p:nvSpPr>
        <p:spPr>
          <a:xfrm>
            <a:off x="566928" y="6565392"/>
            <a:ext cx="5303520" cy="146304"/>
          </a:xfrm>
          <a:prstGeom prst="rect">
            <a:avLst/>
          </a:prstGeom>
          <a:noFill/>
          <a:ln/>
        </p:spPr>
        <p:txBody>
          <a:bodyPr wrap="square" lIns="0" tIns="0" rIns="0" bIns="0" rtlCol="0" anchor="ctr">
            <a:normAutofit/>
          </a:bodyPr>
          <a:lstStyle/>
          <a:p>
            <a:pPr algn="l" indent="0" marL="0">
              <a:buNone/>
            </a:pPr>
            <a:r>
              <a:rPr lang="en-US" sz="750" spc="110" kern="0" dirty="0">
                <a:solidFill>
                  <a:srgbClr val="6B7A88"/>
                </a:solidFill>
                <a:latin typeface="Inter" pitchFamily="34" charset="0"/>
                <a:ea typeface="Inter" pitchFamily="34" charset="-122"/>
                <a:cs typeface="Inter" pitchFamily="34" charset="-120"/>
              </a:rPr>
              <a:t>TITANS  /  LIBRARY MANAGEMENT SYSTEM</a:t>
            </a:r>
            <a:endParaRPr lang="en-US" sz="750" dirty="0"/>
          </a:p>
        </p:txBody>
      </p:sp>
      <p:sp>
        <p:nvSpPr>
          <p:cNvPr id="8" name="Text 6"/>
          <p:cNvSpPr txBox="1"/>
          <p:nvPr/>
        </p:nvSpPr>
        <p:spPr>
          <a:xfrm>
            <a:off x="11109960" y="6556248"/>
            <a:ext cx="502920" cy="164592"/>
          </a:xfrm>
          <a:prstGeom prst="rect">
            <a:avLst/>
          </a:prstGeom>
          <a:noFill/>
          <a:ln/>
        </p:spPr>
        <p:txBody>
          <a:bodyPr wrap="square" lIns="0" tIns="0" rIns="0" bIns="0" rtlCol="0" anchor="ctr">
            <a:normAutofit/>
          </a:bodyPr>
          <a:lstStyle/>
          <a:p>
            <a:pPr algn="r" indent="0" marL="0">
              <a:buNone/>
            </a:pPr>
            <a:r>
              <a:rPr lang="en-US" sz="800" dirty="0">
                <a:solidFill>
                  <a:srgbClr val="6B7A88"/>
                </a:solidFill>
                <a:latin typeface="Inter" pitchFamily="34" charset="0"/>
                <a:ea typeface="Inter" pitchFamily="34" charset="-122"/>
                <a:cs typeface="Inter" pitchFamily="34" charset="-120"/>
              </a:rPr>
              <a:t>02</a:t>
            </a:r>
            <a:endParaRPr lang="en-US" sz="800" dirty="0"/>
          </a:p>
        </p:txBody>
      </p:sp>
      <p:sp>
        <p:nvSpPr>
          <p:cNvPr id="9" name="Shape 7"/>
          <p:cNvSpPr/>
          <p:nvPr/>
        </p:nvSpPr>
        <p:spPr>
          <a:xfrm>
            <a:off x="603504" y="1627632"/>
            <a:ext cx="5376672" cy="4498848"/>
          </a:xfrm>
          <a:prstGeom prst="roundRect">
            <a:avLst>
              <a:gd name="adj" fmla="val 2439"/>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0" name="Shape 8"/>
          <p:cNvSpPr/>
          <p:nvPr/>
        </p:nvSpPr>
        <p:spPr>
          <a:xfrm>
            <a:off x="6199632" y="1627632"/>
            <a:ext cx="5376672" cy="4498848"/>
          </a:xfrm>
          <a:prstGeom prst="roundRect">
            <a:avLst>
              <a:gd name="adj" fmla="val 2439"/>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1" name="Shape 9"/>
          <p:cNvSpPr/>
          <p:nvPr/>
        </p:nvSpPr>
        <p:spPr>
          <a:xfrm>
            <a:off x="859536" y="1847088"/>
            <a:ext cx="1042416" cy="274320"/>
          </a:xfrm>
          <a:prstGeom prst="roundRect">
            <a:avLst>
              <a:gd name="adj" fmla="val 33333"/>
            </a:avLst>
          </a:prstGeom>
          <a:solidFill>
            <a:srgbClr val="F9EAE8"/>
          </a:solidFill>
          <a:ln w="12700">
            <a:solidFill>
              <a:srgbClr val="F9EAE8">
                <a:alpha val="0"/>
              </a:srgbClr>
            </a:solidFill>
            <a:prstDash val="solid"/>
          </a:ln>
        </p:spPr>
      </p:sp>
      <p:sp>
        <p:nvSpPr>
          <p:cNvPr id="12" name="Text 10"/>
          <p:cNvSpPr txBox="1"/>
          <p:nvPr/>
        </p:nvSpPr>
        <p:spPr>
          <a:xfrm>
            <a:off x="914400" y="1860804"/>
            <a:ext cx="932688" cy="242316"/>
          </a:xfrm>
          <a:prstGeom prst="rect">
            <a:avLst/>
          </a:prstGeom>
          <a:noFill/>
          <a:ln/>
        </p:spPr>
        <p:txBody>
          <a:bodyPr wrap="square" lIns="0" tIns="0" rIns="0" bIns="0" rtlCol="0" anchor="ctr">
            <a:normAutofit/>
          </a:bodyPr>
          <a:lstStyle/>
          <a:p>
            <a:pPr algn="ctr" indent="0" marL="0">
              <a:buNone/>
            </a:pPr>
            <a:r>
              <a:rPr lang="en-US" sz="850" b="1" spc="30" kern="0" dirty="0">
                <a:solidFill>
                  <a:srgbClr val="B9625D"/>
                </a:solidFill>
                <a:latin typeface="Inter" pitchFamily="34" charset="0"/>
                <a:ea typeface="Inter" pitchFamily="34" charset="-122"/>
                <a:cs typeface="Inter" pitchFamily="34" charset="-120"/>
              </a:rPr>
              <a:t>PROBLEM</a:t>
            </a:r>
            <a:endParaRPr lang="en-US" sz="850" dirty="0"/>
          </a:p>
        </p:txBody>
      </p:sp>
      <p:sp>
        <p:nvSpPr>
          <p:cNvPr id="13" name="Text 11"/>
          <p:cNvSpPr txBox="1"/>
          <p:nvPr/>
        </p:nvSpPr>
        <p:spPr>
          <a:xfrm>
            <a:off x="859536" y="2276856"/>
            <a:ext cx="4617720" cy="658368"/>
          </a:xfrm>
          <a:prstGeom prst="rect">
            <a:avLst/>
          </a:prstGeom>
          <a:noFill/>
          <a:ln/>
        </p:spPr>
        <p:txBody>
          <a:bodyPr wrap="square" lIns="0" tIns="0" rIns="0" bIns="0" rtlCol="0" anchor="t">
            <a:normAutofit/>
          </a:bodyPr>
          <a:lstStyle/>
          <a:p>
            <a:pPr algn="l" indent="0" marL="0">
              <a:buNone/>
            </a:pPr>
            <a:r>
              <a:rPr lang="en-US" sz="2000" b="1" dirty="0">
                <a:solidFill>
                  <a:srgbClr val="12263A"/>
                </a:solidFill>
                <a:latin typeface="Inter" pitchFamily="34" charset="0"/>
                <a:ea typeface="Inter" pitchFamily="34" charset="-122"/>
                <a:cs typeface="Inter" pitchFamily="34" charset="-120"/>
              </a:rPr>
              <a:t>Manual handling makes state</a:t>
            </a:r>
            <a:endParaRPr lang="en-US" sz="2000" dirty="0"/>
          </a:p>
          <a:p>
            <a:pPr algn="l" indent="0" marL="0">
              <a:buNone/>
            </a:pPr>
            <a:r>
              <a:rPr lang="en-US" sz="2000" b="1" dirty="0">
                <a:solidFill>
                  <a:srgbClr val="12263A"/>
                </a:solidFill>
                <a:latin typeface="Inter" pitchFamily="34" charset="0"/>
                <a:ea typeface="Inter" pitchFamily="34" charset="-122"/>
                <a:cs typeface="Inter" pitchFamily="34" charset="-120"/>
              </a:rPr>
              <a:t>hard to trust</a:t>
            </a:r>
            <a:endParaRPr lang="en-US" sz="2000" dirty="0"/>
          </a:p>
        </p:txBody>
      </p:sp>
      <p:sp>
        <p:nvSpPr>
          <p:cNvPr id="14" name="Shape 12"/>
          <p:cNvSpPr/>
          <p:nvPr/>
        </p:nvSpPr>
        <p:spPr>
          <a:xfrm>
            <a:off x="914400" y="3218688"/>
            <a:ext cx="100584" cy="100584"/>
          </a:xfrm>
          <a:prstGeom prst="ellipse">
            <a:avLst/>
          </a:prstGeom>
          <a:solidFill>
            <a:srgbClr val="B9625D"/>
          </a:solidFill>
          <a:ln w="12700">
            <a:solidFill>
              <a:srgbClr val="B9625D">
                <a:alpha val="0"/>
              </a:srgbClr>
            </a:solidFill>
            <a:prstDash val="solid"/>
          </a:ln>
        </p:spPr>
      </p:sp>
      <p:sp>
        <p:nvSpPr>
          <p:cNvPr id="15" name="Text 13"/>
          <p:cNvSpPr txBox="1"/>
          <p:nvPr/>
        </p:nvSpPr>
        <p:spPr>
          <a:xfrm>
            <a:off x="1143000" y="3145536"/>
            <a:ext cx="4389120" cy="384048"/>
          </a:xfrm>
          <a:prstGeom prst="rect">
            <a:avLst/>
          </a:prstGeom>
          <a:noFill/>
          <a:ln/>
        </p:spPr>
        <p:txBody>
          <a:bodyPr wrap="square" lIns="0" tIns="0" rIns="0" bIns="0" rtlCol="0" anchor="t">
            <a:normAutofit/>
          </a:bodyPr>
          <a:lstStyle/>
          <a:p>
            <a:pPr algn="l" indent="0" marL="0">
              <a:buNone/>
            </a:pPr>
            <a:r>
              <a:rPr lang="en-US" sz="1200" dirty="0">
                <a:solidFill>
                  <a:srgbClr val="203345"/>
                </a:solidFill>
                <a:latin typeface="Inter" pitchFamily="34" charset="0"/>
                <a:ea typeface="Inter" pitchFamily="34" charset="-122"/>
                <a:cs typeface="Inter" pitchFamily="34" charset="-120"/>
              </a:rPr>
              <a:t>Duplicate or incomplete book records</a:t>
            </a:r>
            <a:endParaRPr lang="en-US" sz="1200" dirty="0"/>
          </a:p>
        </p:txBody>
      </p:sp>
      <p:sp>
        <p:nvSpPr>
          <p:cNvPr id="16" name="Shape 14"/>
          <p:cNvSpPr/>
          <p:nvPr/>
        </p:nvSpPr>
        <p:spPr>
          <a:xfrm>
            <a:off x="914400" y="3822192"/>
            <a:ext cx="100584" cy="100584"/>
          </a:xfrm>
          <a:prstGeom prst="ellipse">
            <a:avLst/>
          </a:prstGeom>
          <a:solidFill>
            <a:srgbClr val="B9625D"/>
          </a:solidFill>
          <a:ln w="12700">
            <a:solidFill>
              <a:srgbClr val="B9625D">
                <a:alpha val="0"/>
              </a:srgbClr>
            </a:solidFill>
            <a:prstDash val="solid"/>
          </a:ln>
        </p:spPr>
      </p:sp>
      <p:sp>
        <p:nvSpPr>
          <p:cNvPr id="17" name="Text 15"/>
          <p:cNvSpPr txBox="1"/>
          <p:nvPr/>
        </p:nvSpPr>
        <p:spPr>
          <a:xfrm>
            <a:off x="1143000" y="3749040"/>
            <a:ext cx="4389120" cy="384048"/>
          </a:xfrm>
          <a:prstGeom prst="rect">
            <a:avLst/>
          </a:prstGeom>
          <a:noFill/>
          <a:ln/>
        </p:spPr>
        <p:txBody>
          <a:bodyPr wrap="square" lIns="0" tIns="0" rIns="0" bIns="0" rtlCol="0" anchor="t">
            <a:normAutofit/>
          </a:bodyPr>
          <a:lstStyle/>
          <a:p>
            <a:pPr algn="l" indent="0" marL="0">
              <a:buNone/>
            </a:pPr>
            <a:r>
              <a:rPr lang="en-US" sz="1200" dirty="0">
                <a:solidFill>
                  <a:srgbClr val="203345"/>
                </a:solidFill>
                <a:latin typeface="Inter" pitchFamily="34" charset="0"/>
                <a:ea typeface="Inter" pitchFamily="34" charset="-122"/>
                <a:cs typeface="Inter" pitchFamily="34" charset="-120"/>
              </a:rPr>
              <a:t>Unclear availability after a loan</a:t>
            </a:r>
            <a:endParaRPr lang="en-US" sz="1200" dirty="0"/>
          </a:p>
        </p:txBody>
      </p:sp>
      <p:sp>
        <p:nvSpPr>
          <p:cNvPr id="18" name="Shape 16"/>
          <p:cNvSpPr/>
          <p:nvPr/>
        </p:nvSpPr>
        <p:spPr>
          <a:xfrm>
            <a:off x="914400" y="4425696"/>
            <a:ext cx="100584" cy="100584"/>
          </a:xfrm>
          <a:prstGeom prst="ellipse">
            <a:avLst/>
          </a:prstGeom>
          <a:solidFill>
            <a:srgbClr val="B9625D"/>
          </a:solidFill>
          <a:ln w="12700">
            <a:solidFill>
              <a:srgbClr val="B9625D">
                <a:alpha val="0"/>
              </a:srgbClr>
            </a:solidFill>
            <a:prstDash val="solid"/>
          </a:ln>
        </p:spPr>
      </p:sp>
      <p:sp>
        <p:nvSpPr>
          <p:cNvPr id="19" name="Text 17"/>
          <p:cNvSpPr txBox="1"/>
          <p:nvPr/>
        </p:nvSpPr>
        <p:spPr>
          <a:xfrm>
            <a:off x="1143000" y="4352544"/>
            <a:ext cx="4389120" cy="384048"/>
          </a:xfrm>
          <a:prstGeom prst="rect">
            <a:avLst/>
          </a:prstGeom>
          <a:noFill/>
          <a:ln/>
        </p:spPr>
        <p:txBody>
          <a:bodyPr wrap="square" lIns="0" tIns="0" rIns="0" bIns="0" rtlCol="0" anchor="t">
            <a:normAutofit/>
          </a:bodyPr>
          <a:lstStyle/>
          <a:p>
            <a:pPr algn="l" indent="0" marL="0">
              <a:buNone/>
            </a:pPr>
            <a:r>
              <a:rPr lang="en-US" sz="1200" dirty="0">
                <a:solidFill>
                  <a:srgbClr val="203345"/>
                </a:solidFill>
                <a:latin typeface="Inter" pitchFamily="34" charset="0"/>
                <a:ea typeface="Inter" pitchFamily="34" charset="-122"/>
                <a:cs typeface="Inter" pitchFamily="34" charset="-120"/>
              </a:rPr>
              <a:t>Borrower limits and returns tracked inconsistently</a:t>
            </a:r>
            <a:endParaRPr lang="en-US" sz="1200" dirty="0"/>
          </a:p>
        </p:txBody>
      </p:sp>
      <p:sp>
        <p:nvSpPr>
          <p:cNvPr id="20" name="Shape 18"/>
          <p:cNvSpPr/>
          <p:nvPr/>
        </p:nvSpPr>
        <p:spPr>
          <a:xfrm>
            <a:off x="914400" y="5029200"/>
            <a:ext cx="100584" cy="100584"/>
          </a:xfrm>
          <a:prstGeom prst="ellipse">
            <a:avLst/>
          </a:prstGeom>
          <a:solidFill>
            <a:srgbClr val="B9625D"/>
          </a:solidFill>
          <a:ln w="12700">
            <a:solidFill>
              <a:srgbClr val="B9625D">
                <a:alpha val="0"/>
              </a:srgbClr>
            </a:solidFill>
            <a:prstDash val="solid"/>
          </a:ln>
        </p:spPr>
      </p:sp>
      <p:sp>
        <p:nvSpPr>
          <p:cNvPr id="21" name="Text 19"/>
          <p:cNvSpPr txBox="1"/>
          <p:nvPr/>
        </p:nvSpPr>
        <p:spPr>
          <a:xfrm>
            <a:off x="1143000" y="4956048"/>
            <a:ext cx="4389120" cy="384048"/>
          </a:xfrm>
          <a:prstGeom prst="rect">
            <a:avLst/>
          </a:prstGeom>
          <a:noFill/>
          <a:ln/>
        </p:spPr>
        <p:txBody>
          <a:bodyPr wrap="square" lIns="0" tIns="0" rIns="0" bIns="0" rtlCol="0" anchor="t">
            <a:normAutofit/>
          </a:bodyPr>
          <a:lstStyle/>
          <a:p>
            <a:pPr algn="l" indent="0" marL="0">
              <a:buNone/>
            </a:pPr>
            <a:r>
              <a:rPr lang="en-US" sz="1200" dirty="0">
                <a:solidFill>
                  <a:srgbClr val="203345"/>
                </a:solidFill>
                <a:latin typeface="Inter" pitchFamily="34" charset="0"/>
                <a:ea typeface="Inter" pitchFamily="34" charset="-122"/>
                <a:cs typeface="Inter" pitchFamily="34" charset="-120"/>
              </a:rPr>
              <a:t>Search and catalogue ordering take extra effort</a:t>
            </a:r>
            <a:endParaRPr lang="en-US" sz="1200" dirty="0"/>
          </a:p>
        </p:txBody>
      </p:sp>
      <p:sp>
        <p:nvSpPr>
          <p:cNvPr id="22" name="Shape 20"/>
          <p:cNvSpPr/>
          <p:nvPr/>
        </p:nvSpPr>
        <p:spPr>
          <a:xfrm>
            <a:off x="6455664" y="1847088"/>
            <a:ext cx="1234440" cy="274320"/>
          </a:xfrm>
          <a:prstGeom prst="roundRect">
            <a:avLst>
              <a:gd name="adj" fmla="val 33333"/>
            </a:avLst>
          </a:prstGeom>
          <a:solidFill>
            <a:srgbClr val="E1F3F0"/>
          </a:solidFill>
          <a:ln w="12700">
            <a:solidFill>
              <a:srgbClr val="E1F3F0">
                <a:alpha val="0"/>
              </a:srgbClr>
            </a:solidFill>
            <a:prstDash val="solid"/>
          </a:ln>
        </p:spPr>
      </p:sp>
      <p:sp>
        <p:nvSpPr>
          <p:cNvPr id="23" name="Text 21"/>
          <p:cNvSpPr txBox="1"/>
          <p:nvPr/>
        </p:nvSpPr>
        <p:spPr>
          <a:xfrm>
            <a:off x="6510528" y="1860804"/>
            <a:ext cx="1124712" cy="242316"/>
          </a:xfrm>
          <a:prstGeom prst="rect">
            <a:avLst/>
          </a:prstGeom>
          <a:noFill/>
          <a:ln/>
        </p:spPr>
        <p:txBody>
          <a:bodyPr wrap="square" lIns="0" tIns="0" rIns="0" bIns="0" rtlCol="0" anchor="ctr">
            <a:normAutofit/>
          </a:bodyPr>
          <a:lstStyle/>
          <a:p>
            <a:pPr algn="ctr" indent="0" marL="0">
              <a:buNone/>
            </a:pPr>
            <a:r>
              <a:rPr lang="en-US" sz="850" b="1" spc="30" kern="0" dirty="0">
                <a:solidFill>
                  <a:srgbClr val="16877D"/>
                </a:solidFill>
                <a:latin typeface="Inter" pitchFamily="34" charset="0"/>
                <a:ea typeface="Inter" pitchFamily="34" charset="-122"/>
                <a:cs typeface="Inter" pitchFamily="34" charset="-120"/>
              </a:rPr>
              <a:t>OBJECTIVES</a:t>
            </a:r>
            <a:endParaRPr lang="en-US" sz="850" dirty="0"/>
          </a:p>
        </p:txBody>
      </p:sp>
      <p:sp>
        <p:nvSpPr>
          <p:cNvPr id="24" name="Text 22"/>
          <p:cNvSpPr txBox="1"/>
          <p:nvPr/>
        </p:nvSpPr>
        <p:spPr>
          <a:xfrm>
            <a:off x="6455664" y="2276856"/>
            <a:ext cx="4572000" cy="658368"/>
          </a:xfrm>
          <a:prstGeom prst="rect">
            <a:avLst/>
          </a:prstGeom>
          <a:noFill/>
          <a:ln/>
        </p:spPr>
        <p:txBody>
          <a:bodyPr wrap="square" lIns="0" tIns="0" rIns="0" bIns="0" rtlCol="0" anchor="t">
            <a:normAutofit/>
          </a:bodyPr>
          <a:lstStyle/>
          <a:p>
            <a:pPr algn="l" indent="0" marL="0">
              <a:buNone/>
            </a:pPr>
            <a:r>
              <a:rPr lang="en-US" sz="2000" b="1" dirty="0">
                <a:solidFill>
                  <a:srgbClr val="12263A"/>
                </a:solidFill>
                <a:latin typeface="Inter" pitchFamily="34" charset="0"/>
                <a:ea typeface="Inter" pitchFamily="34" charset="-122"/>
                <a:cs typeface="Inter" pitchFamily="34" charset="-120"/>
              </a:rPr>
              <a:t>Make each operation</a:t>
            </a:r>
            <a:endParaRPr lang="en-US" sz="2000" dirty="0"/>
          </a:p>
          <a:p>
            <a:pPr algn="l" indent="0" marL="0">
              <a:buNone/>
            </a:pPr>
            <a:r>
              <a:rPr lang="en-US" sz="2000" b="1" dirty="0">
                <a:solidFill>
                  <a:srgbClr val="12263A"/>
                </a:solidFill>
                <a:latin typeface="Inter" pitchFamily="34" charset="0"/>
                <a:ea typeface="Inter" pitchFamily="34" charset="-122"/>
                <a:cs typeface="Inter" pitchFamily="34" charset="-120"/>
              </a:rPr>
              <a:t>explicit and consistent</a:t>
            </a:r>
            <a:endParaRPr lang="en-US" sz="2000" dirty="0"/>
          </a:p>
        </p:txBody>
      </p:sp>
      <p:sp>
        <p:nvSpPr>
          <p:cNvPr id="25" name="Shape 23"/>
          <p:cNvSpPr/>
          <p:nvPr/>
        </p:nvSpPr>
        <p:spPr>
          <a:xfrm>
            <a:off x="6510528" y="3218688"/>
            <a:ext cx="100584" cy="100584"/>
          </a:xfrm>
          <a:prstGeom prst="ellipse">
            <a:avLst/>
          </a:prstGeom>
          <a:solidFill>
            <a:srgbClr val="16877D"/>
          </a:solidFill>
          <a:ln w="12700">
            <a:solidFill>
              <a:srgbClr val="16877D">
                <a:alpha val="0"/>
              </a:srgbClr>
            </a:solidFill>
            <a:prstDash val="solid"/>
          </a:ln>
        </p:spPr>
      </p:sp>
      <p:sp>
        <p:nvSpPr>
          <p:cNvPr id="26" name="Text 24"/>
          <p:cNvSpPr txBox="1"/>
          <p:nvPr/>
        </p:nvSpPr>
        <p:spPr>
          <a:xfrm>
            <a:off x="6739128" y="3145536"/>
            <a:ext cx="4370832" cy="384048"/>
          </a:xfrm>
          <a:prstGeom prst="rect">
            <a:avLst/>
          </a:prstGeom>
          <a:noFill/>
          <a:ln/>
        </p:spPr>
        <p:txBody>
          <a:bodyPr wrap="square" lIns="0" tIns="0" rIns="0" bIns="0" rtlCol="0" anchor="t">
            <a:normAutofit/>
          </a:bodyPr>
          <a:lstStyle/>
          <a:p>
            <a:pPr algn="l" indent="0" marL="0">
              <a:buNone/>
            </a:pPr>
            <a:r>
              <a:rPr lang="en-US" sz="1200" dirty="0">
                <a:solidFill>
                  <a:srgbClr val="203345"/>
                </a:solidFill>
                <a:latin typeface="Inter" pitchFamily="34" charset="0"/>
                <a:ea typeface="Inter" pitchFamily="34" charset="-122"/>
                <a:cs typeface="Inter" pitchFamily="34" charset="-120"/>
              </a:rPr>
              <a:t>Manage books and members in one catalogue</a:t>
            </a:r>
            <a:endParaRPr lang="en-US" sz="1200" dirty="0"/>
          </a:p>
        </p:txBody>
      </p:sp>
      <p:sp>
        <p:nvSpPr>
          <p:cNvPr id="27" name="Shape 25"/>
          <p:cNvSpPr/>
          <p:nvPr/>
        </p:nvSpPr>
        <p:spPr>
          <a:xfrm>
            <a:off x="6510528" y="3822192"/>
            <a:ext cx="100584" cy="100584"/>
          </a:xfrm>
          <a:prstGeom prst="ellipse">
            <a:avLst/>
          </a:prstGeom>
          <a:solidFill>
            <a:srgbClr val="16877D"/>
          </a:solidFill>
          <a:ln w="12700">
            <a:solidFill>
              <a:srgbClr val="16877D">
                <a:alpha val="0"/>
              </a:srgbClr>
            </a:solidFill>
            <a:prstDash val="solid"/>
          </a:ln>
        </p:spPr>
      </p:sp>
      <p:sp>
        <p:nvSpPr>
          <p:cNvPr id="28" name="Text 26"/>
          <p:cNvSpPr txBox="1"/>
          <p:nvPr/>
        </p:nvSpPr>
        <p:spPr>
          <a:xfrm>
            <a:off x="6739128" y="3749040"/>
            <a:ext cx="4370832" cy="384048"/>
          </a:xfrm>
          <a:prstGeom prst="rect">
            <a:avLst/>
          </a:prstGeom>
          <a:noFill/>
          <a:ln/>
        </p:spPr>
        <p:txBody>
          <a:bodyPr wrap="square" lIns="0" tIns="0" rIns="0" bIns="0" rtlCol="0" anchor="t">
            <a:normAutofit/>
          </a:bodyPr>
          <a:lstStyle/>
          <a:p>
            <a:pPr algn="l" indent="0" marL="0">
              <a:buNone/>
            </a:pPr>
            <a:r>
              <a:rPr lang="en-US" sz="1200" dirty="0">
                <a:solidFill>
                  <a:srgbClr val="203345"/>
                </a:solidFill>
                <a:latin typeface="Inter" pitchFamily="34" charset="0"/>
                <a:ea typeface="Inter" pitchFamily="34" charset="-122"/>
                <a:cs typeface="Inter" pitchFamily="34" charset="-120"/>
              </a:rPr>
              <a:t>Support borrowing, returning and status checks</a:t>
            </a:r>
            <a:endParaRPr lang="en-US" sz="1200" dirty="0"/>
          </a:p>
        </p:txBody>
      </p:sp>
      <p:sp>
        <p:nvSpPr>
          <p:cNvPr id="29" name="Shape 27"/>
          <p:cNvSpPr/>
          <p:nvPr/>
        </p:nvSpPr>
        <p:spPr>
          <a:xfrm>
            <a:off x="6510528" y="4425696"/>
            <a:ext cx="100584" cy="100584"/>
          </a:xfrm>
          <a:prstGeom prst="ellipse">
            <a:avLst/>
          </a:prstGeom>
          <a:solidFill>
            <a:srgbClr val="16877D"/>
          </a:solidFill>
          <a:ln w="12700">
            <a:solidFill>
              <a:srgbClr val="16877D">
                <a:alpha val="0"/>
              </a:srgbClr>
            </a:solidFill>
            <a:prstDash val="solid"/>
          </a:ln>
        </p:spPr>
      </p:sp>
      <p:sp>
        <p:nvSpPr>
          <p:cNvPr id="30" name="Text 28"/>
          <p:cNvSpPr txBox="1"/>
          <p:nvPr/>
        </p:nvSpPr>
        <p:spPr>
          <a:xfrm>
            <a:off x="6739128" y="4352544"/>
            <a:ext cx="4370832" cy="384048"/>
          </a:xfrm>
          <a:prstGeom prst="rect">
            <a:avLst/>
          </a:prstGeom>
          <a:noFill/>
          <a:ln/>
        </p:spPr>
        <p:txBody>
          <a:bodyPr wrap="square" lIns="0" tIns="0" rIns="0" bIns="0" rtlCol="0" anchor="t">
            <a:normAutofit/>
          </a:bodyPr>
          <a:lstStyle/>
          <a:p>
            <a:pPr algn="l" indent="0" marL="0">
              <a:buNone/>
            </a:pPr>
            <a:r>
              <a:rPr lang="en-US" sz="1200" dirty="0">
                <a:solidFill>
                  <a:srgbClr val="203345"/>
                </a:solidFill>
                <a:latin typeface="Inter" pitchFamily="34" charset="0"/>
                <a:ea typeface="Inter" pitchFamily="34" charset="-122"/>
                <a:cs typeface="Inter" pitchFamily="34" charset="-120"/>
              </a:rPr>
              <a:t>Search by title, author, ISBN or genre; sort results</a:t>
            </a:r>
            <a:endParaRPr lang="en-US" sz="1200" dirty="0"/>
          </a:p>
        </p:txBody>
      </p:sp>
      <p:sp>
        <p:nvSpPr>
          <p:cNvPr id="31" name="Shape 29"/>
          <p:cNvSpPr/>
          <p:nvPr/>
        </p:nvSpPr>
        <p:spPr>
          <a:xfrm>
            <a:off x="6510528" y="5029200"/>
            <a:ext cx="100584" cy="100584"/>
          </a:xfrm>
          <a:prstGeom prst="ellipse">
            <a:avLst/>
          </a:prstGeom>
          <a:solidFill>
            <a:srgbClr val="16877D"/>
          </a:solidFill>
          <a:ln w="12700">
            <a:solidFill>
              <a:srgbClr val="16877D">
                <a:alpha val="0"/>
              </a:srgbClr>
            </a:solidFill>
            <a:prstDash val="solid"/>
          </a:ln>
        </p:spPr>
      </p:sp>
      <p:sp>
        <p:nvSpPr>
          <p:cNvPr id="32" name="Text 30"/>
          <p:cNvSpPr txBox="1"/>
          <p:nvPr/>
        </p:nvSpPr>
        <p:spPr>
          <a:xfrm>
            <a:off x="6739128" y="4956048"/>
            <a:ext cx="4370832" cy="384048"/>
          </a:xfrm>
          <a:prstGeom prst="rect">
            <a:avLst/>
          </a:prstGeom>
          <a:noFill/>
          <a:ln/>
        </p:spPr>
        <p:txBody>
          <a:bodyPr wrap="square" lIns="0" tIns="0" rIns="0" bIns="0" rtlCol="0" anchor="t">
            <a:normAutofit/>
          </a:bodyPr>
          <a:lstStyle/>
          <a:p>
            <a:pPr algn="l" indent="0" marL="0">
              <a:buNone/>
            </a:pPr>
            <a:r>
              <a:rPr lang="en-US" sz="1200" dirty="0">
                <a:solidFill>
                  <a:srgbClr val="203345"/>
                </a:solidFill>
                <a:latin typeface="Inter" pitchFamily="34" charset="0"/>
                <a:ea typeface="Inter" pitchFamily="34" charset="-122"/>
                <a:cs typeface="Inter" pitchFamily="34" charset="-120"/>
              </a:rPr>
              <a:t>Keep logic maintainable and data persistent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66928" y="347472"/>
            <a:ext cx="50292" cy="210312"/>
          </a:xfrm>
          <a:prstGeom prst="rect">
            <a:avLst/>
          </a:prstGeom>
          <a:solidFill>
            <a:srgbClr val="16877D"/>
          </a:solidFill>
          <a:ln w="12700">
            <a:solidFill>
              <a:srgbClr val="16877D">
                <a:alpha val="0"/>
              </a:srgbClr>
            </a:solidFill>
            <a:prstDash val="solid"/>
          </a:ln>
        </p:spPr>
      </p:sp>
      <p:sp>
        <p:nvSpPr>
          <p:cNvPr id="3" name="Text 1"/>
          <p:cNvSpPr txBox="1"/>
          <p:nvPr/>
        </p:nvSpPr>
        <p:spPr>
          <a:xfrm>
            <a:off x="713232" y="333756"/>
            <a:ext cx="3200400" cy="219456"/>
          </a:xfrm>
          <a:prstGeom prst="rect">
            <a:avLst/>
          </a:prstGeom>
          <a:noFill/>
          <a:ln/>
        </p:spPr>
        <p:txBody>
          <a:bodyPr wrap="square" lIns="0" tIns="0" rIns="0" bIns="0" rtlCol="0" anchor="ctr">
            <a:normAutofit/>
          </a:bodyPr>
          <a:lstStyle/>
          <a:p>
            <a:pPr algn="l" indent="0" marL="0">
              <a:buNone/>
            </a:pPr>
            <a:r>
              <a:rPr lang="en-US" sz="810" b="1" spc="180" kern="0" dirty="0">
                <a:solidFill>
                  <a:srgbClr val="16877D"/>
                </a:solidFill>
                <a:latin typeface="Inter" pitchFamily="34" charset="0"/>
                <a:ea typeface="Inter" pitchFamily="34" charset="-122"/>
                <a:cs typeface="Inter" pitchFamily="34" charset="-120"/>
              </a:rPr>
              <a:t>OVERVIEW</a:t>
            </a:r>
            <a:endParaRPr lang="en-US" sz="810" dirty="0"/>
          </a:p>
        </p:txBody>
      </p:sp>
      <p:sp>
        <p:nvSpPr>
          <p:cNvPr id="4" name="Text 2"/>
          <p:cNvSpPr txBox="1"/>
          <p:nvPr/>
        </p:nvSpPr>
        <p:spPr>
          <a:xfrm>
            <a:off x="566928" y="658368"/>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2263A"/>
                </a:solidFill>
                <a:latin typeface="Inter" pitchFamily="34" charset="0"/>
                <a:ea typeface="Inter" pitchFamily="34" charset="-122"/>
                <a:cs typeface="Inter" pitchFamily="34" charset="-120"/>
              </a:rPr>
              <a:t>From a user command to a reliable state change</a:t>
            </a:r>
            <a:endParaRPr lang="en-US" sz="2700" dirty="0"/>
          </a:p>
        </p:txBody>
      </p:sp>
      <p:sp>
        <p:nvSpPr>
          <p:cNvPr id="5" name="Text 3"/>
          <p:cNvSpPr txBox="1"/>
          <p:nvPr/>
        </p:nvSpPr>
        <p:spPr>
          <a:xfrm>
            <a:off x="585216" y="1115568"/>
            <a:ext cx="10972800" cy="274320"/>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A small console application, with clear internal contracts behind each action.</a:t>
            </a:r>
            <a:endParaRPr lang="en-US" sz="1070" dirty="0"/>
          </a:p>
        </p:txBody>
      </p:sp>
      <p:sp>
        <p:nvSpPr>
          <p:cNvPr id="6" name="Shape 4"/>
          <p:cNvSpPr/>
          <p:nvPr/>
        </p:nvSpPr>
        <p:spPr>
          <a:xfrm>
            <a:off x="566928" y="6510528"/>
            <a:ext cx="11119104" cy="0"/>
          </a:xfrm>
          <a:prstGeom prst="line">
            <a:avLst/>
          </a:prstGeom>
          <a:noFill/>
          <a:ln w="10160">
            <a:solidFill>
              <a:srgbClr val="E0E7EB"/>
            </a:solidFill>
            <a:prstDash val="solid"/>
          </a:ln>
        </p:spPr>
      </p:sp>
      <p:sp>
        <p:nvSpPr>
          <p:cNvPr id="7" name="Text 5"/>
          <p:cNvSpPr txBox="1"/>
          <p:nvPr/>
        </p:nvSpPr>
        <p:spPr>
          <a:xfrm>
            <a:off x="566928" y="6565392"/>
            <a:ext cx="5303520" cy="146304"/>
          </a:xfrm>
          <a:prstGeom prst="rect">
            <a:avLst/>
          </a:prstGeom>
          <a:noFill/>
          <a:ln/>
        </p:spPr>
        <p:txBody>
          <a:bodyPr wrap="square" lIns="0" tIns="0" rIns="0" bIns="0" rtlCol="0" anchor="ctr">
            <a:normAutofit/>
          </a:bodyPr>
          <a:lstStyle/>
          <a:p>
            <a:pPr algn="l" indent="0" marL="0">
              <a:buNone/>
            </a:pPr>
            <a:r>
              <a:rPr lang="en-US" sz="750" spc="110" kern="0" dirty="0">
                <a:solidFill>
                  <a:srgbClr val="6B7A88"/>
                </a:solidFill>
                <a:latin typeface="Inter" pitchFamily="34" charset="0"/>
                <a:ea typeface="Inter" pitchFamily="34" charset="-122"/>
                <a:cs typeface="Inter" pitchFamily="34" charset="-120"/>
              </a:rPr>
              <a:t>TITANS  /  LIBRARY MANAGEMENT SYSTEM</a:t>
            </a:r>
            <a:endParaRPr lang="en-US" sz="750" dirty="0"/>
          </a:p>
        </p:txBody>
      </p:sp>
      <p:sp>
        <p:nvSpPr>
          <p:cNvPr id="8" name="Text 6"/>
          <p:cNvSpPr txBox="1"/>
          <p:nvPr/>
        </p:nvSpPr>
        <p:spPr>
          <a:xfrm>
            <a:off x="11109960" y="6556248"/>
            <a:ext cx="502920" cy="164592"/>
          </a:xfrm>
          <a:prstGeom prst="rect">
            <a:avLst/>
          </a:prstGeom>
          <a:noFill/>
          <a:ln/>
        </p:spPr>
        <p:txBody>
          <a:bodyPr wrap="square" lIns="0" tIns="0" rIns="0" bIns="0" rtlCol="0" anchor="ctr">
            <a:normAutofit/>
          </a:bodyPr>
          <a:lstStyle/>
          <a:p>
            <a:pPr algn="r" indent="0" marL="0">
              <a:buNone/>
            </a:pPr>
            <a:r>
              <a:rPr lang="en-US" sz="800" dirty="0">
                <a:solidFill>
                  <a:srgbClr val="6B7A88"/>
                </a:solidFill>
                <a:latin typeface="Inter" pitchFamily="34" charset="0"/>
                <a:ea typeface="Inter" pitchFamily="34" charset="-122"/>
                <a:cs typeface="Inter" pitchFamily="34" charset="-120"/>
              </a:rPr>
              <a:t>03</a:t>
            </a:r>
            <a:endParaRPr lang="en-US" sz="800" dirty="0"/>
          </a:p>
        </p:txBody>
      </p:sp>
      <p:sp>
        <p:nvSpPr>
          <p:cNvPr id="9" name="Shape 7"/>
          <p:cNvSpPr/>
          <p:nvPr/>
        </p:nvSpPr>
        <p:spPr>
          <a:xfrm>
            <a:off x="658368" y="1920240"/>
            <a:ext cx="1965960" cy="2103120"/>
          </a:xfrm>
          <a:prstGeom prst="roundRect">
            <a:avLst>
              <a:gd name="adj" fmla="val 5581"/>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0" name="Shape 8"/>
          <p:cNvSpPr/>
          <p:nvPr/>
        </p:nvSpPr>
        <p:spPr>
          <a:xfrm>
            <a:off x="822960" y="2103120"/>
            <a:ext cx="987552" cy="274320"/>
          </a:xfrm>
          <a:prstGeom prst="roundRect">
            <a:avLst>
              <a:gd name="adj" fmla="val 33333"/>
            </a:avLst>
          </a:prstGeom>
          <a:solidFill>
            <a:srgbClr val="E9F0F6"/>
          </a:solidFill>
          <a:ln w="12700">
            <a:solidFill>
              <a:srgbClr val="E9F0F6">
                <a:alpha val="0"/>
              </a:srgbClr>
            </a:solidFill>
            <a:prstDash val="solid"/>
          </a:ln>
        </p:spPr>
      </p:sp>
      <p:sp>
        <p:nvSpPr>
          <p:cNvPr id="11" name="Text 9"/>
          <p:cNvSpPr txBox="1"/>
          <p:nvPr/>
        </p:nvSpPr>
        <p:spPr>
          <a:xfrm>
            <a:off x="877824" y="2116836"/>
            <a:ext cx="877824" cy="242316"/>
          </a:xfrm>
          <a:prstGeom prst="rect">
            <a:avLst/>
          </a:prstGeom>
          <a:noFill/>
          <a:ln/>
        </p:spPr>
        <p:txBody>
          <a:bodyPr wrap="square" lIns="0" tIns="0" rIns="0" bIns="0" rtlCol="0" anchor="ctr">
            <a:normAutofit/>
          </a:bodyPr>
          <a:lstStyle/>
          <a:p>
            <a:pPr algn="ctr" indent="0" marL="0">
              <a:buNone/>
            </a:pPr>
            <a:r>
              <a:rPr lang="en-US" sz="780" b="1" spc="30" kern="0" dirty="0">
                <a:solidFill>
                  <a:srgbClr val="16877D"/>
                </a:solidFill>
                <a:latin typeface="Inter" pitchFamily="34" charset="0"/>
                <a:ea typeface="Inter" pitchFamily="34" charset="-122"/>
                <a:cs typeface="Inter" pitchFamily="34" charset="-120"/>
              </a:rPr>
              <a:t>UI</a:t>
            </a:r>
            <a:endParaRPr lang="en-US" sz="780" dirty="0"/>
          </a:p>
        </p:txBody>
      </p:sp>
      <p:sp>
        <p:nvSpPr>
          <p:cNvPr id="12" name="Text 10"/>
          <p:cNvSpPr txBox="1"/>
          <p:nvPr/>
        </p:nvSpPr>
        <p:spPr>
          <a:xfrm>
            <a:off x="822960" y="2542032"/>
            <a:ext cx="1636776" cy="365760"/>
          </a:xfrm>
          <a:prstGeom prst="rect">
            <a:avLst/>
          </a:prstGeom>
          <a:noFill/>
          <a:ln/>
        </p:spPr>
        <p:txBody>
          <a:bodyPr wrap="square" lIns="0" tIns="0" rIns="0" bIns="0" rtlCol="0" anchor="ctr">
            <a:normAutofit/>
          </a:bodyPr>
          <a:lstStyle/>
          <a:p>
            <a:pPr algn="l" indent="0" marL="0">
              <a:buNone/>
            </a:pPr>
            <a:r>
              <a:rPr lang="en-US" sz="1700" b="1" dirty="0">
                <a:solidFill>
                  <a:srgbClr val="12263A"/>
                </a:solidFill>
                <a:latin typeface="Inter" pitchFamily="34" charset="0"/>
                <a:ea typeface="Inter" pitchFamily="34" charset="-122"/>
                <a:cs typeface="Inter" pitchFamily="34" charset="-120"/>
              </a:rPr>
              <a:t>Command</a:t>
            </a:r>
            <a:endParaRPr lang="en-US" sz="1700" dirty="0"/>
          </a:p>
        </p:txBody>
      </p:sp>
      <p:sp>
        <p:nvSpPr>
          <p:cNvPr id="13" name="Text 11"/>
          <p:cNvSpPr txBox="1"/>
          <p:nvPr/>
        </p:nvSpPr>
        <p:spPr>
          <a:xfrm>
            <a:off x="822960" y="3008376"/>
            <a:ext cx="1636776" cy="585216"/>
          </a:xfrm>
          <a:prstGeom prst="rect">
            <a:avLst/>
          </a:prstGeom>
          <a:noFill/>
          <a:ln/>
        </p:spPr>
        <p:txBody>
          <a:bodyPr wrap="square" lIns="0" tIns="0" rIns="0" bIns="0" rtlCol="0" anchor="t">
            <a:normAutofit/>
          </a:bodyPr>
          <a:lstStyle/>
          <a:p>
            <a:pPr algn="l" indent="0" marL="0">
              <a:buNone/>
            </a:pPr>
            <a:r>
              <a:rPr lang="en-US" sz="1050" dirty="0">
                <a:solidFill>
                  <a:srgbClr val="657585"/>
                </a:solidFill>
                <a:latin typeface="Inter" pitchFamily="34" charset="0"/>
                <a:ea typeface="Inter" pitchFamily="34" charset="-122"/>
                <a:cs typeface="Inter" pitchFamily="34" charset="-120"/>
              </a:rPr>
              <a:t>Console menu</a:t>
            </a:r>
            <a:endParaRPr lang="en-US" sz="1050" dirty="0"/>
          </a:p>
          <a:p>
            <a:pPr algn="l" indent="0" marL="0">
              <a:buNone/>
            </a:pPr>
            <a:r>
              <a:rPr lang="en-US" sz="1050" dirty="0">
                <a:solidFill>
                  <a:srgbClr val="657585"/>
                </a:solidFill>
                <a:latin typeface="Inter" pitchFamily="34" charset="0"/>
                <a:ea typeface="Inter" pitchFamily="34" charset="-122"/>
                <a:cs typeface="Inter" pitchFamily="34" charset="-120"/>
              </a:rPr>
              <a:t>InputReader + Table</a:t>
            </a:r>
            <a:endParaRPr lang="en-US" sz="1050" dirty="0"/>
          </a:p>
        </p:txBody>
      </p:sp>
      <p:sp>
        <p:nvSpPr>
          <p:cNvPr id="14" name="Text 12"/>
          <p:cNvSpPr txBox="1"/>
          <p:nvPr/>
        </p:nvSpPr>
        <p:spPr>
          <a:xfrm>
            <a:off x="2185416" y="2121408"/>
            <a:ext cx="256032" cy="219456"/>
          </a:xfrm>
          <a:prstGeom prst="rect">
            <a:avLst/>
          </a:prstGeom>
          <a:noFill/>
          <a:ln/>
        </p:spPr>
        <p:txBody>
          <a:bodyPr wrap="square" lIns="0" tIns="0" rIns="0" bIns="0" rtlCol="0" anchor="ctr">
            <a:normAutofit/>
          </a:bodyPr>
          <a:lstStyle/>
          <a:p>
            <a:pPr algn="r" indent="0" marL="0">
              <a:buNone/>
            </a:pPr>
            <a:r>
              <a:rPr lang="en-US" sz="850" b="1" dirty="0">
                <a:solidFill>
                  <a:srgbClr val="A7B8C6"/>
                </a:solidFill>
                <a:latin typeface="Inter" pitchFamily="34" charset="0"/>
                <a:ea typeface="Inter" pitchFamily="34" charset="-122"/>
                <a:cs typeface="Inter" pitchFamily="34" charset="-120"/>
              </a:rPr>
              <a:t>01</a:t>
            </a:r>
            <a:endParaRPr lang="en-US" sz="850" dirty="0"/>
          </a:p>
        </p:txBody>
      </p:sp>
      <p:sp>
        <p:nvSpPr>
          <p:cNvPr id="15" name="Shape 13"/>
          <p:cNvSpPr/>
          <p:nvPr/>
        </p:nvSpPr>
        <p:spPr>
          <a:xfrm>
            <a:off x="2651760" y="2907792"/>
            <a:ext cx="109728" cy="0"/>
          </a:xfrm>
          <a:prstGeom prst="line">
            <a:avLst/>
          </a:prstGeom>
          <a:noFill/>
          <a:ln w="20320">
            <a:solidFill>
              <a:srgbClr val="16877D"/>
            </a:solidFill>
            <a:prstDash val="solid"/>
            <a:tailEnd type="triangle"/>
          </a:ln>
        </p:spPr>
      </p:sp>
      <p:sp>
        <p:nvSpPr>
          <p:cNvPr id="16" name="Shape 14"/>
          <p:cNvSpPr/>
          <p:nvPr/>
        </p:nvSpPr>
        <p:spPr>
          <a:xfrm>
            <a:off x="2834640" y="1920240"/>
            <a:ext cx="1965960" cy="2103120"/>
          </a:xfrm>
          <a:prstGeom prst="roundRect">
            <a:avLst>
              <a:gd name="adj" fmla="val 5581"/>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7" name="Shape 15"/>
          <p:cNvSpPr/>
          <p:nvPr/>
        </p:nvSpPr>
        <p:spPr>
          <a:xfrm>
            <a:off x="2999232" y="2103120"/>
            <a:ext cx="987552" cy="274320"/>
          </a:xfrm>
          <a:prstGeom prst="roundRect">
            <a:avLst>
              <a:gd name="adj" fmla="val 33333"/>
            </a:avLst>
          </a:prstGeom>
          <a:solidFill>
            <a:srgbClr val="E1F3F0"/>
          </a:solidFill>
          <a:ln w="12700">
            <a:solidFill>
              <a:srgbClr val="E1F3F0">
                <a:alpha val="0"/>
              </a:srgbClr>
            </a:solidFill>
            <a:prstDash val="solid"/>
          </a:ln>
        </p:spPr>
      </p:sp>
      <p:sp>
        <p:nvSpPr>
          <p:cNvPr id="18" name="Text 16"/>
          <p:cNvSpPr txBox="1"/>
          <p:nvPr/>
        </p:nvSpPr>
        <p:spPr>
          <a:xfrm>
            <a:off x="3054096" y="2116836"/>
            <a:ext cx="877824" cy="242316"/>
          </a:xfrm>
          <a:prstGeom prst="rect">
            <a:avLst/>
          </a:prstGeom>
          <a:noFill/>
          <a:ln/>
        </p:spPr>
        <p:txBody>
          <a:bodyPr wrap="square" lIns="0" tIns="0" rIns="0" bIns="0" rtlCol="0" anchor="ctr">
            <a:normAutofit/>
          </a:bodyPr>
          <a:lstStyle/>
          <a:p>
            <a:pPr algn="ctr" indent="0" marL="0">
              <a:buNone/>
            </a:pPr>
            <a:r>
              <a:rPr lang="en-US" sz="780" b="1" spc="30" kern="0" dirty="0">
                <a:solidFill>
                  <a:srgbClr val="16877D"/>
                </a:solidFill>
                <a:latin typeface="Inter" pitchFamily="34" charset="0"/>
                <a:ea typeface="Inter" pitchFamily="34" charset="-122"/>
                <a:cs typeface="Inter" pitchFamily="34" charset="-120"/>
              </a:rPr>
              <a:t>SERVICE</a:t>
            </a:r>
            <a:endParaRPr lang="en-US" sz="780" dirty="0"/>
          </a:p>
        </p:txBody>
      </p:sp>
      <p:sp>
        <p:nvSpPr>
          <p:cNvPr id="19" name="Text 17"/>
          <p:cNvSpPr txBox="1"/>
          <p:nvPr/>
        </p:nvSpPr>
        <p:spPr>
          <a:xfrm>
            <a:off x="2999232" y="2542032"/>
            <a:ext cx="1636776" cy="365760"/>
          </a:xfrm>
          <a:prstGeom prst="rect">
            <a:avLst/>
          </a:prstGeom>
          <a:noFill/>
          <a:ln/>
        </p:spPr>
        <p:txBody>
          <a:bodyPr wrap="square" lIns="0" tIns="0" rIns="0" bIns="0" rtlCol="0" anchor="ctr">
            <a:normAutofit/>
          </a:bodyPr>
          <a:lstStyle/>
          <a:p>
            <a:pPr algn="l" indent="0" marL="0">
              <a:buNone/>
            </a:pPr>
            <a:r>
              <a:rPr lang="en-US" sz="1700" b="1" dirty="0">
                <a:solidFill>
                  <a:srgbClr val="12263A"/>
                </a:solidFill>
                <a:latin typeface="Inter" pitchFamily="34" charset="0"/>
                <a:ea typeface="Inter" pitchFamily="34" charset="-122"/>
                <a:cs typeface="Inter" pitchFamily="34" charset="-120"/>
              </a:rPr>
              <a:t>Coordinate</a:t>
            </a:r>
            <a:endParaRPr lang="en-US" sz="1700" dirty="0"/>
          </a:p>
        </p:txBody>
      </p:sp>
      <p:sp>
        <p:nvSpPr>
          <p:cNvPr id="20" name="Text 18"/>
          <p:cNvSpPr txBox="1"/>
          <p:nvPr/>
        </p:nvSpPr>
        <p:spPr>
          <a:xfrm>
            <a:off x="2999232" y="3008376"/>
            <a:ext cx="1636776" cy="585216"/>
          </a:xfrm>
          <a:prstGeom prst="rect">
            <a:avLst/>
          </a:prstGeom>
          <a:noFill/>
          <a:ln/>
        </p:spPr>
        <p:txBody>
          <a:bodyPr wrap="square" lIns="0" tIns="0" rIns="0" bIns="0" rtlCol="0" anchor="t">
            <a:normAutofit/>
          </a:bodyPr>
          <a:lstStyle/>
          <a:p>
            <a:pPr algn="l" indent="0" marL="0">
              <a:buNone/>
            </a:pPr>
            <a:r>
              <a:rPr lang="en-US" sz="1050" dirty="0">
                <a:solidFill>
                  <a:srgbClr val="657585"/>
                </a:solidFill>
                <a:latin typeface="Inter" pitchFamily="34" charset="0"/>
                <a:ea typeface="Inter" pitchFamily="34" charset="-122"/>
                <a:cs typeface="Inter" pitchFamily="34" charset="-120"/>
              </a:rPr>
              <a:t>LibraryService</a:t>
            </a:r>
            <a:endParaRPr lang="en-US" sz="1050" dirty="0"/>
          </a:p>
          <a:p>
            <a:pPr algn="l" indent="0" marL="0">
              <a:buNone/>
            </a:pPr>
            <a:r>
              <a:rPr lang="en-US" sz="1050" dirty="0">
                <a:solidFill>
                  <a:srgbClr val="657585"/>
                </a:solidFill>
                <a:latin typeface="Inter" pitchFamily="34" charset="0"/>
                <a:ea typeface="Inter" pitchFamily="34" charset="-122"/>
                <a:cs typeface="Inter" pitchFamily="34" charset="-120"/>
              </a:rPr>
              <a:t>validates the request</a:t>
            </a:r>
            <a:endParaRPr lang="en-US" sz="1050" dirty="0"/>
          </a:p>
        </p:txBody>
      </p:sp>
      <p:sp>
        <p:nvSpPr>
          <p:cNvPr id="21" name="Text 19"/>
          <p:cNvSpPr txBox="1"/>
          <p:nvPr/>
        </p:nvSpPr>
        <p:spPr>
          <a:xfrm>
            <a:off x="4361688" y="2121408"/>
            <a:ext cx="256032" cy="219456"/>
          </a:xfrm>
          <a:prstGeom prst="rect">
            <a:avLst/>
          </a:prstGeom>
          <a:noFill/>
          <a:ln/>
        </p:spPr>
        <p:txBody>
          <a:bodyPr wrap="square" lIns="0" tIns="0" rIns="0" bIns="0" rtlCol="0" anchor="ctr">
            <a:normAutofit/>
          </a:bodyPr>
          <a:lstStyle/>
          <a:p>
            <a:pPr algn="r" indent="0" marL="0">
              <a:buNone/>
            </a:pPr>
            <a:r>
              <a:rPr lang="en-US" sz="850" b="1" dirty="0">
                <a:solidFill>
                  <a:srgbClr val="A7B8C6"/>
                </a:solidFill>
                <a:latin typeface="Inter" pitchFamily="34" charset="0"/>
                <a:ea typeface="Inter" pitchFamily="34" charset="-122"/>
                <a:cs typeface="Inter" pitchFamily="34" charset="-120"/>
              </a:rPr>
              <a:t>02</a:t>
            </a:r>
            <a:endParaRPr lang="en-US" sz="850" dirty="0"/>
          </a:p>
        </p:txBody>
      </p:sp>
      <p:sp>
        <p:nvSpPr>
          <p:cNvPr id="22" name="Shape 20"/>
          <p:cNvSpPr/>
          <p:nvPr/>
        </p:nvSpPr>
        <p:spPr>
          <a:xfrm>
            <a:off x="4828032" y="2907792"/>
            <a:ext cx="109728" cy="0"/>
          </a:xfrm>
          <a:prstGeom prst="line">
            <a:avLst/>
          </a:prstGeom>
          <a:noFill/>
          <a:ln w="20320">
            <a:solidFill>
              <a:srgbClr val="16877D"/>
            </a:solidFill>
            <a:prstDash val="solid"/>
            <a:tailEnd type="triangle"/>
          </a:ln>
        </p:spPr>
      </p:sp>
      <p:sp>
        <p:nvSpPr>
          <p:cNvPr id="23" name="Shape 21"/>
          <p:cNvSpPr/>
          <p:nvPr/>
        </p:nvSpPr>
        <p:spPr>
          <a:xfrm>
            <a:off x="5010912" y="1920240"/>
            <a:ext cx="1965960" cy="2103120"/>
          </a:xfrm>
          <a:prstGeom prst="roundRect">
            <a:avLst>
              <a:gd name="adj" fmla="val 5581"/>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24" name="Shape 22"/>
          <p:cNvSpPr/>
          <p:nvPr/>
        </p:nvSpPr>
        <p:spPr>
          <a:xfrm>
            <a:off x="5175504" y="2103120"/>
            <a:ext cx="987552" cy="274320"/>
          </a:xfrm>
          <a:prstGeom prst="roundRect">
            <a:avLst>
              <a:gd name="adj" fmla="val 33333"/>
            </a:avLst>
          </a:prstGeom>
          <a:solidFill>
            <a:srgbClr val="F0F3F6"/>
          </a:solidFill>
          <a:ln w="12700">
            <a:solidFill>
              <a:srgbClr val="F0F3F6">
                <a:alpha val="0"/>
              </a:srgbClr>
            </a:solidFill>
            <a:prstDash val="solid"/>
          </a:ln>
        </p:spPr>
      </p:sp>
      <p:sp>
        <p:nvSpPr>
          <p:cNvPr id="25" name="Text 23"/>
          <p:cNvSpPr txBox="1"/>
          <p:nvPr/>
        </p:nvSpPr>
        <p:spPr>
          <a:xfrm>
            <a:off x="5230368" y="2116836"/>
            <a:ext cx="877824" cy="242316"/>
          </a:xfrm>
          <a:prstGeom prst="rect">
            <a:avLst/>
          </a:prstGeom>
          <a:noFill/>
          <a:ln/>
        </p:spPr>
        <p:txBody>
          <a:bodyPr wrap="square" lIns="0" tIns="0" rIns="0" bIns="0" rtlCol="0" anchor="ctr">
            <a:normAutofit/>
          </a:bodyPr>
          <a:lstStyle/>
          <a:p>
            <a:pPr algn="ctr" indent="0" marL="0">
              <a:buNone/>
            </a:pPr>
            <a:r>
              <a:rPr lang="en-US" sz="780" b="1" spc="30" kern="0" dirty="0">
                <a:solidFill>
                  <a:srgbClr val="16877D"/>
                </a:solidFill>
                <a:latin typeface="Inter" pitchFamily="34" charset="0"/>
                <a:ea typeface="Inter" pitchFamily="34" charset="-122"/>
                <a:cs typeface="Inter" pitchFamily="34" charset="-120"/>
              </a:rPr>
              <a:t>DOMAIN</a:t>
            </a:r>
            <a:endParaRPr lang="en-US" sz="780" dirty="0"/>
          </a:p>
        </p:txBody>
      </p:sp>
      <p:sp>
        <p:nvSpPr>
          <p:cNvPr id="26" name="Text 24"/>
          <p:cNvSpPr txBox="1"/>
          <p:nvPr/>
        </p:nvSpPr>
        <p:spPr>
          <a:xfrm>
            <a:off x="5175504" y="2542032"/>
            <a:ext cx="1636776" cy="365760"/>
          </a:xfrm>
          <a:prstGeom prst="rect">
            <a:avLst/>
          </a:prstGeom>
          <a:noFill/>
          <a:ln/>
        </p:spPr>
        <p:txBody>
          <a:bodyPr wrap="square" lIns="0" tIns="0" rIns="0" bIns="0" rtlCol="0" anchor="ctr">
            <a:normAutofit/>
          </a:bodyPr>
          <a:lstStyle/>
          <a:p>
            <a:pPr algn="l" indent="0" marL="0">
              <a:buNone/>
            </a:pPr>
            <a:r>
              <a:rPr lang="en-US" sz="1700" b="1" dirty="0">
                <a:solidFill>
                  <a:srgbClr val="12263A"/>
                </a:solidFill>
                <a:latin typeface="Inter" pitchFamily="34" charset="0"/>
                <a:ea typeface="Inter" pitchFamily="34" charset="-122"/>
                <a:cs typeface="Inter" pitchFamily="34" charset="-120"/>
              </a:rPr>
              <a:t>Apply rules</a:t>
            </a:r>
            <a:endParaRPr lang="en-US" sz="1700" dirty="0"/>
          </a:p>
        </p:txBody>
      </p:sp>
      <p:sp>
        <p:nvSpPr>
          <p:cNvPr id="27" name="Text 25"/>
          <p:cNvSpPr txBox="1"/>
          <p:nvPr/>
        </p:nvSpPr>
        <p:spPr>
          <a:xfrm>
            <a:off x="5175504" y="3008376"/>
            <a:ext cx="1636776" cy="585216"/>
          </a:xfrm>
          <a:prstGeom prst="rect">
            <a:avLst/>
          </a:prstGeom>
          <a:noFill/>
          <a:ln/>
        </p:spPr>
        <p:txBody>
          <a:bodyPr wrap="square" lIns="0" tIns="0" rIns="0" bIns="0" rtlCol="0" anchor="t">
            <a:normAutofit/>
          </a:bodyPr>
          <a:lstStyle/>
          <a:p>
            <a:pPr algn="l" indent="0" marL="0">
              <a:buNone/>
            </a:pPr>
            <a:r>
              <a:rPr lang="en-US" sz="1050" dirty="0">
                <a:solidFill>
                  <a:srgbClr val="657585"/>
                </a:solidFill>
                <a:latin typeface="Inter" pitchFamily="34" charset="0"/>
                <a:ea typeface="Inter" pitchFamily="34" charset="-122"/>
                <a:cs typeface="Inter" pitchFamily="34" charset="-120"/>
              </a:rPr>
              <a:t>Book + Member</a:t>
            </a:r>
            <a:endParaRPr lang="en-US" sz="1050" dirty="0"/>
          </a:p>
          <a:p>
            <a:pPr algn="l" indent="0" marL="0">
              <a:buNone/>
            </a:pPr>
            <a:r>
              <a:rPr lang="en-US" sz="1050" dirty="0">
                <a:solidFill>
                  <a:srgbClr val="657585"/>
                </a:solidFill>
                <a:latin typeface="Inter" pitchFamily="34" charset="0"/>
                <a:ea typeface="Inter" pitchFamily="34" charset="-122"/>
                <a:cs typeface="Inter" pitchFamily="34" charset="-120"/>
              </a:rPr>
              <a:t>search / sort strategies</a:t>
            </a:r>
            <a:endParaRPr lang="en-US" sz="1050" dirty="0"/>
          </a:p>
        </p:txBody>
      </p:sp>
      <p:sp>
        <p:nvSpPr>
          <p:cNvPr id="28" name="Text 26"/>
          <p:cNvSpPr txBox="1"/>
          <p:nvPr/>
        </p:nvSpPr>
        <p:spPr>
          <a:xfrm>
            <a:off x="6537960" y="2121408"/>
            <a:ext cx="256032" cy="219456"/>
          </a:xfrm>
          <a:prstGeom prst="rect">
            <a:avLst/>
          </a:prstGeom>
          <a:noFill/>
          <a:ln/>
        </p:spPr>
        <p:txBody>
          <a:bodyPr wrap="square" lIns="0" tIns="0" rIns="0" bIns="0" rtlCol="0" anchor="ctr">
            <a:normAutofit/>
          </a:bodyPr>
          <a:lstStyle/>
          <a:p>
            <a:pPr algn="r" indent="0" marL="0">
              <a:buNone/>
            </a:pPr>
            <a:r>
              <a:rPr lang="en-US" sz="850" b="1" dirty="0">
                <a:solidFill>
                  <a:srgbClr val="A7B8C6"/>
                </a:solidFill>
                <a:latin typeface="Inter" pitchFamily="34" charset="0"/>
                <a:ea typeface="Inter" pitchFamily="34" charset="-122"/>
                <a:cs typeface="Inter" pitchFamily="34" charset="-120"/>
              </a:rPr>
              <a:t>03</a:t>
            </a:r>
            <a:endParaRPr lang="en-US" sz="850" dirty="0"/>
          </a:p>
        </p:txBody>
      </p:sp>
      <p:sp>
        <p:nvSpPr>
          <p:cNvPr id="29" name="Shape 27"/>
          <p:cNvSpPr/>
          <p:nvPr/>
        </p:nvSpPr>
        <p:spPr>
          <a:xfrm>
            <a:off x="7004304" y="2907792"/>
            <a:ext cx="109728" cy="0"/>
          </a:xfrm>
          <a:prstGeom prst="line">
            <a:avLst/>
          </a:prstGeom>
          <a:noFill/>
          <a:ln w="20320">
            <a:solidFill>
              <a:srgbClr val="16877D"/>
            </a:solidFill>
            <a:prstDash val="solid"/>
            <a:tailEnd type="triangle"/>
          </a:ln>
        </p:spPr>
      </p:sp>
      <p:sp>
        <p:nvSpPr>
          <p:cNvPr id="30" name="Shape 28"/>
          <p:cNvSpPr/>
          <p:nvPr/>
        </p:nvSpPr>
        <p:spPr>
          <a:xfrm>
            <a:off x="7187184" y="1920240"/>
            <a:ext cx="1965960" cy="2103120"/>
          </a:xfrm>
          <a:prstGeom prst="roundRect">
            <a:avLst>
              <a:gd name="adj" fmla="val 5581"/>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31" name="Shape 29"/>
          <p:cNvSpPr/>
          <p:nvPr/>
        </p:nvSpPr>
        <p:spPr>
          <a:xfrm>
            <a:off x="7351776" y="2103120"/>
            <a:ext cx="987552" cy="274320"/>
          </a:xfrm>
          <a:prstGeom prst="roundRect">
            <a:avLst>
              <a:gd name="adj" fmla="val 33333"/>
            </a:avLst>
          </a:prstGeom>
          <a:solidFill>
            <a:srgbClr val="E9F0F6"/>
          </a:solidFill>
          <a:ln w="12700">
            <a:solidFill>
              <a:srgbClr val="E9F0F6">
                <a:alpha val="0"/>
              </a:srgbClr>
            </a:solidFill>
            <a:prstDash val="solid"/>
          </a:ln>
        </p:spPr>
      </p:sp>
      <p:sp>
        <p:nvSpPr>
          <p:cNvPr id="32" name="Text 30"/>
          <p:cNvSpPr txBox="1"/>
          <p:nvPr/>
        </p:nvSpPr>
        <p:spPr>
          <a:xfrm>
            <a:off x="7406640" y="2116836"/>
            <a:ext cx="877824" cy="242316"/>
          </a:xfrm>
          <a:prstGeom prst="rect">
            <a:avLst/>
          </a:prstGeom>
          <a:noFill/>
          <a:ln/>
        </p:spPr>
        <p:txBody>
          <a:bodyPr wrap="square" lIns="0" tIns="0" rIns="0" bIns="0" rtlCol="0" anchor="ctr">
            <a:normAutofit/>
          </a:bodyPr>
          <a:lstStyle/>
          <a:p>
            <a:pPr algn="ctr" indent="0" marL="0">
              <a:buNone/>
            </a:pPr>
            <a:r>
              <a:rPr lang="en-US" sz="780" b="1" spc="30" kern="0" dirty="0">
                <a:solidFill>
                  <a:srgbClr val="94621D"/>
                </a:solidFill>
                <a:latin typeface="Inter" pitchFamily="34" charset="0"/>
                <a:ea typeface="Inter" pitchFamily="34" charset="-122"/>
                <a:cs typeface="Inter" pitchFamily="34" charset="-120"/>
              </a:rPr>
              <a:t>STORAGE</a:t>
            </a:r>
            <a:endParaRPr lang="en-US" sz="780" dirty="0"/>
          </a:p>
        </p:txBody>
      </p:sp>
      <p:sp>
        <p:nvSpPr>
          <p:cNvPr id="33" name="Text 31"/>
          <p:cNvSpPr txBox="1"/>
          <p:nvPr/>
        </p:nvSpPr>
        <p:spPr>
          <a:xfrm>
            <a:off x="7351776" y="2542032"/>
            <a:ext cx="1636776" cy="365760"/>
          </a:xfrm>
          <a:prstGeom prst="rect">
            <a:avLst/>
          </a:prstGeom>
          <a:noFill/>
          <a:ln/>
        </p:spPr>
        <p:txBody>
          <a:bodyPr wrap="square" lIns="0" tIns="0" rIns="0" bIns="0" rtlCol="0" anchor="ctr">
            <a:normAutofit/>
          </a:bodyPr>
          <a:lstStyle/>
          <a:p>
            <a:pPr algn="l" indent="0" marL="0">
              <a:buNone/>
            </a:pPr>
            <a:r>
              <a:rPr lang="en-US" sz="1700" b="1" dirty="0">
                <a:solidFill>
                  <a:srgbClr val="12263A"/>
                </a:solidFill>
                <a:latin typeface="Inter" pitchFamily="34" charset="0"/>
                <a:ea typeface="Inter" pitchFamily="34" charset="-122"/>
                <a:cs typeface="Inter" pitchFamily="34" charset="-120"/>
              </a:rPr>
              <a:t>Persist</a:t>
            </a:r>
            <a:endParaRPr lang="en-US" sz="1700" dirty="0"/>
          </a:p>
        </p:txBody>
      </p:sp>
      <p:sp>
        <p:nvSpPr>
          <p:cNvPr id="34" name="Text 32"/>
          <p:cNvSpPr txBox="1"/>
          <p:nvPr/>
        </p:nvSpPr>
        <p:spPr>
          <a:xfrm>
            <a:off x="7351776" y="3008376"/>
            <a:ext cx="1636776" cy="585216"/>
          </a:xfrm>
          <a:prstGeom prst="rect">
            <a:avLst/>
          </a:prstGeom>
          <a:noFill/>
          <a:ln/>
        </p:spPr>
        <p:txBody>
          <a:bodyPr wrap="square" lIns="0" tIns="0" rIns="0" bIns="0" rtlCol="0" anchor="t">
            <a:normAutofit/>
          </a:bodyPr>
          <a:lstStyle/>
          <a:p>
            <a:pPr algn="l" indent="0" marL="0">
              <a:buNone/>
            </a:pPr>
            <a:r>
              <a:rPr lang="en-US" sz="1050" dirty="0">
                <a:solidFill>
                  <a:srgbClr val="657585"/>
                </a:solidFill>
                <a:latin typeface="Inter" pitchFamily="34" charset="0"/>
                <a:ea typeface="Inter" pitchFamily="34" charset="-122"/>
                <a:cs typeface="Inter" pitchFamily="34" charset="-120"/>
              </a:rPr>
              <a:t>ILibraryRepository</a:t>
            </a:r>
            <a:endParaRPr lang="en-US" sz="1050" dirty="0"/>
          </a:p>
          <a:p>
            <a:pPr algn="l" indent="0" marL="0">
              <a:buNone/>
            </a:pPr>
            <a:r>
              <a:rPr lang="en-US" sz="1050" dirty="0">
                <a:solidFill>
                  <a:srgbClr val="657585"/>
                </a:solidFill>
                <a:latin typeface="Inter" pitchFamily="34" charset="0"/>
                <a:ea typeface="Inter" pitchFamily="34" charset="-122"/>
                <a:cs typeface="Inter" pitchFamily="34" charset="-120"/>
              </a:rPr>
              <a:t>SQLite or NullRepository</a:t>
            </a:r>
            <a:endParaRPr lang="en-US" sz="1050" dirty="0"/>
          </a:p>
        </p:txBody>
      </p:sp>
      <p:sp>
        <p:nvSpPr>
          <p:cNvPr id="35" name="Text 33"/>
          <p:cNvSpPr txBox="1"/>
          <p:nvPr/>
        </p:nvSpPr>
        <p:spPr>
          <a:xfrm>
            <a:off x="8714232" y="2121408"/>
            <a:ext cx="256032" cy="219456"/>
          </a:xfrm>
          <a:prstGeom prst="rect">
            <a:avLst/>
          </a:prstGeom>
          <a:noFill/>
          <a:ln/>
        </p:spPr>
        <p:txBody>
          <a:bodyPr wrap="square" lIns="0" tIns="0" rIns="0" bIns="0" rtlCol="0" anchor="ctr">
            <a:normAutofit/>
          </a:bodyPr>
          <a:lstStyle/>
          <a:p>
            <a:pPr algn="r" indent="0" marL="0">
              <a:buNone/>
            </a:pPr>
            <a:r>
              <a:rPr lang="en-US" sz="850" b="1" dirty="0">
                <a:solidFill>
                  <a:srgbClr val="A7B8C6"/>
                </a:solidFill>
                <a:latin typeface="Inter" pitchFamily="34" charset="0"/>
                <a:ea typeface="Inter" pitchFamily="34" charset="-122"/>
                <a:cs typeface="Inter" pitchFamily="34" charset="-120"/>
              </a:rPr>
              <a:t>04</a:t>
            </a:r>
            <a:endParaRPr lang="en-US" sz="850" dirty="0"/>
          </a:p>
        </p:txBody>
      </p:sp>
      <p:sp>
        <p:nvSpPr>
          <p:cNvPr id="36" name="Shape 34"/>
          <p:cNvSpPr/>
          <p:nvPr/>
        </p:nvSpPr>
        <p:spPr>
          <a:xfrm>
            <a:off x="9180576" y="2907792"/>
            <a:ext cx="109728" cy="0"/>
          </a:xfrm>
          <a:prstGeom prst="line">
            <a:avLst/>
          </a:prstGeom>
          <a:noFill/>
          <a:ln w="20320">
            <a:solidFill>
              <a:srgbClr val="16877D"/>
            </a:solidFill>
            <a:prstDash val="solid"/>
            <a:tailEnd type="triangle"/>
          </a:ln>
        </p:spPr>
      </p:sp>
      <p:sp>
        <p:nvSpPr>
          <p:cNvPr id="37" name="Shape 35"/>
          <p:cNvSpPr/>
          <p:nvPr/>
        </p:nvSpPr>
        <p:spPr>
          <a:xfrm>
            <a:off x="9363456" y="1920240"/>
            <a:ext cx="2139696" cy="2103120"/>
          </a:xfrm>
          <a:prstGeom prst="roundRect">
            <a:avLst>
              <a:gd name="adj" fmla="val 5217"/>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38" name="Shape 36"/>
          <p:cNvSpPr/>
          <p:nvPr/>
        </p:nvSpPr>
        <p:spPr>
          <a:xfrm>
            <a:off x="9528048" y="2103120"/>
            <a:ext cx="987552" cy="274320"/>
          </a:xfrm>
          <a:prstGeom prst="roundRect">
            <a:avLst>
              <a:gd name="adj" fmla="val 33333"/>
            </a:avLst>
          </a:prstGeom>
          <a:solidFill>
            <a:srgbClr val="FFF2DE"/>
          </a:solidFill>
          <a:ln w="12700">
            <a:solidFill>
              <a:srgbClr val="FFF2DE">
                <a:alpha val="0"/>
              </a:srgbClr>
            </a:solidFill>
            <a:prstDash val="solid"/>
          </a:ln>
        </p:spPr>
      </p:sp>
      <p:sp>
        <p:nvSpPr>
          <p:cNvPr id="39" name="Text 37"/>
          <p:cNvSpPr txBox="1"/>
          <p:nvPr/>
        </p:nvSpPr>
        <p:spPr>
          <a:xfrm>
            <a:off x="9582912" y="2116836"/>
            <a:ext cx="877824" cy="242316"/>
          </a:xfrm>
          <a:prstGeom prst="rect">
            <a:avLst/>
          </a:prstGeom>
          <a:noFill/>
          <a:ln/>
        </p:spPr>
        <p:txBody>
          <a:bodyPr wrap="square" lIns="0" tIns="0" rIns="0" bIns="0" rtlCol="0" anchor="ctr">
            <a:normAutofit/>
          </a:bodyPr>
          <a:lstStyle/>
          <a:p>
            <a:pPr algn="ctr" indent="0" marL="0">
              <a:buNone/>
            </a:pPr>
            <a:r>
              <a:rPr lang="en-US" sz="780" b="1" spc="30" kern="0" dirty="0">
                <a:solidFill>
                  <a:srgbClr val="16877D"/>
                </a:solidFill>
                <a:latin typeface="Inter" pitchFamily="34" charset="0"/>
                <a:ea typeface="Inter" pitchFamily="34" charset="-122"/>
                <a:cs typeface="Inter" pitchFamily="34" charset="-120"/>
              </a:rPr>
              <a:t>CORE</a:t>
            </a:r>
            <a:endParaRPr lang="en-US" sz="780" dirty="0"/>
          </a:p>
        </p:txBody>
      </p:sp>
      <p:sp>
        <p:nvSpPr>
          <p:cNvPr id="40" name="Text 38"/>
          <p:cNvSpPr txBox="1"/>
          <p:nvPr/>
        </p:nvSpPr>
        <p:spPr>
          <a:xfrm>
            <a:off x="9528048" y="2542032"/>
            <a:ext cx="1810512" cy="365760"/>
          </a:xfrm>
          <a:prstGeom prst="rect">
            <a:avLst/>
          </a:prstGeom>
          <a:noFill/>
          <a:ln/>
        </p:spPr>
        <p:txBody>
          <a:bodyPr wrap="square" lIns="0" tIns="0" rIns="0" bIns="0" rtlCol="0" anchor="ctr">
            <a:normAutofit/>
          </a:bodyPr>
          <a:lstStyle/>
          <a:p>
            <a:pPr algn="l" indent="0" marL="0">
              <a:buNone/>
            </a:pPr>
            <a:r>
              <a:rPr lang="en-US" sz="1700" b="1" dirty="0">
                <a:solidFill>
                  <a:srgbClr val="12263A"/>
                </a:solidFill>
                <a:latin typeface="Inter" pitchFamily="34" charset="0"/>
                <a:ea typeface="Inter" pitchFamily="34" charset="-122"/>
                <a:cs typeface="Inter" pitchFamily="34" charset="-120"/>
              </a:rPr>
              <a:t>Commit state</a:t>
            </a:r>
            <a:endParaRPr lang="en-US" sz="1700" dirty="0"/>
          </a:p>
        </p:txBody>
      </p:sp>
      <p:sp>
        <p:nvSpPr>
          <p:cNvPr id="41" name="Text 39"/>
          <p:cNvSpPr txBox="1"/>
          <p:nvPr/>
        </p:nvSpPr>
        <p:spPr>
          <a:xfrm>
            <a:off x="9528048" y="3008376"/>
            <a:ext cx="1810512" cy="585216"/>
          </a:xfrm>
          <a:prstGeom prst="rect">
            <a:avLst/>
          </a:prstGeom>
          <a:noFill/>
          <a:ln/>
        </p:spPr>
        <p:txBody>
          <a:bodyPr wrap="square" lIns="0" tIns="0" rIns="0" bIns="0" rtlCol="0" anchor="t">
            <a:normAutofit/>
          </a:bodyPr>
          <a:lstStyle/>
          <a:p>
            <a:pPr algn="l" indent="0" marL="0">
              <a:buNone/>
            </a:pPr>
            <a:r>
              <a:rPr lang="en-US" sz="1050" dirty="0">
                <a:solidFill>
                  <a:srgbClr val="657585"/>
                </a:solidFill>
                <a:latin typeface="Inter" pitchFamily="34" charset="0"/>
                <a:ea typeface="Inter" pitchFamily="34" charset="-122"/>
                <a:cs typeface="Inter" pitchFamily="34" charset="-120"/>
              </a:rPr>
              <a:t>Container&lt;T&gt;</a:t>
            </a:r>
            <a:endParaRPr lang="en-US" sz="1050" dirty="0"/>
          </a:p>
          <a:p>
            <a:pPr algn="l" indent="0" marL="0">
              <a:buNone/>
            </a:pPr>
            <a:r>
              <a:rPr lang="en-US" sz="1050" dirty="0">
                <a:solidFill>
                  <a:srgbClr val="657585"/>
                </a:solidFill>
                <a:latin typeface="Inter" pitchFamily="34" charset="0"/>
                <a:ea typeface="Inter" pitchFamily="34" charset="-122"/>
                <a:cs typeface="Inter" pitchFamily="34" charset="-120"/>
              </a:rPr>
              <a:t>updated in memory</a:t>
            </a:r>
            <a:endParaRPr lang="en-US" sz="1050" dirty="0"/>
          </a:p>
        </p:txBody>
      </p:sp>
      <p:sp>
        <p:nvSpPr>
          <p:cNvPr id="42" name="Text 40"/>
          <p:cNvSpPr txBox="1"/>
          <p:nvPr/>
        </p:nvSpPr>
        <p:spPr>
          <a:xfrm>
            <a:off x="11064240" y="2121408"/>
            <a:ext cx="256032" cy="219456"/>
          </a:xfrm>
          <a:prstGeom prst="rect">
            <a:avLst/>
          </a:prstGeom>
          <a:noFill/>
          <a:ln/>
        </p:spPr>
        <p:txBody>
          <a:bodyPr wrap="square" lIns="0" tIns="0" rIns="0" bIns="0" rtlCol="0" anchor="ctr">
            <a:normAutofit/>
          </a:bodyPr>
          <a:lstStyle/>
          <a:p>
            <a:pPr algn="r" indent="0" marL="0">
              <a:buNone/>
            </a:pPr>
            <a:r>
              <a:rPr lang="en-US" sz="850" b="1" dirty="0">
                <a:solidFill>
                  <a:srgbClr val="A7B8C6"/>
                </a:solidFill>
                <a:latin typeface="Inter" pitchFamily="34" charset="0"/>
                <a:ea typeface="Inter" pitchFamily="34" charset="-122"/>
                <a:cs typeface="Inter" pitchFamily="34" charset="-120"/>
              </a:rPr>
              <a:t>05</a:t>
            </a:r>
            <a:endParaRPr lang="en-US" sz="850" dirty="0"/>
          </a:p>
        </p:txBody>
      </p:sp>
      <p:sp>
        <p:nvSpPr>
          <p:cNvPr id="43" name="Shape 41"/>
          <p:cNvSpPr/>
          <p:nvPr/>
        </p:nvSpPr>
        <p:spPr>
          <a:xfrm>
            <a:off x="658368" y="4462272"/>
            <a:ext cx="10844784" cy="1188720"/>
          </a:xfrm>
          <a:prstGeom prst="roundRect">
            <a:avLst>
              <a:gd name="adj" fmla="val 9231"/>
            </a:avLst>
          </a:prstGeom>
          <a:solidFill>
            <a:srgbClr val="12263A"/>
          </a:solidFill>
          <a:ln w="11430">
            <a:solidFill>
              <a:srgbClr val="12263A"/>
            </a:solidFill>
            <a:prstDash val="solid"/>
          </a:ln>
        </p:spPr>
      </p:sp>
      <p:sp>
        <p:nvSpPr>
          <p:cNvPr id="44" name="Text 42"/>
          <p:cNvSpPr txBox="1"/>
          <p:nvPr/>
        </p:nvSpPr>
        <p:spPr>
          <a:xfrm>
            <a:off x="896112" y="4681728"/>
            <a:ext cx="1938528" cy="274320"/>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Inter" pitchFamily="34" charset="0"/>
                <a:ea typeface="Inter" pitchFamily="34" charset="-122"/>
                <a:cs typeface="Inter" pitchFamily="34" charset="-120"/>
              </a:rPr>
              <a:t>One service API</a:t>
            </a:r>
            <a:endParaRPr lang="en-US" sz="1300" dirty="0"/>
          </a:p>
        </p:txBody>
      </p:sp>
      <p:sp>
        <p:nvSpPr>
          <p:cNvPr id="45" name="Text 43"/>
          <p:cNvSpPr txBox="1"/>
          <p:nvPr/>
        </p:nvSpPr>
        <p:spPr>
          <a:xfrm>
            <a:off x="3090672" y="4681728"/>
            <a:ext cx="1938528" cy="274320"/>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Inter" pitchFamily="34" charset="0"/>
                <a:ea typeface="Inter" pitchFamily="34" charset="-122"/>
                <a:cs typeface="Inter" pitchFamily="34" charset="-120"/>
              </a:rPr>
              <a:t>Rules are centralized</a:t>
            </a:r>
            <a:endParaRPr lang="en-US" sz="1300" dirty="0"/>
          </a:p>
        </p:txBody>
      </p:sp>
      <p:sp>
        <p:nvSpPr>
          <p:cNvPr id="46" name="Text 44"/>
          <p:cNvSpPr txBox="1"/>
          <p:nvPr/>
        </p:nvSpPr>
        <p:spPr>
          <a:xfrm>
            <a:off x="5349240" y="4681728"/>
            <a:ext cx="2148840" cy="274320"/>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Inter" pitchFamily="34" charset="0"/>
                <a:ea typeface="Inter" pitchFamily="34" charset="-122"/>
                <a:cs typeface="Inter" pitchFamily="34" charset="-120"/>
              </a:rPr>
              <a:t>Storage is replaceable</a:t>
            </a:r>
            <a:endParaRPr lang="en-US" sz="1300" dirty="0"/>
          </a:p>
        </p:txBody>
      </p:sp>
      <p:sp>
        <p:nvSpPr>
          <p:cNvPr id="47" name="Text 45"/>
          <p:cNvSpPr txBox="1"/>
          <p:nvPr/>
        </p:nvSpPr>
        <p:spPr>
          <a:xfrm>
            <a:off x="7955280" y="4681728"/>
            <a:ext cx="3154680" cy="274320"/>
          </a:xfrm>
          <a:prstGeom prst="rect">
            <a:avLst/>
          </a:prstGeom>
          <a:noFill/>
          <a:ln/>
        </p:spPr>
        <p:txBody>
          <a:bodyPr wrap="square" lIns="0" tIns="0" rIns="0" bIns="0" rtlCol="0" anchor="ctr">
            <a:normAutofit/>
          </a:bodyPr>
          <a:lstStyle/>
          <a:p>
            <a:pPr algn="l" indent="0" marL="0">
              <a:buNone/>
            </a:pPr>
            <a:r>
              <a:rPr lang="en-US" sz="1220" b="1" dirty="0">
                <a:solidFill>
                  <a:srgbClr val="FFFFFF"/>
                </a:solidFill>
                <a:latin typeface="Inter" pitchFamily="34" charset="0"/>
                <a:ea typeface="Inter" pitchFamily="34" charset="-122"/>
                <a:cs typeface="Inter" pitchFamily="34" charset="-120"/>
              </a:rPr>
              <a:t>Tests cover components and flows</a:t>
            </a:r>
            <a:endParaRPr lang="en-US" sz="1220" dirty="0"/>
          </a:p>
        </p:txBody>
      </p:sp>
      <p:sp>
        <p:nvSpPr>
          <p:cNvPr id="48" name="Shape 46"/>
          <p:cNvSpPr/>
          <p:nvPr/>
        </p:nvSpPr>
        <p:spPr>
          <a:xfrm>
            <a:off x="2834640" y="4590288"/>
            <a:ext cx="0" cy="950976"/>
          </a:xfrm>
          <a:prstGeom prst="line">
            <a:avLst/>
          </a:prstGeom>
          <a:noFill/>
          <a:ln w="10160">
            <a:solidFill>
              <a:srgbClr val="3D586E"/>
            </a:solidFill>
            <a:prstDash val="solid"/>
          </a:ln>
        </p:spPr>
      </p:sp>
      <p:sp>
        <p:nvSpPr>
          <p:cNvPr id="49" name="Shape 47"/>
          <p:cNvSpPr/>
          <p:nvPr/>
        </p:nvSpPr>
        <p:spPr>
          <a:xfrm>
            <a:off x="5102352" y="4590288"/>
            <a:ext cx="0" cy="950976"/>
          </a:xfrm>
          <a:prstGeom prst="line">
            <a:avLst/>
          </a:prstGeom>
          <a:noFill/>
          <a:ln w="10160">
            <a:solidFill>
              <a:srgbClr val="3D586E"/>
            </a:solidFill>
            <a:prstDash val="solid"/>
          </a:ln>
        </p:spPr>
      </p:sp>
      <p:sp>
        <p:nvSpPr>
          <p:cNvPr id="50" name="Shape 48"/>
          <p:cNvSpPr/>
          <p:nvPr/>
        </p:nvSpPr>
        <p:spPr>
          <a:xfrm>
            <a:off x="7699248" y="4590288"/>
            <a:ext cx="0" cy="950976"/>
          </a:xfrm>
          <a:prstGeom prst="line">
            <a:avLst/>
          </a:prstGeom>
          <a:noFill/>
          <a:ln w="10160">
            <a:solidFill>
              <a:srgbClr val="3D586E"/>
            </a:solidFill>
            <a:prstDash val="solid"/>
          </a:ln>
        </p:spPr>
      </p:sp>
      <p:sp>
        <p:nvSpPr>
          <p:cNvPr id="51" name="Text 49"/>
          <p:cNvSpPr txBox="1"/>
          <p:nvPr/>
        </p:nvSpPr>
        <p:spPr>
          <a:xfrm>
            <a:off x="768096" y="5888736"/>
            <a:ext cx="5303520" cy="219456"/>
          </a:xfrm>
          <a:prstGeom prst="rect">
            <a:avLst/>
          </a:prstGeom>
          <a:noFill/>
          <a:ln/>
        </p:spPr>
        <p:txBody>
          <a:bodyPr wrap="square" lIns="0" tIns="0" rIns="0" bIns="0" rtlCol="0" anchor="ctr">
            <a:normAutofit/>
          </a:bodyPr>
          <a:lstStyle/>
          <a:p>
            <a:pPr algn="l" indent="0" marL="0">
              <a:buNone/>
            </a:pPr>
            <a:r>
              <a:rPr lang="en-US" sz="930" spc="40" kern="0" dirty="0">
                <a:solidFill>
                  <a:srgbClr val="657585"/>
                </a:solidFill>
                <a:latin typeface="Inter" pitchFamily="34" charset="0"/>
                <a:ea typeface="Inter" pitchFamily="34" charset="-122"/>
                <a:cs typeface="Inter" pitchFamily="34" charset="-120"/>
              </a:rPr>
              <a:t>C++17  ·  CMake  ·  SQLite  ·  doctest</a:t>
            </a:r>
            <a:endParaRPr lang="en-US" sz="93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66928" y="347472"/>
            <a:ext cx="50292" cy="210312"/>
          </a:xfrm>
          <a:prstGeom prst="rect">
            <a:avLst/>
          </a:prstGeom>
          <a:solidFill>
            <a:srgbClr val="16877D"/>
          </a:solidFill>
          <a:ln w="12700">
            <a:solidFill>
              <a:srgbClr val="16877D">
                <a:alpha val="0"/>
              </a:srgbClr>
            </a:solidFill>
            <a:prstDash val="solid"/>
          </a:ln>
        </p:spPr>
      </p:sp>
      <p:sp>
        <p:nvSpPr>
          <p:cNvPr id="3" name="Text 1"/>
          <p:cNvSpPr txBox="1"/>
          <p:nvPr/>
        </p:nvSpPr>
        <p:spPr>
          <a:xfrm>
            <a:off x="713232" y="333756"/>
            <a:ext cx="3200400" cy="219456"/>
          </a:xfrm>
          <a:prstGeom prst="rect">
            <a:avLst/>
          </a:prstGeom>
          <a:noFill/>
          <a:ln/>
        </p:spPr>
        <p:txBody>
          <a:bodyPr wrap="square" lIns="0" tIns="0" rIns="0" bIns="0" rtlCol="0" anchor="ctr">
            <a:normAutofit/>
          </a:bodyPr>
          <a:lstStyle/>
          <a:p>
            <a:pPr algn="l" indent="0" marL="0">
              <a:buNone/>
            </a:pPr>
            <a:r>
              <a:rPr lang="en-US" sz="810" b="1" spc="180" kern="0" dirty="0">
                <a:solidFill>
                  <a:srgbClr val="16877D"/>
                </a:solidFill>
                <a:latin typeface="Inter" pitchFamily="34" charset="0"/>
                <a:ea typeface="Inter" pitchFamily="34" charset="-122"/>
                <a:cs typeface="Inter" pitchFamily="34" charset="-120"/>
              </a:rPr>
              <a:t>ARCHITECTURE</a:t>
            </a:r>
            <a:endParaRPr lang="en-US" sz="810" dirty="0"/>
          </a:p>
        </p:txBody>
      </p:sp>
      <p:sp>
        <p:nvSpPr>
          <p:cNvPr id="4" name="Text 2"/>
          <p:cNvSpPr txBox="1"/>
          <p:nvPr/>
        </p:nvSpPr>
        <p:spPr>
          <a:xfrm>
            <a:off x="566928" y="658368"/>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2263A"/>
                </a:solidFill>
                <a:latin typeface="Inter" pitchFamily="34" charset="0"/>
                <a:ea typeface="Inter" pitchFamily="34" charset="-122"/>
                <a:cs typeface="Inter" pitchFamily="34" charset="-120"/>
              </a:rPr>
              <a:t>Separation of concerns is the main design decision</a:t>
            </a:r>
            <a:endParaRPr lang="en-US" sz="2700" dirty="0"/>
          </a:p>
        </p:txBody>
      </p:sp>
      <p:sp>
        <p:nvSpPr>
          <p:cNvPr id="5" name="Text 3"/>
          <p:cNvSpPr txBox="1"/>
          <p:nvPr/>
        </p:nvSpPr>
        <p:spPr>
          <a:xfrm>
            <a:off x="585216" y="1115568"/>
            <a:ext cx="10972800" cy="274320"/>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Each layer owns a different responsibility; dependencies cross explicit interfaces.</a:t>
            </a:r>
            <a:endParaRPr lang="en-US" sz="1070" dirty="0"/>
          </a:p>
        </p:txBody>
      </p:sp>
      <p:sp>
        <p:nvSpPr>
          <p:cNvPr id="6" name="Shape 4"/>
          <p:cNvSpPr/>
          <p:nvPr/>
        </p:nvSpPr>
        <p:spPr>
          <a:xfrm>
            <a:off x="566928" y="6510528"/>
            <a:ext cx="11119104" cy="0"/>
          </a:xfrm>
          <a:prstGeom prst="line">
            <a:avLst/>
          </a:prstGeom>
          <a:noFill/>
          <a:ln w="10160">
            <a:solidFill>
              <a:srgbClr val="E0E7EB"/>
            </a:solidFill>
            <a:prstDash val="solid"/>
          </a:ln>
        </p:spPr>
      </p:sp>
      <p:sp>
        <p:nvSpPr>
          <p:cNvPr id="7" name="Text 5"/>
          <p:cNvSpPr txBox="1"/>
          <p:nvPr/>
        </p:nvSpPr>
        <p:spPr>
          <a:xfrm>
            <a:off x="566928" y="6565392"/>
            <a:ext cx="5303520" cy="146304"/>
          </a:xfrm>
          <a:prstGeom prst="rect">
            <a:avLst/>
          </a:prstGeom>
          <a:noFill/>
          <a:ln/>
        </p:spPr>
        <p:txBody>
          <a:bodyPr wrap="square" lIns="0" tIns="0" rIns="0" bIns="0" rtlCol="0" anchor="ctr">
            <a:normAutofit/>
          </a:bodyPr>
          <a:lstStyle/>
          <a:p>
            <a:pPr algn="l" indent="0" marL="0">
              <a:buNone/>
            </a:pPr>
            <a:r>
              <a:rPr lang="en-US" sz="750" spc="110" kern="0" dirty="0">
                <a:solidFill>
                  <a:srgbClr val="6B7A88"/>
                </a:solidFill>
                <a:latin typeface="Inter" pitchFamily="34" charset="0"/>
                <a:ea typeface="Inter" pitchFamily="34" charset="-122"/>
                <a:cs typeface="Inter" pitchFamily="34" charset="-120"/>
              </a:rPr>
              <a:t>TITANS  /  LIBRARY MANAGEMENT SYSTEM</a:t>
            </a:r>
            <a:endParaRPr lang="en-US" sz="750" dirty="0"/>
          </a:p>
        </p:txBody>
      </p:sp>
      <p:sp>
        <p:nvSpPr>
          <p:cNvPr id="8" name="Text 6"/>
          <p:cNvSpPr txBox="1"/>
          <p:nvPr/>
        </p:nvSpPr>
        <p:spPr>
          <a:xfrm>
            <a:off x="11109960" y="6556248"/>
            <a:ext cx="502920" cy="164592"/>
          </a:xfrm>
          <a:prstGeom prst="rect">
            <a:avLst/>
          </a:prstGeom>
          <a:noFill/>
          <a:ln/>
        </p:spPr>
        <p:txBody>
          <a:bodyPr wrap="square" lIns="0" tIns="0" rIns="0" bIns="0" rtlCol="0" anchor="ctr">
            <a:normAutofit/>
          </a:bodyPr>
          <a:lstStyle/>
          <a:p>
            <a:pPr algn="r" indent="0" marL="0">
              <a:buNone/>
            </a:pPr>
            <a:r>
              <a:rPr lang="en-US" sz="800" dirty="0">
                <a:solidFill>
                  <a:srgbClr val="6B7A88"/>
                </a:solidFill>
                <a:latin typeface="Inter" pitchFamily="34" charset="0"/>
                <a:ea typeface="Inter" pitchFamily="34" charset="-122"/>
                <a:cs typeface="Inter" pitchFamily="34" charset="-120"/>
              </a:rPr>
              <a:t>04</a:t>
            </a:r>
            <a:endParaRPr lang="en-US" sz="800" dirty="0"/>
          </a:p>
        </p:txBody>
      </p:sp>
      <p:sp>
        <p:nvSpPr>
          <p:cNvPr id="9" name="Shape 7"/>
          <p:cNvSpPr/>
          <p:nvPr/>
        </p:nvSpPr>
        <p:spPr>
          <a:xfrm>
            <a:off x="3474720" y="1591056"/>
            <a:ext cx="5239512" cy="658368"/>
          </a:xfrm>
          <a:prstGeom prst="roundRect">
            <a:avLst>
              <a:gd name="adj" fmla="val 16667"/>
            </a:avLst>
          </a:prstGeom>
          <a:solidFill>
            <a:srgbClr val="12263A"/>
          </a:solidFill>
          <a:ln w="11430">
            <a:solidFill>
              <a:srgbClr val="12263A"/>
            </a:solidFill>
            <a:prstDash val="solid"/>
          </a:ln>
        </p:spPr>
      </p:sp>
      <p:sp>
        <p:nvSpPr>
          <p:cNvPr id="10" name="Text 8"/>
          <p:cNvSpPr txBox="1"/>
          <p:nvPr/>
        </p:nvSpPr>
        <p:spPr>
          <a:xfrm>
            <a:off x="3694176" y="1700784"/>
            <a:ext cx="1005840" cy="182880"/>
          </a:xfrm>
          <a:prstGeom prst="rect">
            <a:avLst/>
          </a:prstGeom>
          <a:noFill/>
          <a:ln/>
        </p:spPr>
        <p:txBody>
          <a:bodyPr wrap="square" lIns="0" tIns="0" rIns="0" bIns="0" rtlCol="0" anchor="ctr">
            <a:normAutofit/>
          </a:bodyPr>
          <a:lstStyle/>
          <a:p>
            <a:pPr algn="l" indent="0" marL="0">
              <a:buNone/>
            </a:pPr>
            <a:r>
              <a:rPr lang="en-US" sz="820" b="1" spc="120" kern="0" dirty="0">
                <a:solidFill>
                  <a:srgbClr val="9FE1D8"/>
                </a:solidFill>
                <a:latin typeface="Inter" pitchFamily="34" charset="0"/>
                <a:ea typeface="Inter" pitchFamily="34" charset="-122"/>
                <a:cs typeface="Inter" pitchFamily="34" charset="-120"/>
              </a:rPr>
              <a:t>UI LAYER</a:t>
            </a:r>
            <a:endParaRPr lang="en-US" sz="820" dirty="0"/>
          </a:p>
        </p:txBody>
      </p:sp>
      <p:sp>
        <p:nvSpPr>
          <p:cNvPr id="11" name="Text 9"/>
          <p:cNvSpPr txBox="1"/>
          <p:nvPr/>
        </p:nvSpPr>
        <p:spPr>
          <a:xfrm>
            <a:off x="4617720" y="1682496"/>
            <a:ext cx="3822192" cy="246888"/>
          </a:xfrm>
          <a:prstGeom prst="rect">
            <a:avLst/>
          </a:prstGeom>
          <a:noFill/>
          <a:ln/>
        </p:spPr>
        <p:txBody>
          <a:bodyPr wrap="square" lIns="0" tIns="0" rIns="0" bIns="0" rtlCol="0" anchor="ctr">
            <a:normAutofit/>
          </a:bodyPr>
          <a:lstStyle/>
          <a:p>
            <a:pPr algn="ctr" indent="0" marL="0">
              <a:buNone/>
            </a:pPr>
            <a:r>
              <a:rPr lang="en-US" sz="1310" b="1" dirty="0">
                <a:solidFill>
                  <a:srgbClr val="FFFFFF"/>
                </a:solidFill>
                <a:latin typeface="Inter" pitchFamily="34" charset="0"/>
                <a:ea typeface="Inter" pitchFamily="34" charset="-122"/>
                <a:cs typeface="Inter" pitchFamily="34" charset="-120"/>
              </a:rPr>
              <a:t>ConsoleApp  ·  InputReader  ·  Table</a:t>
            </a:r>
            <a:endParaRPr lang="en-US" sz="1310" dirty="0"/>
          </a:p>
        </p:txBody>
      </p:sp>
      <p:sp>
        <p:nvSpPr>
          <p:cNvPr id="12" name="Shape 10"/>
          <p:cNvSpPr/>
          <p:nvPr/>
        </p:nvSpPr>
        <p:spPr>
          <a:xfrm>
            <a:off x="6089904" y="2249424"/>
            <a:ext cx="0" cy="292608"/>
          </a:xfrm>
          <a:prstGeom prst="line">
            <a:avLst/>
          </a:prstGeom>
          <a:noFill/>
          <a:ln w="20320">
            <a:solidFill>
              <a:srgbClr val="16877D"/>
            </a:solidFill>
            <a:prstDash val="solid"/>
            <a:tailEnd type="triangle"/>
          </a:ln>
        </p:spPr>
      </p:sp>
      <p:sp>
        <p:nvSpPr>
          <p:cNvPr id="13" name="Shape 11"/>
          <p:cNvSpPr/>
          <p:nvPr/>
        </p:nvSpPr>
        <p:spPr>
          <a:xfrm>
            <a:off x="3474720" y="2596896"/>
            <a:ext cx="5239512" cy="694944"/>
          </a:xfrm>
          <a:prstGeom prst="roundRect">
            <a:avLst>
              <a:gd name="adj" fmla="val 15789"/>
            </a:avLst>
          </a:prstGeom>
          <a:solidFill>
            <a:srgbClr val="E1F3F0"/>
          </a:solidFill>
          <a:ln w="11430">
            <a:solidFill>
              <a:srgbClr val="B9E2DC"/>
            </a:solidFill>
            <a:prstDash val="solid"/>
          </a:ln>
        </p:spPr>
      </p:sp>
      <p:sp>
        <p:nvSpPr>
          <p:cNvPr id="14" name="Text 12"/>
          <p:cNvSpPr txBox="1"/>
          <p:nvPr/>
        </p:nvSpPr>
        <p:spPr>
          <a:xfrm>
            <a:off x="3694176" y="2734056"/>
            <a:ext cx="1207008" cy="182880"/>
          </a:xfrm>
          <a:prstGeom prst="rect">
            <a:avLst/>
          </a:prstGeom>
          <a:noFill/>
          <a:ln/>
        </p:spPr>
        <p:txBody>
          <a:bodyPr wrap="square" lIns="0" tIns="0" rIns="0" bIns="0" rtlCol="0" anchor="ctr">
            <a:normAutofit/>
          </a:bodyPr>
          <a:lstStyle/>
          <a:p>
            <a:pPr algn="l" indent="0" marL="0">
              <a:buNone/>
            </a:pPr>
            <a:r>
              <a:rPr lang="en-US" sz="820" b="1" spc="110" kern="0" dirty="0">
                <a:solidFill>
                  <a:srgbClr val="16877D"/>
                </a:solidFill>
                <a:latin typeface="Inter" pitchFamily="34" charset="0"/>
                <a:ea typeface="Inter" pitchFamily="34" charset="-122"/>
                <a:cs typeface="Inter" pitchFamily="34" charset="-120"/>
              </a:rPr>
              <a:t>SERVICE LAYER</a:t>
            </a:r>
            <a:endParaRPr lang="en-US" sz="820" dirty="0"/>
          </a:p>
        </p:txBody>
      </p:sp>
      <p:sp>
        <p:nvSpPr>
          <p:cNvPr id="15" name="Text 13"/>
          <p:cNvSpPr txBox="1"/>
          <p:nvPr/>
        </p:nvSpPr>
        <p:spPr>
          <a:xfrm>
            <a:off x="4892040" y="2706624"/>
            <a:ext cx="3584448" cy="237744"/>
          </a:xfrm>
          <a:prstGeom prst="rect">
            <a:avLst/>
          </a:prstGeom>
          <a:noFill/>
          <a:ln/>
        </p:spPr>
        <p:txBody>
          <a:bodyPr wrap="square" lIns="0" tIns="0" rIns="0" bIns="0" rtlCol="0" anchor="ctr">
            <a:normAutofit/>
          </a:bodyPr>
          <a:lstStyle/>
          <a:p>
            <a:pPr algn="ctr" indent="0" marL="0">
              <a:buNone/>
            </a:pPr>
            <a:r>
              <a:rPr lang="en-US" sz="1200" b="1" dirty="0">
                <a:solidFill>
                  <a:srgbClr val="12263A"/>
                </a:solidFill>
                <a:latin typeface="Inter" pitchFamily="34" charset="0"/>
                <a:ea typeface="Inter" pitchFamily="34" charset="-122"/>
                <a:cs typeface="Inter" pitchFamily="34" charset="-120"/>
              </a:rPr>
              <a:t>LibraryService  ·  business workflow / facade</a:t>
            </a:r>
            <a:endParaRPr lang="en-US" sz="1200" dirty="0"/>
          </a:p>
        </p:txBody>
      </p:sp>
      <p:sp>
        <p:nvSpPr>
          <p:cNvPr id="16" name="Shape 14"/>
          <p:cNvSpPr/>
          <p:nvPr/>
        </p:nvSpPr>
        <p:spPr>
          <a:xfrm>
            <a:off x="6089904" y="3291840"/>
            <a:ext cx="-4270248" cy="384048"/>
          </a:xfrm>
          <a:prstGeom prst="line">
            <a:avLst/>
          </a:prstGeom>
          <a:noFill/>
          <a:ln w="14605">
            <a:solidFill>
              <a:srgbClr val="9CB2C1"/>
            </a:solidFill>
            <a:prstDash val="solid"/>
            <a:tailEnd type="triangle"/>
          </a:ln>
        </p:spPr>
      </p:sp>
      <p:sp>
        <p:nvSpPr>
          <p:cNvPr id="17" name="Shape 15"/>
          <p:cNvSpPr/>
          <p:nvPr/>
        </p:nvSpPr>
        <p:spPr>
          <a:xfrm>
            <a:off x="621792" y="3730752"/>
            <a:ext cx="2395728" cy="987552"/>
          </a:xfrm>
          <a:prstGeom prst="roundRect">
            <a:avLst>
              <a:gd name="adj" fmla="val 11111"/>
            </a:avLst>
          </a:prstGeom>
          <a:solidFill>
            <a:srgbClr val="FFFFFF"/>
          </a:solidFill>
          <a:ln w="11430">
            <a:solidFill>
              <a:srgbClr val="DCE5EA"/>
            </a:solidFill>
            <a:prstDash val="solid"/>
          </a:ln>
        </p:spPr>
      </p:sp>
      <p:sp>
        <p:nvSpPr>
          <p:cNvPr id="18" name="Shape 16"/>
          <p:cNvSpPr/>
          <p:nvPr/>
        </p:nvSpPr>
        <p:spPr>
          <a:xfrm>
            <a:off x="749808" y="3858768"/>
            <a:ext cx="987552" cy="274320"/>
          </a:xfrm>
          <a:prstGeom prst="roundRect">
            <a:avLst>
              <a:gd name="adj" fmla="val 33333"/>
            </a:avLst>
          </a:prstGeom>
          <a:solidFill>
            <a:srgbClr val="E9F0F6"/>
          </a:solidFill>
          <a:ln w="12700">
            <a:solidFill>
              <a:srgbClr val="E9F0F6">
                <a:alpha val="0"/>
              </a:srgbClr>
            </a:solidFill>
            <a:prstDash val="solid"/>
          </a:ln>
        </p:spPr>
      </p:sp>
      <p:sp>
        <p:nvSpPr>
          <p:cNvPr id="19" name="Text 17"/>
          <p:cNvSpPr txBox="1"/>
          <p:nvPr/>
        </p:nvSpPr>
        <p:spPr>
          <a:xfrm>
            <a:off x="804672" y="3872484"/>
            <a:ext cx="877824" cy="242316"/>
          </a:xfrm>
          <a:prstGeom prst="rect">
            <a:avLst/>
          </a:prstGeom>
          <a:noFill/>
          <a:ln/>
        </p:spPr>
        <p:txBody>
          <a:bodyPr wrap="square" lIns="0" tIns="0" rIns="0" bIns="0" rtlCol="0" anchor="ctr">
            <a:normAutofit/>
          </a:bodyPr>
          <a:lstStyle/>
          <a:p>
            <a:pPr algn="ctr" indent="0" marL="0">
              <a:buNone/>
            </a:pPr>
            <a:r>
              <a:rPr lang="en-US" sz="760" b="1" spc="30" kern="0" dirty="0">
                <a:solidFill>
                  <a:srgbClr val="16877D"/>
                </a:solidFill>
                <a:latin typeface="Inter" pitchFamily="34" charset="0"/>
                <a:ea typeface="Inter" pitchFamily="34" charset="-122"/>
                <a:cs typeface="Inter" pitchFamily="34" charset="-120"/>
              </a:rPr>
              <a:t>DOMAIN</a:t>
            </a:r>
            <a:endParaRPr lang="en-US" sz="760" dirty="0"/>
          </a:p>
        </p:txBody>
      </p:sp>
      <p:sp>
        <p:nvSpPr>
          <p:cNvPr id="20" name="Text 18"/>
          <p:cNvSpPr txBox="1"/>
          <p:nvPr/>
        </p:nvSpPr>
        <p:spPr>
          <a:xfrm>
            <a:off x="758952" y="4187952"/>
            <a:ext cx="2121408" cy="210312"/>
          </a:xfrm>
          <a:prstGeom prst="rect">
            <a:avLst/>
          </a:prstGeom>
          <a:noFill/>
          <a:ln/>
        </p:spPr>
        <p:txBody>
          <a:bodyPr wrap="square" lIns="0" tIns="0" rIns="0" bIns="0" rtlCol="0" anchor="ctr">
            <a:normAutofit/>
          </a:bodyPr>
          <a:lstStyle/>
          <a:p>
            <a:pPr algn="ctr" indent="0" marL="0">
              <a:buNone/>
            </a:pPr>
            <a:r>
              <a:rPr lang="en-US" sz="1120" b="1" dirty="0">
                <a:solidFill>
                  <a:srgbClr val="12263A"/>
                </a:solidFill>
                <a:latin typeface="Inter" pitchFamily="34" charset="0"/>
                <a:ea typeface="Inter" pitchFamily="34" charset="-122"/>
                <a:cs typeface="Inter" pitchFamily="34" charset="-120"/>
              </a:rPr>
              <a:t>Book · Member</a:t>
            </a:r>
            <a:endParaRPr lang="en-US" sz="1120" dirty="0"/>
          </a:p>
        </p:txBody>
      </p:sp>
      <p:sp>
        <p:nvSpPr>
          <p:cNvPr id="21" name="Text 19"/>
          <p:cNvSpPr txBox="1"/>
          <p:nvPr/>
        </p:nvSpPr>
        <p:spPr>
          <a:xfrm>
            <a:off x="731520" y="4462272"/>
            <a:ext cx="2176272" cy="164592"/>
          </a:xfrm>
          <a:prstGeom prst="rect">
            <a:avLst/>
          </a:prstGeom>
          <a:noFill/>
          <a:ln/>
        </p:spPr>
        <p:txBody>
          <a:bodyPr wrap="square" lIns="0" tIns="0" rIns="0" bIns="0" rtlCol="0" anchor="ctr">
            <a:normAutofit/>
          </a:bodyPr>
          <a:lstStyle/>
          <a:p>
            <a:pPr algn="ctr" indent="0" marL="0">
              <a:buNone/>
            </a:pPr>
            <a:r>
              <a:rPr lang="en-US" sz="880" dirty="0">
                <a:solidFill>
                  <a:srgbClr val="657585"/>
                </a:solidFill>
                <a:latin typeface="Inter" pitchFamily="34" charset="0"/>
                <a:ea typeface="Inter" pitchFamily="34" charset="-122"/>
                <a:cs typeface="Inter" pitchFamily="34" charset="-120"/>
              </a:rPr>
              <a:t>Entities and invariants</a:t>
            </a:r>
            <a:endParaRPr lang="en-US" sz="880" dirty="0"/>
          </a:p>
        </p:txBody>
      </p:sp>
      <p:sp>
        <p:nvSpPr>
          <p:cNvPr id="22" name="Shape 20"/>
          <p:cNvSpPr/>
          <p:nvPr/>
        </p:nvSpPr>
        <p:spPr>
          <a:xfrm>
            <a:off x="6089904" y="3291840"/>
            <a:ext cx="-1426464" cy="384048"/>
          </a:xfrm>
          <a:prstGeom prst="line">
            <a:avLst/>
          </a:prstGeom>
          <a:noFill/>
          <a:ln w="14605">
            <a:solidFill>
              <a:srgbClr val="9CB2C1"/>
            </a:solidFill>
            <a:prstDash val="solid"/>
            <a:tailEnd type="triangle"/>
          </a:ln>
        </p:spPr>
      </p:sp>
      <p:sp>
        <p:nvSpPr>
          <p:cNvPr id="23" name="Shape 21"/>
          <p:cNvSpPr/>
          <p:nvPr/>
        </p:nvSpPr>
        <p:spPr>
          <a:xfrm>
            <a:off x="3465576" y="3730752"/>
            <a:ext cx="2395728" cy="987552"/>
          </a:xfrm>
          <a:prstGeom prst="roundRect">
            <a:avLst>
              <a:gd name="adj" fmla="val 11111"/>
            </a:avLst>
          </a:prstGeom>
          <a:solidFill>
            <a:srgbClr val="FFFFFF"/>
          </a:solidFill>
          <a:ln w="11430">
            <a:solidFill>
              <a:srgbClr val="DCE5EA"/>
            </a:solidFill>
            <a:prstDash val="solid"/>
          </a:ln>
        </p:spPr>
      </p:sp>
      <p:sp>
        <p:nvSpPr>
          <p:cNvPr id="24" name="Shape 22"/>
          <p:cNvSpPr/>
          <p:nvPr/>
        </p:nvSpPr>
        <p:spPr>
          <a:xfrm>
            <a:off x="3593592" y="3858768"/>
            <a:ext cx="987552" cy="274320"/>
          </a:xfrm>
          <a:prstGeom prst="roundRect">
            <a:avLst>
              <a:gd name="adj" fmla="val 33333"/>
            </a:avLst>
          </a:prstGeom>
          <a:solidFill>
            <a:srgbClr val="FFF2DE"/>
          </a:solidFill>
          <a:ln w="12700">
            <a:solidFill>
              <a:srgbClr val="FFF2DE">
                <a:alpha val="0"/>
              </a:srgbClr>
            </a:solidFill>
            <a:prstDash val="solid"/>
          </a:ln>
        </p:spPr>
      </p:sp>
      <p:sp>
        <p:nvSpPr>
          <p:cNvPr id="25" name="Text 23"/>
          <p:cNvSpPr txBox="1"/>
          <p:nvPr/>
        </p:nvSpPr>
        <p:spPr>
          <a:xfrm>
            <a:off x="3648456" y="3872484"/>
            <a:ext cx="877824" cy="242316"/>
          </a:xfrm>
          <a:prstGeom prst="rect">
            <a:avLst/>
          </a:prstGeom>
          <a:noFill/>
          <a:ln/>
        </p:spPr>
        <p:txBody>
          <a:bodyPr wrap="square" lIns="0" tIns="0" rIns="0" bIns="0" rtlCol="0" anchor="ctr">
            <a:normAutofit/>
          </a:bodyPr>
          <a:lstStyle/>
          <a:p>
            <a:pPr algn="ctr" indent="0" marL="0">
              <a:buNone/>
            </a:pPr>
            <a:r>
              <a:rPr lang="en-US" sz="760" b="1" spc="30" kern="0" dirty="0">
                <a:solidFill>
                  <a:srgbClr val="94621D"/>
                </a:solidFill>
                <a:latin typeface="Inter" pitchFamily="34" charset="0"/>
                <a:ea typeface="Inter" pitchFamily="34" charset="-122"/>
                <a:cs typeface="Inter" pitchFamily="34" charset="-120"/>
              </a:rPr>
              <a:t>CORE</a:t>
            </a:r>
            <a:endParaRPr lang="en-US" sz="760" dirty="0"/>
          </a:p>
        </p:txBody>
      </p:sp>
      <p:sp>
        <p:nvSpPr>
          <p:cNvPr id="26" name="Text 24"/>
          <p:cNvSpPr txBox="1"/>
          <p:nvPr/>
        </p:nvSpPr>
        <p:spPr>
          <a:xfrm>
            <a:off x="3602736" y="4187952"/>
            <a:ext cx="2121408" cy="210312"/>
          </a:xfrm>
          <a:prstGeom prst="rect">
            <a:avLst/>
          </a:prstGeom>
          <a:noFill/>
          <a:ln/>
        </p:spPr>
        <p:txBody>
          <a:bodyPr wrap="square" lIns="0" tIns="0" rIns="0" bIns="0" rtlCol="0" anchor="ctr">
            <a:normAutofit/>
          </a:bodyPr>
          <a:lstStyle/>
          <a:p>
            <a:pPr algn="ctr" indent="0" marL="0">
              <a:buNone/>
            </a:pPr>
            <a:r>
              <a:rPr lang="en-US" sz="1120" b="1" dirty="0">
                <a:solidFill>
                  <a:srgbClr val="12263A"/>
                </a:solidFill>
                <a:latin typeface="Inter" pitchFamily="34" charset="0"/>
                <a:ea typeface="Inter" pitchFamily="34" charset="-122"/>
                <a:cs typeface="Inter" pitchFamily="34" charset="-120"/>
              </a:rPr>
              <a:t>Container&lt;T&gt;</a:t>
            </a:r>
            <a:endParaRPr lang="en-US" sz="1120" dirty="0"/>
          </a:p>
        </p:txBody>
      </p:sp>
      <p:sp>
        <p:nvSpPr>
          <p:cNvPr id="27" name="Text 25"/>
          <p:cNvSpPr txBox="1"/>
          <p:nvPr/>
        </p:nvSpPr>
        <p:spPr>
          <a:xfrm>
            <a:off x="3575304" y="4462272"/>
            <a:ext cx="2176272" cy="164592"/>
          </a:xfrm>
          <a:prstGeom prst="rect">
            <a:avLst/>
          </a:prstGeom>
          <a:noFill/>
          <a:ln/>
        </p:spPr>
        <p:txBody>
          <a:bodyPr wrap="square" lIns="0" tIns="0" rIns="0" bIns="0" rtlCol="0" anchor="ctr">
            <a:normAutofit/>
          </a:bodyPr>
          <a:lstStyle/>
          <a:p>
            <a:pPr algn="ctr" indent="0" marL="0">
              <a:buNone/>
            </a:pPr>
            <a:r>
              <a:rPr lang="en-US" sz="880" dirty="0">
                <a:solidFill>
                  <a:srgbClr val="657585"/>
                </a:solidFill>
                <a:latin typeface="Inter" pitchFamily="34" charset="0"/>
                <a:ea typeface="Inter" pitchFamily="34" charset="-122"/>
                <a:cs typeface="Inter" pitchFamily="34" charset="-120"/>
              </a:rPr>
              <a:t>Nodes + iterators</a:t>
            </a:r>
            <a:endParaRPr lang="en-US" sz="880" dirty="0"/>
          </a:p>
        </p:txBody>
      </p:sp>
      <p:sp>
        <p:nvSpPr>
          <p:cNvPr id="28" name="Shape 26"/>
          <p:cNvSpPr/>
          <p:nvPr/>
        </p:nvSpPr>
        <p:spPr>
          <a:xfrm>
            <a:off x="6089904" y="3291840"/>
            <a:ext cx="1417320" cy="384048"/>
          </a:xfrm>
          <a:prstGeom prst="line">
            <a:avLst/>
          </a:prstGeom>
          <a:noFill/>
          <a:ln w="14605">
            <a:solidFill>
              <a:srgbClr val="9CB2C1"/>
            </a:solidFill>
            <a:prstDash val="solid"/>
            <a:tailEnd type="triangle"/>
          </a:ln>
        </p:spPr>
      </p:sp>
      <p:sp>
        <p:nvSpPr>
          <p:cNvPr id="29" name="Shape 27"/>
          <p:cNvSpPr/>
          <p:nvPr/>
        </p:nvSpPr>
        <p:spPr>
          <a:xfrm>
            <a:off x="6309360" y="3730752"/>
            <a:ext cx="2395728" cy="987552"/>
          </a:xfrm>
          <a:prstGeom prst="roundRect">
            <a:avLst>
              <a:gd name="adj" fmla="val 11111"/>
            </a:avLst>
          </a:prstGeom>
          <a:solidFill>
            <a:srgbClr val="FFFFFF"/>
          </a:solidFill>
          <a:ln w="11430">
            <a:solidFill>
              <a:srgbClr val="DCE5EA"/>
            </a:solidFill>
            <a:prstDash val="solid"/>
          </a:ln>
        </p:spPr>
      </p:sp>
      <p:sp>
        <p:nvSpPr>
          <p:cNvPr id="30" name="Shape 28"/>
          <p:cNvSpPr/>
          <p:nvPr/>
        </p:nvSpPr>
        <p:spPr>
          <a:xfrm>
            <a:off x="6437376" y="3858768"/>
            <a:ext cx="987552" cy="274320"/>
          </a:xfrm>
          <a:prstGeom prst="roundRect">
            <a:avLst>
              <a:gd name="adj" fmla="val 33333"/>
            </a:avLst>
          </a:prstGeom>
          <a:solidFill>
            <a:srgbClr val="F0F3F6"/>
          </a:solidFill>
          <a:ln w="12700">
            <a:solidFill>
              <a:srgbClr val="F0F3F6">
                <a:alpha val="0"/>
              </a:srgbClr>
            </a:solidFill>
            <a:prstDash val="solid"/>
          </a:ln>
        </p:spPr>
      </p:sp>
      <p:sp>
        <p:nvSpPr>
          <p:cNvPr id="31" name="Text 29"/>
          <p:cNvSpPr txBox="1"/>
          <p:nvPr/>
        </p:nvSpPr>
        <p:spPr>
          <a:xfrm>
            <a:off x="6492240" y="3872484"/>
            <a:ext cx="877824" cy="242316"/>
          </a:xfrm>
          <a:prstGeom prst="rect">
            <a:avLst/>
          </a:prstGeom>
          <a:noFill/>
          <a:ln/>
        </p:spPr>
        <p:txBody>
          <a:bodyPr wrap="square" lIns="0" tIns="0" rIns="0" bIns="0" rtlCol="0" anchor="ctr">
            <a:normAutofit/>
          </a:bodyPr>
          <a:lstStyle/>
          <a:p>
            <a:pPr algn="ctr" indent="0" marL="0">
              <a:buNone/>
            </a:pPr>
            <a:r>
              <a:rPr lang="en-US" sz="760" b="1" spc="30" kern="0" dirty="0">
                <a:solidFill>
                  <a:srgbClr val="16877D"/>
                </a:solidFill>
                <a:latin typeface="Inter" pitchFamily="34" charset="0"/>
                <a:ea typeface="Inter" pitchFamily="34" charset="-122"/>
                <a:cs typeface="Inter" pitchFamily="34" charset="-120"/>
              </a:rPr>
              <a:t>STRATEGIES</a:t>
            </a:r>
            <a:endParaRPr lang="en-US" sz="760" dirty="0"/>
          </a:p>
        </p:txBody>
      </p:sp>
      <p:sp>
        <p:nvSpPr>
          <p:cNvPr id="32" name="Text 30"/>
          <p:cNvSpPr txBox="1"/>
          <p:nvPr/>
        </p:nvSpPr>
        <p:spPr>
          <a:xfrm>
            <a:off x="6446520" y="4187952"/>
            <a:ext cx="2121408" cy="210312"/>
          </a:xfrm>
          <a:prstGeom prst="rect">
            <a:avLst/>
          </a:prstGeom>
          <a:noFill/>
          <a:ln/>
        </p:spPr>
        <p:txBody>
          <a:bodyPr wrap="square" lIns="0" tIns="0" rIns="0" bIns="0" rtlCol="0" anchor="ctr">
            <a:normAutofit/>
          </a:bodyPr>
          <a:lstStyle/>
          <a:p>
            <a:pPr algn="ctr" indent="0" marL="0">
              <a:buNone/>
            </a:pPr>
            <a:r>
              <a:rPr lang="en-US" sz="1120" b="1" dirty="0">
                <a:solidFill>
                  <a:srgbClr val="12263A"/>
                </a:solidFill>
                <a:latin typeface="Inter" pitchFamily="34" charset="0"/>
                <a:ea typeface="Inter" pitchFamily="34" charset="-122"/>
                <a:cs typeface="Inter" pitchFamily="34" charset="-120"/>
              </a:rPr>
              <a:t>Search / Sort</a:t>
            </a:r>
            <a:endParaRPr lang="en-US" sz="1120" dirty="0"/>
          </a:p>
        </p:txBody>
      </p:sp>
      <p:sp>
        <p:nvSpPr>
          <p:cNvPr id="33" name="Text 31"/>
          <p:cNvSpPr txBox="1"/>
          <p:nvPr/>
        </p:nvSpPr>
        <p:spPr>
          <a:xfrm>
            <a:off x="6419088" y="4462272"/>
            <a:ext cx="2176272" cy="164592"/>
          </a:xfrm>
          <a:prstGeom prst="rect">
            <a:avLst/>
          </a:prstGeom>
          <a:noFill/>
          <a:ln/>
        </p:spPr>
        <p:txBody>
          <a:bodyPr wrap="square" lIns="0" tIns="0" rIns="0" bIns="0" rtlCol="0" anchor="ctr">
            <a:normAutofit/>
          </a:bodyPr>
          <a:lstStyle/>
          <a:p>
            <a:pPr algn="ctr" indent="0" marL="0">
              <a:buNone/>
            </a:pPr>
            <a:r>
              <a:rPr lang="en-US" sz="880" dirty="0">
                <a:solidFill>
                  <a:srgbClr val="657585"/>
                </a:solidFill>
                <a:latin typeface="Inter" pitchFamily="34" charset="0"/>
                <a:ea typeface="Inter" pitchFamily="34" charset="-122"/>
                <a:cs typeface="Inter" pitchFamily="34" charset="-120"/>
              </a:rPr>
              <a:t>Swappable algorithms</a:t>
            </a:r>
            <a:endParaRPr lang="en-US" sz="880" dirty="0"/>
          </a:p>
        </p:txBody>
      </p:sp>
      <p:sp>
        <p:nvSpPr>
          <p:cNvPr id="34" name="Shape 32"/>
          <p:cNvSpPr/>
          <p:nvPr/>
        </p:nvSpPr>
        <p:spPr>
          <a:xfrm>
            <a:off x="6089904" y="3291840"/>
            <a:ext cx="4261104" cy="384048"/>
          </a:xfrm>
          <a:prstGeom prst="line">
            <a:avLst/>
          </a:prstGeom>
          <a:noFill/>
          <a:ln w="14605">
            <a:solidFill>
              <a:srgbClr val="9CB2C1"/>
            </a:solidFill>
            <a:prstDash val="solid"/>
            <a:tailEnd type="triangle"/>
          </a:ln>
        </p:spPr>
      </p:sp>
      <p:sp>
        <p:nvSpPr>
          <p:cNvPr id="35" name="Shape 33"/>
          <p:cNvSpPr/>
          <p:nvPr/>
        </p:nvSpPr>
        <p:spPr>
          <a:xfrm>
            <a:off x="9153144" y="3730752"/>
            <a:ext cx="2395728" cy="987552"/>
          </a:xfrm>
          <a:prstGeom prst="roundRect">
            <a:avLst>
              <a:gd name="adj" fmla="val 11111"/>
            </a:avLst>
          </a:prstGeom>
          <a:solidFill>
            <a:srgbClr val="FFFFFF"/>
          </a:solidFill>
          <a:ln w="11430">
            <a:solidFill>
              <a:srgbClr val="DCE5EA"/>
            </a:solidFill>
            <a:prstDash val="solid"/>
          </a:ln>
        </p:spPr>
      </p:sp>
      <p:sp>
        <p:nvSpPr>
          <p:cNvPr id="36" name="Shape 34"/>
          <p:cNvSpPr/>
          <p:nvPr/>
        </p:nvSpPr>
        <p:spPr>
          <a:xfrm>
            <a:off x="9281160" y="3858768"/>
            <a:ext cx="987552" cy="274320"/>
          </a:xfrm>
          <a:prstGeom prst="roundRect">
            <a:avLst>
              <a:gd name="adj" fmla="val 33333"/>
            </a:avLst>
          </a:prstGeom>
          <a:solidFill>
            <a:srgbClr val="E1F3F0"/>
          </a:solidFill>
          <a:ln w="12700">
            <a:solidFill>
              <a:srgbClr val="E1F3F0">
                <a:alpha val="0"/>
              </a:srgbClr>
            </a:solidFill>
            <a:prstDash val="solid"/>
          </a:ln>
        </p:spPr>
      </p:sp>
      <p:sp>
        <p:nvSpPr>
          <p:cNvPr id="37" name="Text 35"/>
          <p:cNvSpPr txBox="1"/>
          <p:nvPr/>
        </p:nvSpPr>
        <p:spPr>
          <a:xfrm>
            <a:off x="9336024" y="3872484"/>
            <a:ext cx="877824" cy="242316"/>
          </a:xfrm>
          <a:prstGeom prst="rect">
            <a:avLst/>
          </a:prstGeom>
          <a:noFill/>
          <a:ln/>
        </p:spPr>
        <p:txBody>
          <a:bodyPr wrap="square" lIns="0" tIns="0" rIns="0" bIns="0" rtlCol="0" anchor="ctr">
            <a:normAutofit/>
          </a:bodyPr>
          <a:lstStyle/>
          <a:p>
            <a:pPr algn="ctr" indent="0" marL="0">
              <a:buNone/>
            </a:pPr>
            <a:r>
              <a:rPr lang="en-US" sz="760" b="1" spc="30" kern="0" dirty="0">
                <a:solidFill>
                  <a:srgbClr val="16877D"/>
                </a:solidFill>
                <a:latin typeface="Inter" pitchFamily="34" charset="0"/>
                <a:ea typeface="Inter" pitchFamily="34" charset="-122"/>
                <a:cs typeface="Inter" pitchFamily="34" charset="-120"/>
              </a:rPr>
              <a:t>REPOSITORY</a:t>
            </a:r>
            <a:endParaRPr lang="en-US" sz="760" dirty="0"/>
          </a:p>
        </p:txBody>
      </p:sp>
      <p:sp>
        <p:nvSpPr>
          <p:cNvPr id="38" name="Text 36"/>
          <p:cNvSpPr txBox="1"/>
          <p:nvPr/>
        </p:nvSpPr>
        <p:spPr>
          <a:xfrm>
            <a:off x="9290304" y="4187952"/>
            <a:ext cx="2121408" cy="210312"/>
          </a:xfrm>
          <a:prstGeom prst="rect">
            <a:avLst/>
          </a:prstGeom>
          <a:noFill/>
          <a:ln/>
        </p:spPr>
        <p:txBody>
          <a:bodyPr wrap="square" lIns="0" tIns="0" rIns="0" bIns="0" rtlCol="0" anchor="ctr">
            <a:normAutofit/>
          </a:bodyPr>
          <a:lstStyle/>
          <a:p>
            <a:pPr algn="ctr" indent="0" marL="0">
              <a:buNone/>
            </a:pPr>
            <a:r>
              <a:rPr lang="en-US" sz="1120" b="1" dirty="0">
                <a:solidFill>
                  <a:srgbClr val="12263A"/>
                </a:solidFill>
                <a:latin typeface="Inter" pitchFamily="34" charset="0"/>
                <a:ea typeface="Inter" pitchFamily="34" charset="-122"/>
                <a:cs typeface="Inter" pitchFamily="34" charset="-120"/>
              </a:rPr>
              <a:t>ILibraryRepository</a:t>
            </a:r>
            <a:endParaRPr lang="en-US" sz="1120" dirty="0"/>
          </a:p>
        </p:txBody>
      </p:sp>
      <p:sp>
        <p:nvSpPr>
          <p:cNvPr id="39" name="Text 37"/>
          <p:cNvSpPr txBox="1"/>
          <p:nvPr/>
        </p:nvSpPr>
        <p:spPr>
          <a:xfrm>
            <a:off x="9262872" y="4462272"/>
            <a:ext cx="2176272" cy="164592"/>
          </a:xfrm>
          <a:prstGeom prst="rect">
            <a:avLst/>
          </a:prstGeom>
          <a:noFill/>
          <a:ln/>
        </p:spPr>
        <p:txBody>
          <a:bodyPr wrap="square" lIns="0" tIns="0" rIns="0" bIns="0" rtlCol="0" anchor="ctr">
            <a:normAutofit/>
          </a:bodyPr>
          <a:lstStyle/>
          <a:p>
            <a:pPr algn="ctr" indent="0" marL="0">
              <a:buNone/>
            </a:pPr>
            <a:r>
              <a:rPr lang="en-US" sz="880" dirty="0">
                <a:solidFill>
                  <a:srgbClr val="657585"/>
                </a:solidFill>
                <a:latin typeface="Inter" pitchFamily="34" charset="0"/>
                <a:ea typeface="Inter" pitchFamily="34" charset="-122"/>
                <a:cs typeface="Inter" pitchFamily="34" charset="-120"/>
              </a:rPr>
              <a:t>Persistence contract</a:t>
            </a:r>
            <a:endParaRPr lang="en-US" sz="880" dirty="0"/>
          </a:p>
        </p:txBody>
      </p:sp>
      <p:sp>
        <p:nvSpPr>
          <p:cNvPr id="40" name="Shape 38"/>
          <p:cNvSpPr/>
          <p:nvPr/>
        </p:nvSpPr>
        <p:spPr>
          <a:xfrm>
            <a:off x="10351008" y="4718304"/>
            <a:ext cx="0" cy="265176"/>
          </a:xfrm>
          <a:prstGeom prst="line">
            <a:avLst/>
          </a:prstGeom>
          <a:noFill/>
          <a:ln w="16510">
            <a:solidFill>
              <a:srgbClr val="16877D"/>
            </a:solidFill>
            <a:prstDash val="solid"/>
            <a:tailEnd type="triangle"/>
          </a:ln>
        </p:spPr>
      </p:sp>
      <p:sp>
        <p:nvSpPr>
          <p:cNvPr id="41" name="Shape 39"/>
          <p:cNvSpPr/>
          <p:nvPr/>
        </p:nvSpPr>
        <p:spPr>
          <a:xfrm>
            <a:off x="9052560" y="5029200"/>
            <a:ext cx="2596896" cy="804672"/>
          </a:xfrm>
          <a:prstGeom prst="roundRect">
            <a:avLst>
              <a:gd name="adj" fmla="val 13636"/>
            </a:avLst>
          </a:prstGeom>
          <a:solidFill>
            <a:srgbClr val="12263A"/>
          </a:solidFill>
          <a:ln w="11430">
            <a:solidFill>
              <a:srgbClr val="12263A"/>
            </a:solidFill>
            <a:prstDash val="solid"/>
          </a:ln>
        </p:spPr>
      </p:sp>
      <p:sp>
        <p:nvSpPr>
          <p:cNvPr id="42" name="Text 40"/>
          <p:cNvSpPr txBox="1"/>
          <p:nvPr/>
        </p:nvSpPr>
        <p:spPr>
          <a:xfrm>
            <a:off x="9217152" y="5138928"/>
            <a:ext cx="2267712" cy="219456"/>
          </a:xfrm>
          <a:prstGeom prst="rect">
            <a:avLst/>
          </a:prstGeom>
          <a:noFill/>
          <a:ln/>
        </p:spPr>
        <p:txBody>
          <a:bodyPr wrap="square" lIns="0" tIns="0" rIns="0" bIns="0" rtlCol="0" anchor="ctr">
            <a:normAutofit/>
          </a:bodyPr>
          <a:lstStyle/>
          <a:p>
            <a:pPr algn="ctr" indent="0" marL="0">
              <a:buNone/>
            </a:pPr>
            <a:r>
              <a:rPr lang="en-US" sz="1010" b="1" dirty="0">
                <a:solidFill>
                  <a:srgbClr val="FFFFFF"/>
                </a:solidFill>
                <a:latin typeface="Inter" pitchFamily="34" charset="0"/>
                <a:ea typeface="Inter" pitchFamily="34" charset="-122"/>
                <a:cs typeface="Inter" pitchFamily="34" charset="-120"/>
              </a:rPr>
              <a:t>SqliteRepository  /  NullRepository</a:t>
            </a:r>
            <a:endParaRPr lang="en-US" sz="1010" dirty="0"/>
          </a:p>
        </p:txBody>
      </p:sp>
      <p:sp>
        <p:nvSpPr>
          <p:cNvPr id="43" name="Text 41"/>
          <p:cNvSpPr txBox="1"/>
          <p:nvPr/>
        </p:nvSpPr>
        <p:spPr>
          <a:xfrm>
            <a:off x="9217152" y="5458968"/>
            <a:ext cx="2267712" cy="164592"/>
          </a:xfrm>
          <a:prstGeom prst="rect">
            <a:avLst/>
          </a:prstGeom>
          <a:noFill/>
          <a:ln/>
        </p:spPr>
        <p:txBody>
          <a:bodyPr wrap="square" lIns="0" tIns="0" rIns="0" bIns="0" rtlCol="0" anchor="ctr">
            <a:normAutofit/>
          </a:bodyPr>
          <a:lstStyle/>
          <a:p>
            <a:pPr algn="ctr" indent="0" marL="0">
              <a:buNone/>
            </a:pPr>
            <a:r>
              <a:rPr lang="en-US" sz="860" dirty="0">
                <a:solidFill>
                  <a:srgbClr val="BCD0DB"/>
                </a:solidFill>
                <a:latin typeface="Inter" pitchFamily="34" charset="0"/>
                <a:ea typeface="Inter" pitchFamily="34" charset="-122"/>
                <a:cs typeface="Inter" pitchFamily="34" charset="-120"/>
              </a:rPr>
              <a:t>SQLite file or no-op storage</a:t>
            </a:r>
            <a:endParaRPr lang="en-US" sz="860" dirty="0"/>
          </a:p>
        </p:txBody>
      </p:sp>
      <p:sp>
        <p:nvSpPr>
          <p:cNvPr id="44" name="Text 42"/>
          <p:cNvSpPr txBox="1"/>
          <p:nvPr/>
        </p:nvSpPr>
        <p:spPr>
          <a:xfrm>
            <a:off x="749808" y="5980176"/>
            <a:ext cx="7589520" cy="219456"/>
          </a:xfrm>
          <a:prstGeom prst="rect">
            <a:avLst/>
          </a:prstGeom>
          <a:noFill/>
          <a:ln/>
        </p:spPr>
        <p:txBody>
          <a:bodyPr wrap="square" lIns="0" tIns="0" rIns="0" bIns="0" rtlCol="0" anchor="ctr">
            <a:normAutofit/>
          </a:bodyPr>
          <a:lstStyle/>
          <a:p>
            <a:pPr algn="l" indent="0" marL="0">
              <a:buNone/>
            </a:pPr>
            <a:r>
              <a:rPr lang="en-US" sz="1020" i="1" dirty="0">
                <a:solidFill>
                  <a:srgbClr val="657585"/>
                </a:solidFill>
                <a:latin typeface="Inter" pitchFamily="34" charset="0"/>
                <a:ea typeface="Inter" pitchFamily="34" charset="-122"/>
                <a:cs typeface="Inter" pitchFamily="34" charset="-120"/>
              </a:rPr>
              <a:t>UI depends on the service API — not on SQL statements or node pointers.</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66928" y="347472"/>
            <a:ext cx="50292" cy="210312"/>
          </a:xfrm>
          <a:prstGeom prst="rect">
            <a:avLst/>
          </a:prstGeom>
          <a:solidFill>
            <a:srgbClr val="16877D"/>
          </a:solidFill>
          <a:ln w="12700">
            <a:solidFill>
              <a:srgbClr val="16877D">
                <a:alpha val="0"/>
              </a:srgbClr>
            </a:solidFill>
            <a:prstDash val="solid"/>
          </a:ln>
        </p:spPr>
      </p:sp>
      <p:sp>
        <p:nvSpPr>
          <p:cNvPr id="3" name="Text 1"/>
          <p:cNvSpPr txBox="1"/>
          <p:nvPr/>
        </p:nvSpPr>
        <p:spPr>
          <a:xfrm>
            <a:off x="713232" y="333756"/>
            <a:ext cx="3200400" cy="219456"/>
          </a:xfrm>
          <a:prstGeom prst="rect">
            <a:avLst/>
          </a:prstGeom>
          <a:noFill/>
          <a:ln/>
        </p:spPr>
        <p:txBody>
          <a:bodyPr wrap="square" lIns="0" tIns="0" rIns="0" bIns="0" rtlCol="0" anchor="ctr">
            <a:normAutofit/>
          </a:bodyPr>
          <a:lstStyle/>
          <a:p>
            <a:pPr algn="l" indent="0" marL="0">
              <a:buNone/>
            </a:pPr>
            <a:r>
              <a:rPr lang="en-US" sz="810" b="1" spc="180" kern="0" dirty="0">
                <a:solidFill>
                  <a:srgbClr val="16877D"/>
                </a:solidFill>
                <a:latin typeface="Inter" pitchFamily="34" charset="0"/>
                <a:ea typeface="Inter" pitchFamily="34" charset="-122"/>
                <a:cs typeface="Inter" pitchFamily="34" charset="-120"/>
              </a:rPr>
              <a:t>COMPONENTS</a:t>
            </a:r>
            <a:endParaRPr lang="en-US" sz="810" dirty="0"/>
          </a:p>
        </p:txBody>
      </p:sp>
      <p:sp>
        <p:nvSpPr>
          <p:cNvPr id="4" name="Text 2"/>
          <p:cNvSpPr txBox="1"/>
          <p:nvPr/>
        </p:nvSpPr>
        <p:spPr>
          <a:xfrm>
            <a:off x="566928" y="658368"/>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2263A"/>
                </a:solidFill>
                <a:latin typeface="Inter" pitchFamily="34" charset="0"/>
                <a:ea typeface="Inter" pitchFamily="34" charset="-122"/>
                <a:cs typeface="Inter" pitchFamily="34" charset="-120"/>
              </a:rPr>
              <a:t>The important classes have narrow, explicit roles</a:t>
            </a:r>
            <a:endParaRPr lang="en-US" sz="2700" dirty="0"/>
          </a:p>
        </p:txBody>
      </p:sp>
      <p:sp>
        <p:nvSpPr>
          <p:cNvPr id="5" name="Text 3"/>
          <p:cNvSpPr txBox="1"/>
          <p:nvPr/>
        </p:nvSpPr>
        <p:spPr>
          <a:xfrm>
            <a:off x="585216" y="1115568"/>
            <a:ext cx="10972800" cy="274320"/>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The service coordinates; components do not all do everything.</a:t>
            </a:r>
            <a:endParaRPr lang="en-US" sz="1070" dirty="0"/>
          </a:p>
        </p:txBody>
      </p:sp>
      <p:sp>
        <p:nvSpPr>
          <p:cNvPr id="6" name="Shape 4"/>
          <p:cNvSpPr/>
          <p:nvPr/>
        </p:nvSpPr>
        <p:spPr>
          <a:xfrm>
            <a:off x="566928" y="6510528"/>
            <a:ext cx="11119104" cy="0"/>
          </a:xfrm>
          <a:prstGeom prst="line">
            <a:avLst/>
          </a:prstGeom>
          <a:noFill/>
          <a:ln w="10160">
            <a:solidFill>
              <a:srgbClr val="E0E7EB"/>
            </a:solidFill>
            <a:prstDash val="solid"/>
          </a:ln>
        </p:spPr>
      </p:sp>
      <p:sp>
        <p:nvSpPr>
          <p:cNvPr id="7" name="Text 5"/>
          <p:cNvSpPr txBox="1"/>
          <p:nvPr/>
        </p:nvSpPr>
        <p:spPr>
          <a:xfrm>
            <a:off x="566928" y="6565392"/>
            <a:ext cx="5303520" cy="146304"/>
          </a:xfrm>
          <a:prstGeom prst="rect">
            <a:avLst/>
          </a:prstGeom>
          <a:noFill/>
          <a:ln/>
        </p:spPr>
        <p:txBody>
          <a:bodyPr wrap="square" lIns="0" tIns="0" rIns="0" bIns="0" rtlCol="0" anchor="ctr">
            <a:normAutofit/>
          </a:bodyPr>
          <a:lstStyle/>
          <a:p>
            <a:pPr algn="l" indent="0" marL="0">
              <a:buNone/>
            </a:pPr>
            <a:r>
              <a:rPr lang="en-US" sz="750" spc="110" kern="0" dirty="0">
                <a:solidFill>
                  <a:srgbClr val="6B7A88"/>
                </a:solidFill>
                <a:latin typeface="Inter" pitchFamily="34" charset="0"/>
                <a:ea typeface="Inter" pitchFamily="34" charset="-122"/>
                <a:cs typeface="Inter" pitchFamily="34" charset="-120"/>
              </a:rPr>
              <a:t>TITANS  /  LIBRARY MANAGEMENT SYSTEM</a:t>
            </a:r>
            <a:endParaRPr lang="en-US" sz="750" dirty="0"/>
          </a:p>
        </p:txBody>
      </p:sp>
      <p:sp>
        <p:nvSpPr>
          <p:cNvPr id="8" name="Text 6"/>
          <p:cNvSpPr txBox="1"/>
          <p:nvPr/>
        </p:nvSpPr>
        <p:spPr>
          <a:xfrm>
            <a:off x="11109960" y="6556248"/>
            <a:ext cx="502920" cy="164592"/>
          </a:xfrm>
          <a:prstGeom prst="rect">
            <a:avLst/>
          </a:prstGeom>
          <a:noFill/>
          <a:ln/>
        </p:spPr>
        <p:txBody>
          <a:bodyPr wrap="square" lIns="0" tIns="0" rIns="0" bIns="0" rtlCol="0" anchor="ctr">
            <a:normAutofit/>
          </a:bodyPr>
          <a:lstStyle/>
          <a:p>
            <a:pPr algn="r" indent="0" marL="0">
              <a:buNone/>
            </a:pPr>
            <a:r>
              <a:rPr lang="en-US" sz="800" dirty="0">
                <a:solidFill>
                  <a:srgbClr val="6B7A88"/>
                </a:solidFill>
                <a:latin typeface="Inter" pitchFamily="34" charset="0"/>
                <a:ea typeface="Inter" pitchFamily="34" charset="-122"/>
                <a:cs typeface="Inter" pitchFamily="34" charset="-120"/>
              </a:rPr>
              <a:t>05</a:t>
            </a:r>
            <a:endParaRPr lang="en-US" sz="800" dirty="0"/>
          </a:p>
        </p:txBody>
      </p:sp>
      <p:sp>
        <p:nvSpPr>
          <p:cNvPr id="9" name="Shape 7"/>
          <p:cNvSpPr/>
          <p:nvPr/>
        </p:nvSpPr>
        <p:spPr>
          <a:xfrm>
            <a:off x="640080" y="1627632"/>
            <a:ext cx="10899648" cy="694944"/>
          </a:xfrm>
          <a:prstGeom prst="roundRect">
            <a:avLst>
              <a:gd name="adj" fmla="val 15789"/>
            </a:avLst>
          </a:prstGeom>
          <a:solidFill>
            <a:srgbClr val="FFFFFF"/>
          </a:solidFill>
          <a:ln w="11430">
            <a:solidFill>
              <a:srgbClr val="DCE5EA"/>
            </a:solidFill>
            <a:prstDash val="solid"/>
          </a:ln>
        </p:spPr>
      </p:sp>
      <p:sp>
        <p:nvSpPr>
          <p:cNvPr id="10" name="Shape 8"/>
          <p:cNvSpPr/>
          <p:nvPr/>
        </p:nvSpPr>
        <p:spPr>
          <a:xfrm>
            <a:off x="768096" y="1755648"/>
            <a:ext cx="1947672" cy="438912"/>
          </a:xfrm>
          <a:prstGeom prst="roundRect">
            <a:avLst>
              <a:gd name="adj" fmla="val 25000"/>
            </a:avLst>
          </a:prstGeom>
          <a:solidFill>
            <a:srgbClr val="E9F0F6"/>
          </a:solidFill>
          <a:ln w="11430">
            <a:solidFill>
              <a:srgbClr val="E9F0F6"/>
            </a:solidFill>
            <a:prstDash val="solid"/>
          </a:ln>
        </p:spPr>
      </p:sp>
      <p:sp>
        <p:nvSpPr>
          <p:cNvPr id="11" name="Text 9"/>
          <p:cNvSpPr txBox="1"/>
          <p:nvPr/>
        </p:nvSpPr>
        <p:spPr>
          <a:xfrm>
            <a:off x="859536" y="1792224"/>
            <a:ext cx="1773936" cy="347472"/>
          </a:xfrm>
          <a:prstGeom prst="rect">
            <a:avLst/>
          </a:prstGeom>
          <a:noFill/>
          <a:ln/>
        </p:spPr>
        <p:txBody>
          <a:bodyPr wrap="square" lIns="0" tIns="0" rIns="0" bIns="0" rtlCol="0" anchor="ctr">
            <a:normAutofit/>
          </a:bodyPr>
          <a:lstStyle/>
          <a:p>
            <a:pPr algn="ctr" indent="0" marL="0">
              <a:buNone/>
            </a:pPr>
            <a:r>
              <a:rPr lang="en-US" sz="810" b="1" spc="80" kern="0" dirty="0">
                <a:solidFill>
                  <a:srgbClr val="16877D"/>
                </a:solidFill>
                <a:latin typeface="Inter" pitchFamily="34" charset="0"/>
                <a:ea typeface="Inter" pitchFamily="34" charset="-122"/>
                <a:cs typeface="Inter" pitchFamily="34" charset="-120"/>
              </a:rPr>
              <a:t>UI / INTERACTION</a:t>
            </a:r>
            <a:endParaRPr lang="en-US" sz="810" dirty="0"/>
          </a:p>
        </p:txBody>
      </p:sp>
      <p:sp>
        <p:nvSpPr>
          <p:cNvPr id="12" name="Text 10"/>
          <p:cNvSpPr txBox="1"/>
          <p:nvPr/>
        </p:nvSpPr>
        <p:spPr>
          <a:xfrm>
            <a:off x="2926080" y="1737360"/>
            <a:ext cx="3236976" cy="438912"/>
          </a:xfrm>
          <a:prstGeom prst="rect">
            <a:avLst/>
          </a:prstGeom>
          <a:noFill/>
          <a:ln/>
        </p:spPr>
        <p:txBody>
          <a:bodyPr wrap="square" lIns="0" tIns="0" rIns="0" bIns="0" rtlCol="0" anchor="ctr">
            <a:normAutofit/>
          </a:bodyPr>
          <a:lstStyle/>
          <a:p>
            <a:pPr algn="l" indent="0" marL="0">
              <a:buNone/>
            </a:pPr>
            <a:r>
              <a:rPr lang="en-US" sz="1150" b="1" dirty="0">
                <a:solidFill>
                  <a:srgbClr val="12263A"/>
                </a:solidFill>
                <a:latin typeface="Inter" pitchFamily="34" charset="0"/>
                <a:ea typeface="Inter" pitchFamily="34" charset="-122"/>
                <a:cs typeface="Inter" pitchFamily="34" charset="-120"/>
              </a:rPr>
              <a:t>ConsoleApp  ·  InputReader  ·  Table</a:t>
            </a:r>
            <a:endParaRPr lang="en-US" sz="1150" dirty="0"/>
          </a:p>
        </p:txBody>
      </p:sp>
      <p:sp>
        <p:nvSpPr>
          <p:cNvPr id="13" name="Text 11"/>
          <p:cNvSpPr txBox="1"/>
          <p:nvPr/>
        </p:nvSpPr>
        <p:spPr>
          <a:xfrm>
            <a:off x="6217920" y="1737360"/>
            <a:ext cx="5029200" cy="438912"/>
          </a:xfrm>
          <a:prstGeom prst="rect">
            <a:avLst/>
          </a:prstGeom>
          <a:noFill/>
          <a:ln/>
        </p:spPr>
        <p:txBody>
          <a:bodyPr wrap="square" lIns="0" tIns="0" rIns="0" bIns="0" rtlCol="0" anchor="ctr">
            <a:normAutofit/>
          </a:bodyPr>
          <a:lstStyle/>
          <a:p>
            <a:pPr algn="l" indent="0" marL="0">
              <a:buNone/>
            </a:pPr>
            <a:r>
              <a:rPr lang="en-US" sz="1000" dirty="0">
                <a:solidFill>
                  <a:srgbClr val="657585"/>
                </a:solidFill>
                <a:latin typeface="Inter" pitchFamily="34" charset="0"/>
                <a:ea typeface="Inter" pitchFamily="34" charset="-122"/>
                <a:cs typeface="Inter" pitchFamily="34" charset="-120"/>
              </a:rPr>
              <a:t>Menu dispatch, typed input, cancellation, readable console output</a:t>
            </a:r>
            <a:endParaRPr lang="en-US" sz="1000" dirty="0"/>
          </a:p>
        </p:txBody>
      </p:sp>
      <p:sp>
        <p:nvSpPr>
          <p:cNvPr id="14" name="Shape 12"/>
          <p:cNvSpPr/>
          <p:nvPr/>
        </p:nvSpPr>
        <p:spPr>
          <a:xfrm>
            <a:off x="640080" y="2350008"/>
            <a:ext cx="10899648" cy="694944"/>
          </a:xfrm>
          <a:prstGeom prst="roundRect">
            <a:avLst>
              <a:gd name="adj" fmla="val 15789"/>
            </a:avLst>
          </a:prstGeom>
          <a:solidFill>
            <a:srgbClr val="FFFFFF"/>
          </a:solidFill>
          <a:ln w="11430">
            <a:solidFill>
              <a:srgbClr val="DCE5EA"/>
            </a:solidFill>
            <a:prstDash val="solid"/>
          </a:ln>
        </p:spPr>
      </p:sp>
      <p:sp>
        <p:nvSpPr>
          <p:cNvPr id="15" name="Shape 13"/>
          <p:cNvSpPr/>
          <p:nvPr/>
        </p:nvSpPr>
        <p:spPr>
          <a:xfrm>
            <a:off x="768096" y="2478024"/>
            <a:ext cx="1947672" cy="438912"/>
          </a:xfrm>
          <a:prstGeom prst="roundRect">
            <a:avLst>
              <a:gd name="adj" fmla="val 25000"/>
            </a:avLst>
          </a:prstGeom>
          <a:solidFill>
            <a:srgbClr val="E1F3F0"/>
          </a:solidFill>
          <a:ln w="11430">
            <a:solidFill>
              <a:srgbClr val="E1F3F0"/>
            </a:solidFill>
            <a:prstDash val="solid"/>
          </a:ln>
        </p:spPr>
      </p:sp>
      <p:sp>
        <p:nvSpPr>
          <p:cNvPr id="16" name="Text 14"/>
          <p:cNvSpPr txBox="1"/>
          <p:nvPr/>
        </p:nvSpPr>
        <p:spPr>
          <a:xfrm>
            <a:off x="859536" y="2514600"/>
            <a:ext cx="1773936" cy="347472"/>
          </a:xfrm>
          <a:prstGeom prst="rect">
            <a:avLst/>
          </a:prstGeom>
          <a:noFill/>
          <a:ln/>
        </p:spPr>
        <p:txBody>
          <a:bodyPr wrap="square" lIns="0" tIns="0" rIns="0" bIns="0" rtlCol="0" anchor="ctr">
            <a:normAutofit/>
          </a:bodyPr>
          <a:lstStyle/>
          <a:p>
            <a:pPr algn="ctr" indent="0" marL="0">
              <a:buNone/>
            </a:pPr>
            <a:r>
              <a:rPr lang="en-US" sz="810" b="1" spc="80" kern="0" dirty="0">
                <a:solidFill>
                  <a:srgbClr val="16877D"/>
                </a:solidFill>
                <a:latin typeface="Inter" pitchFamily="34" charset="0"/>
                <a:ea typeface="Inter" pitchFamily="34" charset="-122"/>
                <a:cs typeface="Inter" pitchFamily="34" charset="-120"/>
              </a:rPr>
              <a:t>APPLICATION SERVICE</a:t>
            </a:r>
            <a:endParaRPr lang="en-US" sz="810" dirty="0"/>
          </a:p>
        </p:txBody>
      </p:sp>
      <p:sp>
        <p:nvSpPr>
          <p:cNvPr id="17" name="Text 15"/>
          <p:cNvSpPr txBox="1"/>
          <p:nvPr/>
        </p:nvSpPr>
        <p:spPr>
          <a:xfrm>
            <a:off x="2926080" y="2459736"/>
            <a:ext cx="3236976" cy="438912"/>
          </a:xfrm>
          <a:prstGeom prst="rect">
            <a:avLst/>
          </a:prstGeom>
          <a:noFill/>
          <a:ln/>
        </p:spPr>
        <p:txBody>
          <a:bodyPr wrap="square" lIns="0" tIns="0" rIns="0" bIns="0" rtlCol="0" anchor="ctr">
            <a:normAutofit/>
          </a:bodyPr>
          <a:lstStyle/>
          <a:p>
            <a:pPr algn="l" indent="0" marL="0">
              <a:buNone/>
            </a:pPr>
            <a:r>
              <a:rPr lang="en-US" sz="1150" b="1" dirty="0">
                <a:solidFill>
                  <a:srgbClr val="12263A"/>
                </a:solidFill>
                <a:latin typeface="Inter" pitchFamily="34" charset="0"/>
                <a:ea typeface="Inter" pitchFamily="34" charset="-122"/>
                <a:cs typeface="Inter" pitchFamily="34" charset="-120"/>
              </a:rPr>
              <a:t>LibraryService</a:t>
            </a:r>
            <a:endParaRPr lang="en-US" sz="1150" dirty="0"/>
          </a:p>
        </p:txBody>
      </p:sp>
      <p:sp>
        <p:nvSpPr>
          <p:cNvPr id="18" name="Text 16"/>
          <p:cNvSpPr txBox="1"/>
          <p:nvPr/>
        </p:nvSpPr>
        <p:spPr>
          <a:xfrm>
            <a:off x="6217920" y="2459736"/>
            <a:ext cx="5029200" cy="438912"/>
          </a:xfrm>
          <a:prstGeom prst="rect">
            <a:avLst/>
          </a:prstGeom>
          <a:noFill/>
          <a:ln/>
        </p:spPr>
        <p:txBody>
          <a:bodyPr wrap="square" lIns="0" tIns="0" rIns="0" bIns="0" rtlCol="0" anchor="ctr">
            <a:normAutofit/>
          </a:bodyPr>
          <a:lstStyle/>
          <a:p>
            <a:pPr algn="l" indent="0" marL="0">
              <a:buNone/>
            </a:pPr>
            <a:r>
              <a:rPr lang="en-US" sz="1000" dirty="0">
                <a:solidFill>
                  <a:srgbClr val="657585"/>
                </a:solidFill>
                <a:latin typeface="Inter" pitchFamily="34" charset="0"/>
                <a:ea typeface="Inter" pitchFamily="34" charset="-122"/>
                <a:cs typeface="Inter" pitchFamily="34" charset="-120"/>
              </a:rPr>
              <a:t>Public operations, rule checks, state transitions, statistics</a:t>
            </a:r>
            <a:endParaRPr lang="en-US" sz="1000" dirty="0"/>
          </a:p>
        </p:txBody>
      </p:sp>
      <p:sp>
        <p:nvSpPr>
          <p:cNvPr id="19" name="Shape 17"/>
          <p:cNvSpPr/>
          <p:nvPr/>
        </p:nvSpPr>
        <p:spPr>
          <a:xfrm>
            <a:off x="640080" y="3072384"/>
            <a:ext cx="10899648" cy="694944"/>
          </a:xfrm>
          <a:prstGeom prst="roundRect">
            <a:avLst>
              <a:gd name="adj" fmla="val 15789"/>
            </a:avLst>
          </a:prstGeom>
          <a:solidFill>
            <a:srgbClr val="FFFFFF"/>
          </a:solidFill>
          <a:ln w="11430">
            <a:solidFill>
              <a:srgbClr val="DCE5EA"/>
            </a:solidFill>
            <a:prstDash val="solid"/>
          </a:ln>
        </p:spPr>
      </p:sp>
      <p:sp>
        <p:nvSpPr>
          <p:cNvPr id="20" name="Shape 18"/>
          <p:cNvSpPr/>
          <p:nvPr/>
        </p:nvSpPr>
        <p:spPr>
          <a:xfrm>
            <a:off x="768096" y="3200400"/>
            <a:ext cx="1947672" cy="438912"/>
          </a:xfrm>
          <a:prstGeom prst="roundRect">
            <a:avLst>
              <a:gd name="adj" fmla="val 25000"/>
            </a:avLst>
          </a:prstGeom>
          <a:solidFill>
            <a:srgbClr val="E9F0F6"/>
          </a:solidFill>
          <a:ln w="11430">
            <a:solidFill>
              <a:srgbClr val="E9F0F6"/>
            </a:solidFill>
            <a:prstDash val="solid"/>
          </a:ln>
        </p:spPr>
      </p:sp>
      <p:sp>
        <p:nvSpPr>
          <p:cNvPr id="21" name="Text 19"/>
          <p:cNvSpPr txBox="1"/>
          <p:nvPr/>
        </p:nvSpPr>
        <p:spPr>
          <a:xfrm>
            <a:off x="859536" y="3236976"/>
            <a:ext cx="1773936" cy="347472"/>
          </a:xfrm>
          <a:prstGeom prst="rect">
            <a:avLst/>
          </a:prstGeom>
          <a:noFill/>
          <a:ln/>
        </p:spPr>
        <p:txBody>
          <a:bodyPr wrap="square" lIns="0" tIns="0" rIns="0" bIns="0" rtlCol="0" anchor="ctr">
            <a:normAutofit/>
          </a:bodyPr>
          <a:lstStyle/>
          <a:p>
            <a:pPr algn="ctr" indent="0" marL="0">
              <a:buNone/>
            </a:pPr>
            <a:r>
              <a:rPr lang="en-US" sz="810" b="1" spc="80" kern="0" dirty="0">
                <a:solidFill>
                  <a:srgbClr val="16877D"/>
                </a:solidFill>
                <a:latin typeface="Inter" pitchFamily="34" charset="0"/>
                <a:ea typeface="Inter" pitchFamily="34" charset="-122"/>
                <a:cs typeface="Inter" pitchFamily="34" charset="-120"/>
              </a:rPr>
              <a:t>DOMAIN ENTITIES</a:t>
            </a:r>
            <a:endParaRPr lang="en-US" sz="810" dirty="0"/>
          </a:p>
        </p:txBody>
      </p:sp>
      <p:sp>
        <p:nvSpPr>
          <p:cNvPr id="22" name="Text 20"/>
          <p:cNvSpPr txBox="1"/>
          <p:nvPr/>
        </p:nvSpPr>
        <p:spPr>
          <a:xfrm>
            <a:off x="2926080" y="3182112"/>
            <a:ext cx="3236976" cy="438912"/>
          </a:xfrm>
          <a:prstGeom prst="rect">
            <a:avLst/>
          </a:prstGeom>
          <a:noFill/>
          <a:ln/>
        </p:spPr>
        <p:txBody>
          <a:bodyPr wrap="square" lIns="0" tIns="0" rIns="0" bIns="0" rtlCol="0" anchor="ctr">
            <a:normAutofit/>
          </a:bodyPr>
          <a:lstStyle/>
          <a:p>
            <a:pPr algn="l" indent="0" marL="0">
              <a:buNone/>
            </a:pPr>
            <a:r>
              <a:rPr lang="en-US" sz="1150" b="1" dirty="0">
                <a:solidFill>
                  <a:srgbClr val="12263A"/>
                </a:solidFill>
                <a:latin typeface="Inter" pitchFamily="34" charset="0"/>
                <a:ea typeface="Inter" pitchFamily="34" charset="-122"/>
                <a:cs typeface="Inter" pitchFamily="34" charset="-120"/>
              </a:rPr>
              <a:t>Book  ·  Member</a:t>
            </a:r>
            <a:endParaRPr lang="en-US" sz="1150" dirty="0"/>
          </a:p>
        </p:txBody>
      </p:sp>
      <p:sp>
        <p:nvSpPr>
          <p:cNvPr id="23" name="Text 21"/>
          <p:cNvSpPr txBox="1"/>
          <p:nvPr/>
        </p:nvSpPr>
        <p:spPr>
          <a:xfrm>
            <a:off x="6217920" y="3182112"/>
            <a:ext cx="5029200" cy="438912"/>
          </a:xfrm>
          <a:prstGeom prst="rect">
            <a:avLst/>
          </a:prstGeom>
          <a:noFill/>
          <a:ln/>
        </p:spPr>
        <p:txBody>
          <a:bodyPr wrap="square" lIns="0" tIns="0" rIns="0" bIns="0" rtlCol="0" anchor="ctr">
            <a:normAutofit/>
          </a:bodyPr>
          <a:lstStyle/>
          <a:p>
            <a:pPr algn="l" indent="0" marL="0">
              <a:buNone/>
            </a:pPr>
            <a:r>
              <a:rPr lang="en-US" sz="1000" dirty="0">
                <a:solidFill>
                  <a:srgbClr val="657585"/>
                </a:solidFill>
                <a:latin typeface="Inter" pitchFamily="34" charset="0"/>
                <a:ea typeface="Inter" pitchFamily="34" charset="-122"/>
                <a:cs typeface="Inter" pitchFamily="34" charset="-120"/>
              </a:rPr>
              <a:t>Validate identifiers and fields; track availability and active loans</a:t>
            </a:r>
            <a:endParaRPr lang="en-US" sz="1000" dirty="0"/>
          </a:p>
        </p:txBody>
      </p:sp>
      <p:sp>
        <p:nvSpPr>
          <p:cNvPr id="24" name="Shape 22"/>
          <p:cNvSpPr/>
          <p:nvPr/>
        </p:nvSpPr>
        <p:spPr>
          <a:xfrm>
            <a:off x="640080" y="3794760"/>
            <a:ext cx="10899648" cy="694944"/>
          </a:xfrm>
          <a:prstGeom prst="roundRect">
            <a:avLst>
              <a:gd name="adj" fmla="val 15789"/>
            </a:avLst>
          </a:prstGeom>
          <a:solidFill>
            <a:srgbClr val="FFFFFF"/>
          </a:solidFill>
          <a:ln w="11430">
            <a:solidFill>
              <a:srgbClr val="DCE5EA"/>
            </a:solidFill>
            <a:prstDash val="solid"/>
          </a:ln>
        </p:spPr>
      </p:sp>
      <p:sp>
        <p:nvSpPr>
          <p:cNvPr id="25" name="Shape 23"/>
          <p:cNvSpPr/>
          <p:nvPr/>
        </p:nvSpPr>
        <p:spPr>
          <a:xfrm>
            <a:off x="768096" y="3922776"/>
            <a:ext cx="1947672" cy="438912"/>
          </a:xfrm>
          <a:prstGeom prst="roundRect">
            <a:avLst>
              <a:gd name="adj" fmla="val 25000"/>
            </a:avLst>
          </a:prstGeom>
          <a:solidFill>
            <a:srgbClr val="F0F3F6"/>
          </a:solidFill>
          <a:ln w="11430">
            <a:solidFill>
              <a:srgbClr val="F0F3F6"/>
            </a:solidFill>
            <a:prstDash val="solid"/>
          </a:ln>
        </p:spPr>
      </p:sp>
      <p:sp>
        <p:nvSpPr>
          <p:cNvPr id="26" name="Text 24"/>
          <p:cNvSpPr txBox="1"/>
          <p:nvPr/>
        </p:nvSpPr>
        <p:spPr>
          <a:xfrm>
            <a:off x="859536" y="3959352"/>
            <a:ext cx="1773936" cy="347472"/>
          </a:xfrm>
          <a:prstGeom prst="rect">
            <a:avLst/>
          </a:prstGeom>
          <a:noFill/>
          <a:ln/>
        </p:spPr>
        <p:txBody>
          <a:bodyPr wrap="square" lIns="0" tIns="0" rIns="0" bIns="0" rtlCol="0" anchor="ctr">
            <a:normAutofit/>
          </a:bodyPr>
          <a:lstStyle/>
          <a:p>
            <a:pPr algn="ctr" indent="0" marL="0">
              <a:buNone/>
            </a:pPr>
            <a:r>
              <a:rPr lang="en-US" sz="810" b="1" spc="80" kern="0" dirty="0">
                <a:solidFill>
                  <a:srgbClr val="16877D"/>
                </a:solidFill>
                <a:latin typeface="Inter" pitchFamily="34" charset="0"/>
                <a:ea typeface="Inter" pitchFamily="34" charset="-122"/>
                <a:cs typeface="Inter" pitchFamily="34" charset="-120"/>
              </a:rPr>
              <a:t>ALGORITHMS</a:t>
            </a:r>
            <a:endParaRPr lang="en-US" sz="810" dirty="0"/>
          </a:p>
        </p:txBody>
      </p:sp>
      <p:sp>
        <p:nvSpPr>
          <p:cNvPr id="27" name="Text 25"/>
          <p:cNvSpPr txBox="1"/>
          <p:nvPr/>
        </p:nvSpPr>
        <p:spPr>
          <a:xfrm>
            <a:off x="2926080" y="3904488"/>
            <a:ext cx="3236976" cy="438912"/>
          </a:xfrm>
          <a:prstGeom prst="rect">
            <a:avLst/>
          </a:prstGeom>
          <a:noFill/>
          <a:ln/>
        </p:spPr>
        <p:txBody>
          <a:bodyPr wrap="square" lIns="0" tIns="0" rIns="0" bIns="0" rtlCol="0" anchor="ctr">
            <a:normAutofit/>
          </a:bodyPr>
          <a:lstStyle/>
          <a:p>
            <a:pPr algn="l" indent="0" marL="0">
              <a:buNone/>
            </a:pPr>
            <a:r>
              <a:rPr lang="en-US" sz="1150" b="1" dirty="0">
                <a:solidFill>
                  <a:srgbClr val="12263A"/>
                </a:solidFill>
                <a:latin typeface="Inter" pitchFamily="34" charset="0"/>
                <a:ea typeface="Inter" pitchFamily="34" charset="-122"/>
                <a:cs typeface="Inter" pitchFamily="34" charset="-120"/>
              </a:rPr>
              <a:t>SearchStrategy  ·  SortStrategy</a:t>
            </a:r>
            <a:endParaRPr lang="en-US" sz="1150" dirty="0"/>
          </a:p>
        </p:txBody>
      </p:sp>
      <p:sp>
        <p:nvSpPr>
          <p:cNvPr id="28" name="Text 26"/>
          <p:cNvSpPr txBox="1"/>
          <p:nvPr/>
        </p:nvSpPr>
        <p:spPr>
          <a:xfrm>
            <a:off x="6217920" y="3904488"/>
            <a:ext cx="5029200" cy="438912"/>
          </a:xfrm>
          <a:prstGeom prst="rect">
            <a:avLst/>
          </a:prstGeom>
          <a:noFill/>
          <a:ln/>
        </p:spPr>
        <p:txBody>
          <a:bodyPr wrap="square" lIns="0" tIns="0" rIns="0" bIns="0" rtlCol="0" anchor="ctr">
            <a:normAutofit/>
          </a:bodyPr>
          <a:lstStyle/>
          <a:p>
            <a:pPr algn="l" indent="0" marL="0">
              <a:buNone/>
            </a:pPr>
            <a:r>
              <a:rPr lang="en-US" sz="1000" dirty="0">
                <a:solidFill>
                  <a:srgbClr val="657585"/>
                </a:solidFill>
                <a:latin typeface="Inter" pitchFamily="34" charset="0"/>
                <a:ea typeface="Inter" pitchFamily="34" charset="-122"/>
                <a:cs typeface="Inter" pitchFamily="34" charset="-120"/>
              </a:rPr>
              <a:t>Choose how matching and ordering are performed without rewriting service code</a:t>
            </a:r>
            <a:endParaRPr lang="en-US" sz="1000" dirty="0"/>
          </a:p>
        </p:txBody>
      </p:sp>
      <p:sp>
        <p:nvSpPr>
          <p:cNvPr id="29" name="Shape 27"/>
          <p:cNvSpPr/>
          <p:nvPr/>
        </p:nvSpPr>
        <p:spPr>
          <a:xfrm>
            <a:off x="640080" y="4517136"/>
            <a:ext cx="10899648" cy="694944"/>
          </a:xfrm>
          <a:prstGeom prst="roundRect">
            <a:avLst>
              <a:gd name="adj" fmla="val 15789"/>
            </a:avLst>
          </a:prstGeom>
          <a:solidFill>
            <a:srgbClr val="FFFFFF"/>
          </a:solidFill>
          <a:ln w="11430">
            <a:solidFill>
              <a:srgbClr val="DCE5EA"/>
            </a:solidFill>
            <a:prstDash val="solid"/>
          </a:ln>
        </p:spPr>
      </p:sp>
      <p:sp>
        <p:nvSpPr>
          <p:cNvPr id="30" name="Shape 28"/>
          <p:cNvSpPr/>
          <p:nvPr/>
        </p:nvSpPr>
        <p:spPr>
          <a:xfrm>
            <a:off x="768096" y="4645152"/>
            <a:ext cx="1947672" cy="438912"/>
          </a:xfrm>
          <a:prstGeom prst="roundRect">
            <a:avLst>
              <a:gd name="adj" fmla="val 25000"/>
            </a:avLst>
          </a:prstGeom>
          <a:solidFill>
            <a:srgbClr val="FFF2DE"/>
          </a:solidFill>
          <a:ln w="11430">
            <a:solidFill>
              <a:srgbClr val="FFF2DE"/>
            </a:solidFill>
            <a:prstDash val="solid"/>
          </a:ln>
        </p:spPr>
      </p:sp>
      <p:sp>
        <p:nvSpPr>
          <p:cNvPr id="31" name="Text 29"/>
          <p:cNvSpPr txBox="1"/>
          <p:nvPr/>
        </p:nvSpPr>
        <p:spPr>
          <a:xfrm>
            <a:off x="859536" y="4681728"/>
            <a:ext cx="1773936" cy="347472"/>
          </a:xfrm>
          <a:prstGeom prst="rect">
            <a:avLst/>
          </a:prstGeom>
          <a:noFill/>
          <a:ln/>
        </p:spPr>
        <p:txBody>
          <a:bodyPr wrap="square" lIns="0" tIns="0" rIns="0" bIns="0" rtlCol="0" anchor="ctr">
            <a:normAutofit/>
          </a:bodyPr>
          <a:lstStyle/>
          <a:p>
            <a:pPr algn="ctr" indent="0" marL="0">
              <a:buNone/>
            </a:pPr>
            <a:r>
              <a:rPr lang="en-US" sz="810" b="1" spc="80" kern="0" dirty="0">
                <a:solidFill>
                  <a:srgbClr val="91601A"/>
                </a:solidFill>
                <a:latin typeface="Inter" pitchFamily="34" charset="0"/>
                <a:ea typeface="Inter" pitchFamily="34" charset="-122"/>
                <a:cs typeface="Inter" pitchFamily="34" charset="-120"/>
              </a:rPr>
              <a:t>CORE COLLECTION</a:t>
            </a:r>
            <a:endParaRPr lang="en-US" sz="810" dirty="0"/>
          </a:p>
        </p:txBody>
      </p:sp>
      <p:sp>
        <p:nvSpPr>
          <p:cNvPr id="32" name="Text 30"/>
          <p:cNvSpPr txBox="1"/>
          <p:nvPr/>
        </p:nvSpPr>
        <p:spPr>
          <a:xfrm>
            <a:off x="2926080" y="4626864"/>
            <a:ext cx="3236976" cy="438912"/>
          </a:xfrm>
          <a:prstGeom prst="rect">
            <a:avLst/>
          </a:prstGeom>
          <a:noFill/>
          <a:ln/>
        </p:spPr>
        <p:txBody>
          <a:bodyPr wrap="square" lIns="0" tIns="0" rIns="0" bIns="0" rtlCol="0" anchor="ctr">
            <a:normAutofit/>
          </a:bodyPr>
          <a:lstStyle/>
          <a:p>
            <a:pPr algn="l" indent="0" marL="0">
              <a:buNone/>
            </a:pPr>
            <a:r>
              <a:rPr lang="en-US" sz="1150" b="1" dirty="0">
                <a:solidFill>
                  <a:srgbClr val="12263A"/>
                </a:solidFill>
                <a:latin typeface="Inter" pitchFamily="34" charset="0"/>
                <a:ea typeface="Inter" pitchFamily="34" charset="-122"/>
                <a:cs typeface="Inter" pitchFamily="34" charset="-120"/>
              </a:rPr>
              <a:t>Container&lt;T&gt;</a:t>
            </a:r>
            <a:endParaRPr lang="en-US" sz="1150" dirty="0"/>
          </a:p>
        </p:txBody>
      </p:sp>
      <p:sp>
        <p:nvSpPr>
          <p:cNvPr id="33" name="Text 31"/>
          <p:cNvSpPr txBox="1"/>
          <p:nvPr/>
        </p:nvSpPr>
        <p:spPr>
          <a:xfrm>
            <a:off x="6217920" y="4626864"/>
            <a:ext cx="5029200" cy="438912"/>
          </a:xfrm>
          <a:prstGeom prst="rect">
            <a:avLst/>
          </a:prstGeom>
          <a:noFill/>
          <a:ln/>
        </p:spPr>
        <p:txBody>
          <a:bodyPr wrap="square" lIns="0" tIns="0" rIns="0" bIns="0" rtlCol="0" anchor="ctr">
            <a:normAutofit/>
          </a:bodyPr>
          <a:lstStyle/>
          <a:p>
            <a:pPr algn="l" indent="0" marL="0">
              <a:buNone/>
            </a:pPr>
            <a:r>
              <a:rPr lang="en-US" sz="1000" dirty="0">
                <a:solidFill>
                  <a:srgbClr val="657585"/>
                </a:solidFill>
                <a:latin typeface="Inter" pitchFamily="34" charset="0"/>
                <a:ea typeface="Inter" pitchFamily="34" charset="-122"/>
                <a:cs typeface="Inter" pitchFamily="34" charset="-120"/>
              </a:rPr>
              <a:t>Owns linked nodes, safe unlinking, bidirectional iterator traversal</a:t>
            </a:r>
            <a:endParaRPr lang="en-US" sz="1000" dirty="0"/>
          </a:p>
        </p:txBody>
      </p:sp>
      <p:sp>
        <p:nvSpPr>
          <p:cNvPr id="34" name="Shape 32"/>
          <p:cNvSpPr/>
          <p:nvPr/>
        </p:nvSpPr>
        <p:spPr>
          <a:xfrm>
            <a:off x="640080" y="5239512"/>
            <a:ext cx="10899648" cy="694944"/>
          </a:xfrm>
          <a:prstGeom prst="roundRect">
            <a:avLst>
              <a:gd name="adj" fmla="val 15789"/>
            </a:avLst>
          </a:prstGeom>
          <a:solidFill>
            <a:srgbClr val="FFFFFF"/>
          </a:solidFill>
          <a:ln w="11430">
            <a:solidFill>
              <a:srgbClr val="DCE5EA"/>
            </a:solidFill>
            <a:prstDash val="solid"/>
          </a:ln>
        </p:spPr>
      </p:sp>
      <p:sp>
        <p:nvSpPr>
          <p:cNvPr id="35" name="Shape 33"/>
          <p:cNvSpPr/>
          <p:nvPr/>
        </p:nvSpPr>
        <p:spPr>
          <a:xfrm>
            <a:off x="768096" y="5367528"/>
            <a:ext cx="1947672" cy="438912"/>
          </a:xfrm>
          <a:prstGeom prst="roundRect">
            <a:avLst>
              <a:gd name="adj" fmla="val 25000"/>
            </a:avLst>
          </a:prstGeom>
          <a:solidFill>
            <a:srgbClr val="E1F3F0"/>
          </a:solidFill>
          <a:ln w="11430">
            <a:solidFill>
              <a:srgbClr val="E1F3F0"/>
            </a:solidFill>
            <a:prstDash val="solid"/>
          </a:ln>
        </p:spPr>
      </p:sp>
      <p:sp>
        <p:nvSpPr>
          <p:cNvPr id="36" name="Text 34"/>
          <p:cNvSpPr txBox="1"/>
          <p:nvPr/>
        </p:nvSpPr>
        <p:spPr>
          <a:xfrm>
            <a:off x="859536" y="5404104"/>
            <a:ext cx="1773936" cy="347472"/>
          </a:xfrm>
          <a:prstGeom prst="rect">
            <a:avLst/>
          </a:prstGeom>
          <a:noFill/>
          <a:ln/>
        </p:spPr>
        <p:txBody>
          <a:bodyPr wrap="square" lIns="0" tIns="0" rIns="0" bIns="0" rtlCol="0" anchor="ctr">
            <a:normAutofit/>
          </a:bodyPr>
          <a:lstStyle/>
          <a:p>
            <a:pPr algn="ctr" indent="0" marL="0">
              <a:buNone/>
            </a:pPr>
            <a:r>
              <a:rPr lang="en-US" sz="810" b="1" spc="80" kern="0" dirty="0">
                <a:solidFill>
                  <a:srgbClr val="16877D"/>
                </a:solidFill>
                <a:latin typeface="Inter" pitchFamily="34" charset="0"/>
                <a:ea typeface="Inter" pitchFamily="34" charset="-122"/>
                <a:cs typeface="Inter" pitchFamily="34" charset="-120"/>
              </a:rPr>
              <a:t>PERSISTENCE</a:t>
            </a:r>
            <a:endParaRPr lang="en-US" sz="810" dirty="0"/>
          </a:p>
        </p:txBody>
      </p:sp>
      <p:sp>
        <p:nvSpPr>
          <p:cNvPr id="37" name="Text 35"/>
          <p:cNvSpPr txBox="1"/>
          <p:nvPr/>
        </p:nvSpPr>
        <p:spPr>
          <a:xfrm>
            <a:off x="2926080" y="5349240"/>
            <a:ext cx="3236976" cy="438912"/>
          </a:xfrm>
          <a:prstGeom prst="rect">
            <a:avLst/>
          </a:prstGeom>
          <a:noFill/>
          <a:ln/>
        </p:spPr>
        <p:txBody>
          <a:bodyPr wrap="square" lIns="0" tIns="0" rIns="0" bIns="0" rtlCol="0" anchor="ctr">
            <a:normAutofit/>
          </a:bodyPr>
          <a:lstStyle/>
          <a:p>
            <a:pPr algn="l" indent="0" marL="0">
              <a:buNone/>
            </a:pPr>
            <a:r>
              <a:rPr lang="en-US" sz="1150" b="1" dirty="0">
                <a:solidFill>
                  <a:srgbClr val="12263A"/>
                </a:solidFill>
                <a:latin typeface="Inter" pitchFamily="34" charset="0"/>
                <a:ea typeface="Inter" pitchFamily="34" charset="-122"/>
                <a:cs typeface="Inter" pitchFamily="34" charset="-120"/>
              </a:rPr>
              <a:t>ILibraryRepository  ·  SqliteRepository  ·  NullRepository</a:t>
            </a:r>
            <a:endParaRPr lang="en-US" sz="1150" dirty="0"/>
          </a:p>
        </p:txBody>
      </p:sp>
      <p:sp>
        <p:nvSpPr>
          <p:cNvPr id="38" name="Text 36"/>
          <p:cNvSpPr txBox="1"/>
          <p:nvPr/>
        </p:nvSpPr>
        <p:spPr>
          <a:xfrm>
            <a:off x="6217920" y="5349240"/>
            <a:ext cx="5029200" cy="438912"/>
          </a:xfrm>
          <a:prstGeom prst="rect">
            <a:avLst/>
          </a:prstGeom>
          <a:noFill/>
          <a:ln/>
        </p:spPr>
        <p:txBody>
          <a:bodyPr wrap="square" lIns="0" tIns="0" rIns="0" bIns="0" rtlCol="0" anchor="ctr">
            <a:normAutofit/>
          </a:bodyPr>
          <a:lstStyle/>
          <a:p>
            <a:pPr algn="l" indent="0" marL="0">
              <a:buNone/>
            </a:pPr>
            <a:r>
              <a:rPr lang="en-US" sz="1000" dirty="0">
                <a:solidFill>
                  <a:srgbClr val="657585"/>
                </a:solidFill>
                <a:latin typeface="Inter" pitchFamily="34" charset="0"/>
                <a:ea typeface="Inter" pitchFamily="34" charset="-122"/>
                <a:cs typeface="Inter" pitchFamily="34" charset="-120"/>
              </a:rPr>
              <a:t>Separates domain workflows from SQL and persistent-storage details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66928" y="347472"/>
            <a:ext cx="50292" cy="210312"/>
          </a:xfrm>
          <a:prstGeom prst="rect">
            <a:avLst/>
          </a:prstGeom>
          <a:solidFill>
            <a:srgbClr val="16877D"/>
          </a:solidFill>
          <a:ln w="12700">
            <a:solidFill>
              <a:srgbClr val="16877D">
                <a:alpha val="0"/>
              </a:srgbClr>
            </a:solidFill>
            <a:prstDash val="solid"/>
          </a:ln>
        </p:spPr>
      </p:sp>
      <p:sp>
        <p:nvSpPr>
          <p:cNvPr id="3" name="Text 1"/>
          <p:cNvSpPr txBox="1"/>
          <p:nvPr/>
        </p:nvSpPr>
        <p:spPr>
          <a:xfrm>
            <a:off x="713232" y="333756"/>
            <a:ext cx="3200400" cy="219456"/>
          </a:xfrm>
          <a:prstGeom prst="rect">
            <a:avLst/>
          </a:prstGeom>
          <a:noFill/>
          <a:ln/>
        </p:spPr>
        <p:txBody>
          <a:bodyPr wrap="square" lIns="0" tIns="0" rIns="0" bIns="0" rtlCol="0" anchor="ctr">
            <a:normAutofit/>
          </a:bodyPr>
          <a:lstStyle/>
          <a:p>
            <a:pPr algn="l" indent="0" marL="0">
              <a:buNone/>
            </a:pPr>
            <a:r>
              <a:rPr lang="en-US" sz="810" b="1" spc="180" kern="0" dirty="0">
                <a:solidFill>
                  <a:srgbClr val="16877D"/>
                </a:solidFill>
                <a:latin typeface="Inter" pitchFamily="34" charset="0"/>
                <a:ea typeface="Inter" pitchFamily="34" charset="-122"/>
                <a:cs typeface="Inter" pitchFamily="34" charset="-120"/>
              </a:rPr>
              <a:t>DOMAIN MODEL</a:t>
            </a:r>
            <a:endParaRPr lang="en-US" sz="810" dirty="0"/>
          </a:p>
        </p:txBody>
      </p:sp>
      <p:sp>
        <p:nvSpPr>
          <p:cNvPr id="4" name="Text 2"/>
          <p:cNvSpPr txBox="1"/>
          <p:nvPr/>
        </p:nvSpPr>
        <p:spPr>
          <a:xfrm>
            <a:off x="566928" y="658368"/>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2263A"/>
                </a:solidFill>
                <a:latin typeface="Inter" pitchFamily="34" charset="0"/>
                <a:ea typeface="Inter" pitchFamily="34" charset="-122"/>
                <a:cs typeface="Inter" pitchFamily="34" charset="-120"/>
              </a:rPr>
              <a:t>Borrowing is a relationship with rules, not just a flag</a:t>
            </a:r>
            <a:endParaRPr lang="en-US" sz="2700" dirty="0"/>
          </a:p>
        </p:txBody>
      </p:sp>
      <p:sp>
        <p:nvSpPr>
          <p:cNvPr id="5" name="Text 3"/>
          <p:cNvSpPr txBox="1"/>
          <p:nvPr/>
        </p:nvSpPr>
        <p:spPr>
          <a:xfrm>
            <a:off x="585216" y="1115568"/>
            <a:ext cx="10972800" cy="274320"/>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The model prevents invalid state transitions at the service boundary.</a:t>
            </a:r>
            <a:endParaRPr lang="en-US" sz="1070" dirty="0"/>
          </a:p>
        </p:txBody>
      </p:sp>
      <p:sp>
        <p:nvSpPr>
          <p:cNvPr id="6" name="Shape 4"/>
          <p:cNvSpPr/>
          <p:nvPr/>
        </p:nvSpPr>
        <p:spPr>
          <a:xfrm>
            <a:off x="566928" y="6510528"/>
            <a:ext cx="11119104" cy="0"/>
          </a:xfrm>
          <a:prstGeom prst="line">
            <a:avLst/>
          </a:prstGeom>
          <a:noFill/>
          <a:ln w="10160">
            <a:solidFill>
              <a:srgbClr val="E0E7EB"/>
            </a:solidFill>
            <a:prstDash val="solid"/>
          </a:ln>
        </p:spPr>
      </p:sp>
      <p:sp>
        <p:nvSpPr>
          <p:cNvPr id="7" name="Text 5"/>
          <p:cNvSpPr txBox="1"/>
          <p:nvPr/>
        </p:nvSpPr>
        <p:spPr>
          <a:xfrm>
            <a:off x="566928" y="6565392"/>
            <a:ext cx="5303520" cy="146304"/>
          </a:xfrm>
          <a:prstGeom prst="rect">
            <a:avLst/>
          </a:prstGeom>
          <a:noFill/>
          <a:ln/>
        </p:spPr>
        <p:txBody>
          <a:bodyPr wrap="square" lIns="0" tIns="0" rIns="0" bIns="0" rtlCol="0" anchor="ctr">
            <a:normAutofit/>
          </a:bodyPr>
          <a:lstStyle/>
          <a:p>
            <a:pPr algn="l" indent="0" marL="0">
              <a:buNone/>
            </a:pPr>
            <a:r>
              <a:rPr lang="en-US" sz="750" spc="110" kern="0" dirty="0">
                <a:solidFill>
                  <a:srgbClr val="6B7A88"/>
                </a:solidFill>
                <a:latin typeface="Inter" pitchFamily="34" charset="0"/>
                <a:ea typeface="Inter" pitchFamily="34" charset="-122"/>
                <a:cs typeface="Inter" pitchFamily="34" charset="-120"/>
              </a:rPr>
              <a:t>TITANS  /  LIBRARY MANAGEMENT SYSTEM</a:t>
            </a:r>
            <a:endParaRPr lang="en-US" sz="750" dirty="0"/>
          </a:p>
        </p:txBody>
      </p:sp>
      <p:sp>
        <p:nvSpPr>
          <p:cNvPr id="8" name="Text 6"/>
          <p:cNvSpPr txBox="1"/>
          <p:nvPr/>
        </p:nvSpPr>
        <p:spPr>
          <a:xfrm>
            <a:off x="11109960" y="6556248"/>
            <a:ext cx="502920" cy="164592"/>
          </a:xfrm>
          <a:prstGeom prst="rect">
            <a:avLst/>
          </a:prstGeom>
          <a:noFill/>
          <a:ln/>
        </p:spPr>
        <p:txBody>
          <a:bodyPr wrap="square" lIns="0" tIns="0" rIns="0" bIns="0" rtlCol="0" anchor="ctr">
            <a:normAutofit/>
          </a:bodyPr>
          <a:lstStyle/>
          <a:p>
            <a:pPr algn="r" indent="0" marL="0">
              <a:buNone/>
            </a:pPr>
            <a:r>
              <a:rPr lang="en-US" sz="800" dirty="0">
                <a:solidFill>
                  <a:srgbClr val="6B7A88"/>
                </a:solidFill>
                <a:latin typeface="Inter" pitchFamily="34" charset="0"/>
                <a:ea typeface="Inter" pitchFamily="34" charset="-122"/>
                <a:cs typeface="Inter" pitchFamily="34" charset="-120"/>
              </a:rPr>
              <a:t>06</a:t>
            </a:r>
            <a:endParaRPr lang="en-US" sz="800" dirty="0"/>
          </a:p>
        </p:txBody>
      </p:sp>
      <p:sp>
        <p:nvSpPr>
          <p:cNvPr id="9" name="Shape 7"/>
          <p:cNvSpPr/>
          <p:nvPr/>
        </p:nvSpPr>
        <p:spPr>
          <a:xfrm>
            <a:off x="658368" y="1719072"/>
            <a:ext cx="3154680" cy="2103120"/>
          </a:xfrm>
          <a:prstGeom prst="roundRect">
            <a:avLst>
              <a:gd name="adj" fmla="val 5217"/>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0" name="Shape 8"/>
          <p:cNvSpPr/>
          <p:nvPr/>
        </p:nvSpPr>
        <p:spPr>
          <a:xfrm>
            <a:off x="868680" y="1901952"/>
            <a:ext cx="777240" cy="274320"/>
          </a:xfrm>
          <a:prstGeom prst="roundRect">
            <a:avLst>
              <a:gd name="adj" fmla="val 33333"/>
            </a:avLst>
          </a:prstGeom>
          <a:solidFill>
            <a:srgbClr val="E9F0F6"/>
          </a:solidFill>
          <a:ln w="12700">
            <a:solidFill>
              <a:srgbClr val="E9F0F6">
                <a:alpha val="0"/>
              </a:srgbClr>
            </a:solidFill>
            <a:prstDash val="solid"/>
          </a:ln>
        </p:spPr>
      </p:sp>
      <p:sp>
        <p:nvSpPr>
          <p:cNvPr id="11" name="Text 9"/>
          <p:cNvSpPr txBox="1"/>
          <p:nvPr/>
        </p:nvSpPr>
        <p:spPr>
          <a:xfrm>
            <a:off x="923544" y="1915668"/>
            <a:ext cx="667512" cy="242316"/>
          </a:xfrm>
          <a:prstGeom prst="rect">
            <a:avLst/>
          </a:prstGeom>
          <a:noFill/>
          <a:ln/>
        </p:spPr>
        <p:txBody>
          <a:bodyPr wrap="square" lIns="0" tIns="0" rIns="0" bIns="0" rtlCol="0" anchor="ctr">
            <a:normAutofit/>
          </a:bodyPr>
          <a:lstStyle/>
          <a:p>
            <a:pPr algn="ctr" indent="0" marL="0">
              <a:buNone/>
            </a:pPr>
            <a:r>
              <a:rPr lang="en-US" sz="780" b="1" spc="30" kern="0" dirty="0">
                <a:solidFill>
                  <a:srgbClr val="16877D"/>
                </a:solidFill>
                <a:latin typeface="Inter" pitchFamily="34" charset="0"/>
                <a:ea typeface="Inter" pitchFamily="34" charset="-122"/>
                <a:cs typeface="Inter" pitchFamily="34" charset="-120"/>
              </a:rPr>
              <a:t>ENTITY</a:t>
            </a:r>
            <a:endParaRPr lang="en-US" sz="780" dirty="0"/>
          </a:p>
        </p:txBody>
      </p:sp>
      <p:sp>
        <p:nvSpPr>
          <p:cNvPr id="12" name="Text 10"/>
          <p:cNvSpPr txBox="1"/>
          <p:nvPr/>
        </p:nvSpPr>
        <p:spPr>
          <a:xfrm>
            <a:off x="868680" y="2258568"/>
            <a:ext cx="2286000" cy="347472"/>
          </a:xfrm>
          <a:prstGeom prst="rect">
            <a:avLst/>
          </a:prstGeom>
          <a:noFill/>
          <a:ln/>
        </p:spPr>
        <p:txBody>
          <a:bodyPr wrap="square" lIns="0" tIns="0" rIns="0" bIns="0" rtlCol="0" anchor="ctr">
            <a:normAutofit/>
          </a:bodyPr>
          <a:lstStyle/>
          <a:p>
            <a:pPr algn="l" indent="0" marL="0">
              <a:buNone/>
            </a:pPr>
            <a:r>
              <a:rPr lang="en-US" sz="2100" b="1" dirty="0">
                <a:solidFill>
                  <a:srgbClr val="12263A"/>
                </a:solidFill>
                <a:latin typeface="Inter" pitchFamily="34" charset="0"/>
                <a:ea typeface="Inter" pitchFamily="34" charset="-122"/>
                <a:cs typeface="Inter" pitchFamily="34" charset="-120"/>
              </a:rPr>
              <a:t>Book</a:t>
            </a:r>
            <a:endParaRPr lang="en-US" sz="2100" dirty="0"/>
          </a:p>
        </p:txBody>
      </p:sp>
      <p:sp>
        <p:nvSpPr>
          <p:cNvPr id="13" name="Text 11"/>
          <p:cNvSpPr txBox="1"/>
          <p:nvPr/>
        </p:nvSpPr>
        <p:spPr>
          <a:xfrm>
            <a:off x="877824" y="2734056"/>
            <a:ext cx="2697480" cy="256032"/>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ISBN · title · author · genre</a:t>
            </a:r>
            <a:endParaRPr lang="en-US" sz="1070" dirty="0"/>
          </a:p>
        </p:txBody>
      </p:sp>
      <p:sp>
        <p:nvSpPr>
          <p:cNvPr id="14" name="Text 12"/>
          <p:cNvSpPr txBox="1"/>
          <p:nvPr/>
        </p:nvSpPr>
        <p:spPr>
          <a:xfrm>
            <a:off x="877824" y="3108960"/>
            <a:ext cx="2688336" cy="420624"/>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Availability is synchronized with active loans.</a:t>
            </a:r>
            <a:endParaRPr lang="en-US" sz="1020" dirty="0"/>
          </a:p>
        </p:txBody>
      </p:sp>
      <p:sp>
        <p:nvSpPr>
          <p:cNvPr id="15" name="Shape 13"/>
          <p:cNvSpPr/>
          <p:nvPr/>
        </p:nvSpPr>
        <p:spPr>
          <a:xfrm>
            <a:off x="4178808" y="1719072"/>
            <a:ext cx="3154680" cy="2103120"/>
          </a:xfrm>
          <a:prstGeom prst="roundRect">
            <a:avLst>
              <a:gd name="adj" fmla="val 5217"/>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6" name="Shape 14"/>
          <p:cNvSpPr/>
          <p:nvPr/>
        </p:nvSpPr>
        <p:spPr>
          <a:xfrm>
            <a:off x="4389120" y="1901952"/>
            <a:ext cx="777240" cy="274320"/>
          </a:xfrm>
          <a:prstGeom prst="roundRect">
            <a:avLst>
              <a:gd name="adj" fmla="val 33333"/>
            </a:avLst>
          </a:prstGeom>
          <a:solidFill>
            <a:srgbClr val="E9F0F6"/>
          </a:solidFill>
          <a:ln w="12700">
            <a:solidFill>
              <a:srgbClr val="E9F0F6">
                <a:alpha val="0"/>
              </a:srgbClr>
            </a:solidFill>
            <a:prstDash val="solid"/>
          </a:ln>
        </p:spPr>
      </p:sp>
      <p:sp>
        <p:nvSpPr>
          <p:cNvPr id="17" name="Text 15"/>
          <p:cNvSpPr txBox="1"/>
          <p:nvPr/>
        </p:nvSpPr>
        <p:spPr>
          <a:xfrm>
            <a:off x="4443984" y="1915668"/>
            <a:ext cx="667512" cy="242316"/>
          </a:xfrm>
          <a:prstGeom prst="rect">
            <a:avLst/>
          </a:prstGeom>
          <a:noFill/>
          <a:ln/>
        </p:spPr>
        <p:txBody>
          <a:bodyPr wrap="square" lIns="0" tIns="0" rIns="0" bIns="0" rtlCol="0" anchor="ctr">
            <a:normAutofit/>
          </a:bodyPr>
          <a:lstStyle/>
          <a:p>
            <a:pPr algn="ctr" indent="0" marL="0">
              <a:buNone/>
            </a:pPr>
            <a:r>
              <a:rPr lang="en-US" sz="780" b="1" spc="30" kern="0" dirty="0">
                <a:solidFill>
                  <a:srgbClr val="16877D"/>
                </a:solidFill>
                <a:latin typeface="Inter" pitchFamily="34" charset="0"/>
                <a:ea typeface="Inter" pitchFamily="34" charset="-122"/>
                <a:cs typeface="Inter" pitchFamily="34" charset="-120"/>
              </a:rPr>
              <a:t>ENTITY</a:t>
            </a:r>
            <a:endParaRPr lang="en-US" sz="780" dirty="0"/>
          </a:p>
        </p:txBody>
      </p:sp>
      <p:sp>
        <p:nvSpPr>
          <p:cNvPr id="18" name="Text 16"/>
          <p:cNvSpPr txBox="1"/>
          <p:nvPr/>
        </p:nvSpPr>
        <p:spPr>
          <a:xfrm>
            <a:off x="4389120" y="2258568"/>
            <a:ext cx="2286000" cy="347472"/>
          </a:xfrm>
          <a:prstGeom prst="rect">
            <a:avLst/>
          </a:prstGeom>
          <a:noFill/>
          <a:ln/>
        </p:spPr>
        <p:txBody>
          <a:bodyPr wrap="square" lIns="0" tIns="0" rIns="0" bIns="0" rtlCol="0" anchor="ctr">
            <a:normAutofit/>
          </a:bodyPr>
          <a:lstStyle/>
          <a:p>
            <a:pPr algn="l" indent="0" marL="0">
              <a:buNone/>
            </a:pPr>
            <a:r>
              <a:rPr lang="en-US" sz="2100" b="1" dirty="0">
                <a:solidFill>
                  <a:srgbClr val="12263A"/>
                </a:solidFill>
                <a:latin typeface="Inter" pitchFamily="34" charset="0"/>
                <a:ea typeface="Inter" pitchFamily="34" charset="-122"/>
                <a:cs typeface="Inter" pitchFamily="34" charset="-120"/>
              </a:rPr>
              <a:t>Member</a:t>
            </a:r>
            <a:endParaRPr lang="en-US" sz="2100" dirty="0"/>
          </a:p>
        </p:txBody>
      </p:sp>
      <p:sp>
        <p:nvSpPr>
          <p:cNvPr id="19" name="Text 17"/>
          <p:cNvSpPr txBox="1"/>
          <p:nvPr/>
        </p:nvSpPr>
        <p:spPr>
          <a:xfrm>
            <a:off x="4398264" y="2734056"/>
            <a:ext cx="2697480" cy="256032"/>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Positive ID · non-empty name</a:t>
            </a:r>
            <a:endParaRPr lang="en-US" sz="1070" dirty="0"/>
          </a:p>
        </p:txBody>
      </p:sp>
      <p:sp>
        <p:nvSpPr>
          <p:cNvPr id="20" name="Text 18"/>
          <p:cNvSpPr txBox="1"/>
          <p:nvPr/>
        </p:nvSpPr>
        <p:spPr>
          <a:xfrm>
            <a:off x="4398264" y="3108960"/>
            <a:ext cx="2688336" cy="420624"/>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Tracks borrowed ISBNs; duplicates are rejected.</a:t>
            </a:r>
            <a:endParaRPr lang="en-US" sz="1020" dirty="0"/>
          </a:p>
        </p:txBody>
      </p:sp>
      <p:sp>
        <p:nvSpPr>
          <p:cNvPr id="21" name="Shape 19"/>
          <p:cNvSpPr/>
          <p:nvPr/>
        </p:nvSpPr>
        <p:spPr>
          <a:xfrm>
            <a:off x="7699248" y="1719072"/>
            <a:ext cx="3794760" cy="2103120"/>
          </a:xfrm>
          <a:prstGeom prst="roundRect">
            <a:avLst>
              <a:gd name="adj" fmla="val 5217"/>
            </a:avLst>
          </a:prstGeom>
          <a:solidFill>
            <a:srgbClr val="12263A"/>
          </a:solidFill>
          <a:ln w="11430">
            <a:solidFill>
              <a:srgbClr val="12263A"/>
            </a:solidFill>
            <a:prstDash val="solid"/>
          </a:ln>
          <a:effectLst>
            <a:outerShdw sx="100000" sy="100000" kx="0" ky="0" algn="bl" rotWithShape="0" blurRad="19050" dist="50800" dir="2700000">
              <a:srgbClr val="203345">
                <a:alpha val="8000"/>
              </a:srgbClr>
            </a:outerShdw>
          </a:effectLst>
        </p:spPr>
      </p:sp>
      <p:sp>
        <p:nvSpPr>
          <p:cNvPr id="22" name="Shape 20"/>
          <p:cNvSpPr/>
          <p:nvPr/>
        </p:nvSpPr>
        <p:spPr>
          <a:xfrm>
            <a:off x="7927848" y="1901952"/>
            <a:ext cx="1664208" cy="274320"/>
          </a:xfrm>
          <a:prstGeom prst="roundRect">
            <a:avLst>
              <a:gd name="adj" fmla="val 33333"/>
            </a:avLst>
          </a:prstGeom>
          <a:solidFill>
            <a:srgbClr val="29445B"/>
          </a:solidFill>
          <a:ln w="12700">
            <a:solidFill>
              <a:srgbClr val="29445B">
                <a:alpha val="0"/>
              </a:srgbClr>
            </a:solidFill>
            <a:prstDash val="solid"/>
          </a:ln>
        </p:spPr>
      </p:sp>
      <p:sp>
        <p:nvSpPr>
          <p:cNvPr id="23" name="Text 21"/>
          <p:cNvSpPr txBox="1"/>
          <p:nvPr/>
        </p:nvSpPr>
        <p:spPr>
          <a:xfrm>
            <a:off x="7982712" y="1915668"/>
            <a:ext cx="1554480" cy="242316"/>
          </a:xfrm>
          <a:prstGeom prst="rect">
            <a:avLst/>
          </a:prstGeom>
          <a:noFill/>
          <a:ln/>
        </p:spPr>
        <p:txBody>
          <a:bodyPr wrap="square" lIns="0" tIns="0" rIns="0" bIns="0" rtlCol="0" anchor="ctr">
            <a:normAutofit/>
          </a:bodyPr>
          <a:lstStyle/>
          <a:p>
            <a:pPr algn="ctr" indent="0" marL="0">
              <a:buNone/>
            </a:pPr>
            <a:r>
              <a:rPr lang="en-US" sz="770" b="1" spc="30" kern="0" dirty="0">
                <a:solidFill>
                  <a:srgbClr val="A5E4DB"/>
                </a:solidFill>
                <a:latin typeface="Inter" pitchFamily="34" charset="0"/>
                <a:ea typeface="Inter" pitchFamily="34" charset="-122"/>
                <a:cs typeface="Inter" pitchFamily="34" charset="-120"/>
              </a:rPr>
              <a:t>PERSISTED RECORD</a:t>
            </a:r>
            <a:endParaRPr lang="en-US" sz="770" dirty="0"/>
          </a:p>
        </p:txBody>
      </p:sp>
      <p:sp>
        <p:nvSpPr>
          <p:cNvPr id="24" name="Text 22"/>
          <p:cNvSpPr txBox="1"/>
          <p:nvPr/>
        </p:nvSpPr>
        <p:spPr>
          <a:xfrm>
            <a:off x="7927848" y="2258568"/>
            <a:ext cx="2971800" cy="347472"/>
          </a:xfrm>
          <a:prstGeom prst="rect">
            <a:avLst/>
          </a:prstGeom>
          <a:noFill/>
          <a:ln/>
        </p:spPr>
        <p:txBody>
          <a:bodyPr wrap="square" lIns="0" tIns="0" rIns="0" bIns="0" rtlCol="0" anchor="ctr">
            <a:normAutofit/>
          </a:bodyPr>
          <a:lstStyle/>
          <a:p>
            <a:pPr algn="l" indent="0" marL="0">
              <a:buNone/>
            </a:pPr>
            <a:r>
              <a:rPr lang="en-US" sz="2100" b="1" dirty="0">
                <a:solidFill>
                  <a:srgbClr val="FFFFFF"/>
                </a:solidFill>
                <a:latin typeface="Inter" pitchFamily="34" charset="0"/>
                <a:ea typeface="Inter" pitchFamily="34" charset="-122"/>
                <a:cs typeface="Inter" pitchFamily="34" charset="-120"/>
              </a:rPr>
              <a:t>Loan record</a:t>
            </a:r>
            <a:endParaRPr lang="en-US" sz="2100" dirty="0"/>
          </a:p>
        </p:txBody>
      </p:sp>
      <p:sp>
        <p:nvSpPr>
          <p:cNvPr id="25" name="Text 23"/>
          <p:cNvSpPr txBox="1"/>
          <p:nvPr/>
        </p:nvSpPr>
        <p:spPr>
          <a:xfrm>
            <a:off x="7936992" y="2743200"/>
            <a:ext cx="3108960" cy="228600"/>
          </a:xfrm>
          <a:prstGeom prst="rect">
            <a:avLst/>
          </a:prstGeom>
          <a:noFill/>
          <a:ln/>
        </p:spPr>
        <p:txBody>
          <a:bodyPr wrap="square" lIns="0" tIns="0" rIns="0" bIns="0" rtlCol="0" anchor="ctr">
            <a:normAutofit/>
          </a:bodyPr>
          <a:lstStyle/>
          <a:p>
            <a:pPr algn="l" indent="0" marL="0">
              <a:buNone/>
            </a:pPr>
            <a:r>
              <a:rPr lang="en-US" sz="1000" dirty="0">
                <a:solidFill>
                  <a:srgbClr val="C5D6E0"/>
                </a:solidFill>
                <a:latin typeface="DejaVu Sans Mono" pitchFamily="34" charset="0"/>
                <a:ea typeface="DejaVu Sans Mono" pitchFamily="34" charset="-122"/>
                <a:cs typeface="DejaVu Sans Mono" pitchFamily="34" charset="-120"/>
              </a:rPr>
              <a:t>book_isbn  →  books.isbn</a:t>
            </a:r>
            <a:endParaRPr lang="en-US" sz="1000" dirty="0"/>
          </a:p>
        </p:txBody>
      </p:sp>
      <p:sp>
        <p:nvSpPr>
          <p:cNvPr id="26" name="Text 24"/>
          <p:cNvSpPr txBox="1"/>
          <p:nvPr/>
        </p:nvSpPr>
        <p:spPr>
          <a:xfrm>
            <a:off x="7936992" y="3063240"/>
            <a:ext cx="3108960" cy="228600"/>
          </a:xfrm>
          <a:prstGeom prst="rect">
            <a:avLst/>
          </a:prstGeom>
          <a:noFill/>
          <a:ln/>
        </p:spPr>
        <p:txBody>
          <a:bodyPr wrap="square" lIns="0" tIns="0" rIns="0" bIns="0" rtlCol="0" anchor="ctr">
            <a:normAutofit/>
          </a:bodyPr>
          <a:lstStyle/>
          <a:p>
            <a:pPr algn="l" indent="0" marL="0">
              <a:buNone/>
            </a:pPr>
            <a:r>
              <a:rPr lang="en-US" sz="1000" dirty="0">
                <a:solidFill>
                  <a:srgbClr val="C5D6E0"/>
                </a:solidFill>
                <a:latin typeface="DejaVu Sans Mono" pitchFamily="34" charset="0"/>
                <a:ea typeface="DejaVu Sans Mono" pitchFamily="34" charset="-122"/>
                <a:cs typeface="DejaVu Sans Mono" pitchFamily="34" charset="-120"/>
              </a:rPr>
              <a:t>member_id  →  members.id</a:t>
            </a:r>
            <a:endParaRPr lang="en-US" sz="1000" dirty="0"/>
          </a:p>
        </p:txBody>
      </p:sp>
      <p:sp>
        <p:nvSpPr>
          <p:cNvPr id="27" name="Text 25"/>
          <p:cNvSpPr txBox="1"/>
          <p:nvPr/>
        </p:nvSpPr>
        <p:spPr>
          <a:xfrm>
            <a:off x="713232" y="4206240"/>
            <a:ext cx="1325880" cy="201168"/>
          </a:xfrm>
          <a:prstGeom prst="rect">
            <a:avLst/>
          </a:prstGeom>
          <a:noFill/>
          <a:ln/>
        </p:spPr>
        <p:txBody>
          <a:bodyPr wrap="square" lIns="0" tIns="0" rIns="0" bIns="0" rtlCol="0" anchor="ctr">
            <a:normAutofit/>
          </a:bodyPr>
          <a:lstStyle/>
          <a:p>
            <a:pPr algn="l" indent="0" marL="0">
              <a:buNone/>
            </a:pPr>
            <a:r>
              <a:rPr lang="en-US" sz="850" b="1" spc="130" kern="0" dirty="0">
                <a:solidFill>
                  <a:srgbClr val="16877D"/>
                </a:solidFill>
                <a:latin typeface="Inter" pitchFamily="34" charset="0"/>
                <a:ea typeface="Inter" pitchFamily="34" charset="-122"/>
                <a:cs typeface="Inter" pitchFamily="34" charset="-120"/>
              </a:rPr>
              <a:t>INVARIANTS</a:t>
            </a:r>
            <a:endParaRPr lang="en-US" sz="850" dirty="0"/>
          </a:p>
        </p:txBody>
      </p:sp>
      <p:sp>
        <p:nvSpPr>
          <p:cNvPr id="28" name="Shape 26"/>
          <p:cNvSpPr/>
          <p:nvPr/>
        </p:nvSpPr>
        <p:spPr>
          <a:xfrm>
            <a:off x="658368" y="4553712"/>
            <a:ext cx="5230368" cy="521208"/>
          </a:xfrm>
          <a:prstGeom prst="roundRect">
            <a:avLst>
              <a:gd name="adj" fmla="val 21053"/>
            </a:avLst>
          </a:prstGeom>
          <a:solidFill>
            <a:srgbClr val="FFFFFF"/>
          </a:solidFill>
          <a:ln w="11430">
            <a:solidFill>
              <a:srgbClr val="DCE5EA"/>
            </a:solidFill>
            <a:prstDash val="solid"/>
          </a:ln>
        </p:spPr>
      </p:sp>
      <p:sp>
        <p:nvSpPr>
          <p:cNvPr id="29" name="Text 27"/>
          <p:cNvSpPr txBox="1"/>
          <p:nvPr/>
        </p:nvSpPr>
        <p:spPr>
          <a:xfrm>
            <a:off x="795528" y="4672584"/>
            <a:ext cx="384048" cy="201168"/>
          </a:xfrm>
          <a:prstGeom prst="rect">
            <a:avLst/>
          </a:prstGeom>
          <a:noFill/>
          <a:ln/>
        </p:spPr>
        <p:txBody>
          <a:bodyPr wrap="square" lIns="0" tIns="0" rIns="0" bIns="0" rtlCol="0" anchor="ctr">
            <a:normAutofit/>
          </a:bodyPr>
          <a:lstStyle/>
          <a:p>
            <a:pPr algn="l" indent="0" marL="0">
              <a:buNone/>
            </a:pPr>
            <a:r>
              <a:rPr lang="en-US" sz="890" b="1" dirty="0">
                <a:solidFill>
                  <a:srgbClr val="16877D"/>
                </a:solidFill>
                <a:latin typeface="Inter" pitchFamily="34" charset="0"/>
                <a:ea typeface="Inter" pitchFamily="34" charset="-122"/>
                <a:cs typeface="Inter" pitchFamily="34" charset="-120"/>
              </a:rPr>
              <a:t>01</a:t>
            </a:r>
            <a:endParaRPr lang="en-US" sz="890" dirty="0"/>
          </a:p>
        </p:txBody>
      </p:sp>
      <p:sp>
        <p:nvSpPr>
          <p:cNvPr id="30" name="Text 28"/>
          <p:cNvSpPr txBox="1"/>
          <p:nvPr/>
        </p:nvSpPr>
        <p:spPr>
          <a:xfrm>
            <a:off x="1261872" y="4636008"/>
            <a:ext cx="4416552" cy="310896"/>
          </a:xfrm>
          <a:prstGeom prst="rect">
            <a:avLst/>
          </a:prstGeom>
          <a:noFill/>
          <a:ln/>
        </p:spPr>
        <p:txBody>
          <a:bodyPr wrap="square" lIns="0" tIns="0" rIns="0" bIns="0" rtlCol="0" anchor="ctr">
            <a:normAutofit/>
          </a:bodyPr>
          <a:lstStyle/>
          <a:p>
            <a:pPr algn="l" indent="0" marL="0">
              <a:buNone/>
            </a:pPr>
            <a:r>
              <a:rPr lang="en-US" sz="1070" b="1" dirty="0">
                <a:solidFill>
                  <a:srgbClr val="203345"/>
                </a:solidFill>
                <a:latin typeface="Inter" pitchFamily="34" charset="0"/>
                <a:ea typeface="Inter" pitchFamily="34" charset="-122"/>
                <a:cs typeface="Inter" pitchFamily="34" charset="-120"/>
              </a:rPr>
              <a:t>ISBNs and member IDs are unique</a:t>
            </a:r>
            <a:endParaRPr lang="en-US" sz="1070" dirty="0"/>
          </a:p>
        </p:txBody>
      </p:sp>
      <p:sp>
        <p:nvSpPr>
          <p:cNvPr id="31" name="Shape 29"/>
          <p:cNvSpPr/>
          <p:nvPr/>
        </p:nvSpPr>
        <p:spPr>
          <a:xfrm>
            <a:off x="6236208" y="4553712"/>
            <a:ext cx="5230368" cy="521208"/>
          </a:xfrm>
          <a:prstGeom prst="roundRect">
            <a:avLst>
              <a:gd name="adj" fmla="val 21053"/>
            </a:avLst>
          </a:prstGeom>
          <a:solidFill>
            <a:srgbClr val="FFFFFF"/>
          </a:solidFill>
          <a:ln w="11430">
            <a:solidFill>
              <a:srgbClr val="DCE5EA"/>
            </a:solidFill>
            <a:prstDash val="solid"/>
          </a:ln>
        </p:spPr>
      </p:sp>
      <p:sp>
        <p:nvSpPr>
          <p:cNvPr id="32" name="Text 30"/>
          <p:cNvSpPr txBox="1"/>
          <p:nvPr/>
        </p:nvSpPr>
        <p:spPr>
          <a:xfrm>
            <a:off x="6373368" y="4672584"/>
            <a:ext cx="384048" cy="201168"/>
          </a:xfrm>
          <a:prstGeom prst="rect">
            <a:avLst/>
          </a:prstGeom>
          <a:noFill/>
          <a:ln/>
        </p:spPr>
        <p:txBody>
          <a:bodyPr wrap="square" lIns="0" tIns="0" rIns="0" bIns="0" rtlCol="0" anchor="ctr">
            <a:normAutofit/>
          </a:bodyPr>
          <a:lstStyle/>
          <a:p>
            <a:pPr algn="l" indent="0" marL="0">
              <a:buNone/>
            </a:pPr>
            <a:r>
              <a:rPr lang="en-US" sz="890" b="1" dirty="0">
                <a:solidFill>
                  <a:srgbClr val="16877D"/>
                </a:solidFill>
                <a:latin typeface="Inter" pitchFamily="34" charset="0"/>
                <a:ea typeface="Inter" pitchFamily="34" charset="-122"/>
                <a:cs typeface="Inter" pitchFamily="34" charset="-120"/>
              </a:rPr>
              <a:t>02</a:t>
            </a:r>
            <a:endParaRPr lang="en-US" sz="890" dirty="0"/>
          </a:p>
        </p:txBody>
      </p:sp>
      <p:sp>
        <p:nvSpPr>
          <p:cNvPr id="33" name="Text 31"/>
          <p:cNvSpPr txBox="1"/>
          <p:nvPr/>
        </p:nvSpPr>
        <p:spPr>
          <a:xfrm>
            <a:off x="6839712" y="4636008"/>
            <a:ext cx="4416552" cy="310896"/>
          </a:xfrm>
          <a:prstGeom prst="rect">
            <a:avLst/>
          </a:prstGeom>
          <a:noFill/>
          <a:ln/>
        </p:spPr>
        <p:txBody>
          <a:bodyPr wrap="square" lIns="0" tIns="0" rIns="0" bIns="0" rtlCol="0" anchor="ctr">
            <a:normAutofit/>
          </a:bodyPr>
          <a:lstStyle/>
          <a:p>
            <a:pPr algn="l" indent="0" marL="0">
              <a:buNone/>
            </a:pPr>
            <a:r>
              <a:rPr lang="en-US" sz="1070" b="1" dirty="0">
                <a:solidFill>
                  <a:srgbClr val="203345"/>
                </a:solidFill>
                <a:latin typeface="Inter" pitchFamily="34" charset="0"/>
                <a:ea typeface="Inter" pitchFamily="34" charset="-122"/>
                <a:cs typeface="Inter" pitchFamily="34" charset="-120"/>
              </a:rPr>
              <a:t>A book has at most one open loan</a:t>
            </a:r>
            <a:endParaRPr lang="en-US" sz="1070" dirty="0"/>
          </a:p>
        </p:txBody>
      </p:sp>
      <p:sp>
        <p:nvSpPr>
          <p:cNvPr id="34" name="Shape 32"/>
          <p:cNvSpPr/>
          <p:nvPr/>
        </p:nvSpPr>
        <p:spPr>
          <a:xfrm>
            <a:off x="658368" y="5212080"/>
            <a:ext cx="5230368" cy="521208"/>
          </a:xfrm>
          <a:prstGeom prst="roundRect">
            <a:avLst>
              <a:gd name="adj" fmla="val 21053"/>
            </a:avLst>
          </a:prstGeom>
          <a:solidFill>
            <a:srgbClr val="FFFFFF"/>
          </a:solidFill>
          <a:ln w="11430">
            <a:solidFill>
              <a:srgbClr val="DCE5EA"/>
            </a:solidFill>
            <a:prstDash val="solid"/>
          </a:ln>
        </p:spPr>
      </p:sp>
      <p:sp>
        <p:nvSpPr>
          <p:cNvPr id="35" name="Text 33"/>
          <p:cNvSpPr txBox="1"/>
          <p:nvPr/>
        </p:nvSpPr>
        <p:spPr>
          <a:xfrm>
            <a:off x="795528" y="5330952"/>
            <a:ext cx="384048" cy="201168"/>
          </a:xfrm>
          <a:prstGeom prst="rect">
            <a:avLst/>
          </a:prstGeom>
          <a:noFill/>
          <a:ln/>
        </p:spPr>
        <p:txBody>
          <a:bodyPr wrap="square" lIns="0" tIns="0" rIns="0" bIns="0" rtlCol="0" anchor="ctr">
            <a:normAutofit/>
          </a:bodyPr>
          <a:lstStyle/>
          <a:p>
            <a:pPr algn="l" indent="0" marL="0">
              <a:buNone/>
            </a:pPr>
            <a:r>
              <a:rPr lang="en-US" sz="890" b="1" dirty="0">
                <a:solidFill>
                  <a:srgbClr val="16877D"/>
                </a:solidFill>
                <a:latin typeface="Inter" pitchFamily="34" charset="0"/>
                <a:ea typeface="Inter" pitchFamily="34" charset="-122"/>
                <a:cs typeface="Inter" pitchFamily="34" charset="-120"/>
              </a:rPr>
              <a:t>03</a:t>
            </a:r>
            <a:endParaRPr lang="en-US" sz="890" dirty="0"/>
          </a:p>
        </p:txBody>
      </p:sp>
      <p:sp>
        <p:nvSpPr>
          <p:cNvPr id="36" name="Text 34"/>
          <p:cNvSpPr txBox="1"/>
          <p:nvPr/>
        </p:nvSpPr>
        <p:spPr>
          <a:xfrm>
            <a:off x="1261872" y="5294376"/>
            <a:ext cx="4416552" cy="310896"/>
          </a:xfrm>
          <a:prstGeom prst="rect">
            <a:avLst/>
          </a:prstGeom>
          <a:noFill/>
          <a:ln/>
        </p:spPr>
        <p:txBody>
          <a:bodyPr wrap="square" lIns="0" tIns="0" rIns="0" bIns="0" rtlCol="0" anchor="ctr">
            <a:normAutofit/>
          </a:bodyPr>
          <a:lstStyle/>
          <a:p>
            <a:pPr algn="l" indent="0" marL="0">
              <a:buNone/>
            </a:pPr>
            <a:r>
              <a:rPr lang="en-US" sz="1070" b="1" dirty="0">
                <a:solidFill>
                  <a:srgbClr val="203345"/>
                </a:solidFill>
                <a:latin typeface="Inter" pitchFamily="34" charset="0"/>
                <a:ea typeface="Inter" pitchFamily="34" charset="-122"/>
                <a:cs typeface="Inter" pitchFamily="34" charset="-120"/>
              </a:rPr>
              <a:t>A member may hold at most 5 books</a:t>
            </a:r>
            <a:endParaRPr lang="en-US" sz="1070" dirty="0"/>
          </a:p>
        </p:txBody>
      </p:sp>
      <p:sp>
        <p:nvSpPr>
          <p:cNvPr id="37" name="Shape 35"/>
          <p:cNvSpPr/>
          <p:nvPr/>
        </p:nvSpPr>
        <p:spPr>
          <a:xfrm>
            <a:off x="6236208" y="5212080"/>
            <a:ext cx="5230368" cy="521208"/>
          </a:xfrm>
          <a:prstGeom prst="roundRect">
            <a:avLst>
              <a:gd name="adj" fmla="val 21053"/>
            </a:avLst>
          </a:prstGeom>
          <a:solidFill>
            <a:srgbClr val="FFFFFF"/>
          </a:solidFill>
          <a:ln w="11430">
            <a:solidFill>
              <a:srgbClr val="DCE5EA"/>
            </a:solidFill>
            <a:prstDash val="solid"/>
          </a:ln>
        </p:spPr>
      </p:sp>
      <p:sp>
        <p:nvSpPr>
          <p:cNvPr id="38" name="Text 36"/>
          <p:cNvSpPr txBox="1"/>
          <p:nvPr/>
        </p:nvSpPr>
        <p:spPr>
          <a:xfrm>
            <a:off x="6373368" y="5330952"/>
            <a:ext cx="384048" cy="201168"/>
          </a:xfrm>
          <a:prstGeom prst="rect">
            <a:avLst/>
          </a:prstGeom>
          <a:noFill/>
          <a:ln/>
        </p:spPr>
        <p:txBody>
          <a:bodyPr wrap="square" lIns="0" tIns="0" rIns="0" bIns="0" rtlCol="0" anchor="ctr">
            <a:normAutofit/>
          </a:bodyPr>
          <a:lstStyle/>
          <a:p>
            <a:pPr algn="l" indent="0" marL="0">
              <a:buNone/>
            </a:pPr>
            <a:r>
              <a:rPr lang="en-US" sz="890" b="1" dirty="0">
                <a:solidFill>
                  <a:srgbClr val="16877D"/>
                </a:solidFill>
                <a:latin typeface="Inter" pitchFamily="34" charset="0"/>
                <a:ea typeface="Inter" pitchFamily="34" charset="-122"/>
                <a:cs typeface="Inter" pitchFamily="34" charset="-120"/>
              </a:rPr>
              <a:t>04</a:t>
            </a:r>
            <a:endParaRPr lang="en-US" sz="890" dirty="0"/>
          </a:p>
        </p:txBody>
      </p:sp>
      <p:sp>
        <p:nvSpPr>
          <p:cNvPr id="39" name="Text 37"/>
          <p:cNvSpPr txBox="1"/>
          <p:nvPr/>
        </p:nvSpPr>
        <p:spPr>
          <a:xfrm>
            <a:off x="6839712" y="5294376"/>
            <a:ext cx="4416552" cy="310896"/>
          </a:xfrm>
          <a:prstGeom prst="rect">
            <a:avLst/>
          </a:prstGeom>
          <a:noFill/>
          <a:ln/>
        </p:spPr>
        <p:txBody>
          <a:bodyPr wrap="square" lIns="0" tIns="0" rIns="0" bIns="0" rtlCol="0" anchor="ctr">
            <a:normAutofit/>
          </a:bodyPr>
          <a:lstStyle/>
          <a:p>
            <a:pPr algn="l" indent="0" marL="0">
              <a:buNone/>
            </a:pPr>
            <a:r>
              <a:rPr lang="en-US" sz="1070" b="1" dirty="0">
                <a:solidFill>
                  <a:srgbClr val="203345"/>
                </a:solidFill>
                <a:latin typeface="Inter" pitchFamily="34" charset="0"/>
                <a:ea typeface="Inter" pitchFamily="34" charset="-122"/>
                <a:cs typeface="Inter" pitchFamily="34" charset="-120"/>
              </a:rPr>
              <a:t>Borrowed books / members cannot be removed</a:t>
            </a:r>
            <a:endParaRPr lang="en-US" sz="107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66928" y="347472"/>
            <a:ext cx="50292" cy="210312"/>
          </a:xfrm>
          <a:prstGeom prst="rect">
            <a:avLst/>
          </a:prstGeom>
          <a:solidFill>
            <a:srgbClr val="16877D"/>
          </a:solidFill>
          <a:ln w="12700">
            <a:solidFill>
              <a:srgbClr val="16877D">
                <a:alpha val="0"/>
              </a:srgbClr>
            </a:solidFill>
            <a:prstDash val="solid"/>
          </a:ln>
        </p:spPr>
      </p:sp>
      <p:sp>
        <p:nvSpPr>
          <p:cNvPr id="3" name="Text 1"/>
          <p:cNvSpPr txBox="1"/>
          <p:nvPr/>
        </p:nvSpPr>
        <p:spPr>
          <a:xfrm>
            <a:off x="713232" y="333756"/>
            <a:ext cx="3200400" cy="219456"/>
          </a:xfrm>
          <a:prstGeom prst="rect">
            <a:avLst/>
          </a:prstGeom>
          <a:noFill/>
          <a:ln/>
        </p:spPr>
        <p:txBody>
          <a:bodyPr wrap="square" lIns="0" tIns="0" rIns="0" bIns="0" rtlCol="0" anchor="ctr">
            <a:normAutofit/>
          </a:bodyPr>
          <a:lstStyle/>
          <a:p>
            <a:pPr algn="l" indent="0" marL="0">
              <a:buNone/>
            </a:pPr>
            <a:r>
              <a:rPr lang="en-US" sz="810" b="1" spc="180" kern="0" dirty="0">
                <a:solidFill>
                  <a:srgbClr val="16877D"/>
                </a:solidFill>
                <a:latin typeface="Inter" pitchFamily="34" charset="0"/>
                <a:ea typeface="Inter" pitchFamily="34" charset="-122"/>
                <a:cs typeface="Inter" pitchFamily="34" charset="-120"/>
              </a:rPr>
              <a:t>CORE DATA STRUCTURE</a:t>
            </a:r>
            <a:endParaRPr lang="en-US" sz="810" dirty="0"/>
          </a:p>
        </p:txBody>
      </p:sp>
      <p:sp>
        <p:nvSpPr>
          <p:cNvPr id="4" name="Text 2"/>
          <p:cNvSpPr txBox="1"/>
          <p:nvPr/>
        </p:nvSpPr>
        <p:spPr>
          <a:xfrm>
            <a:off x="566928" y="658368"/>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2263A"/>
                </a:solidFill>
                <a:latin typeface="Inter" pitchFamily="34" charset="0"/>
                <a:ea typeface="Inter" pitchFamily="34" charset="-122"/>
                <a:cs typeface="Inter" pitchFamily="34" charset="-120"/>
              </a:rPr>
              <a:t>Why implement a custom doubly linked container?</a:t>
            </a:r>
            <a:endParaRPr lang="en-US" sz="2700" dirty="0"/>
          </a:p>
        </p:txBody>
      </p:sp>
      <p:sp>
        <p:nvSpPr>
          <p:cNvPr id="5" name="Text 3"/>
          <p:cNvSpPr txBox="1"/>
          <p:nvPr/>
        </p:nvSpPr>
        <p:spPr>
          <a:xfrm>
            <a:off x="585216" y="1115568"/>
            <a:ext cx="10972800" cy="274320"/>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The container was a deliberate learning and control point—not a claim that linked lists are always faster.</a:t>
            </a:r>
            <a:endParaRPr lang="en-US" sz="1070" dirty="0"/>
          </a:p>
        </p:txBody>
      </p:sp>
      <p:sp>
        <p:nvSpPr>
          <p:cNvPr id="6" name="Shape 4"/>
          <p:cNvSpPr/>
          <p:nvPr/>
        </p:nvSpPr>
        <p:spPr>
          <a:xfrm>
            <a:off x="566928" y="6510528"/>
            <a:ext cx="11119104" cy="0"/>
          </a:xfrm>
          <a:prstGeom prst="line">
            <a:avLst/>
          </a:prstGeom>
          <a:noFill/>
          <a:ln w="10160">
            <a:solidFill>
              <a:srgbClr val="E0E7EB"/>
            </a:solidFill>
            <a:prstDash val="solid"/>
          </a:ln>
        </p:spPr>
      </p:sp>
      <p:sp>
        <p:nvSpPr>
          <p:cNvPr id="7" name="Text 5"/>
          <p:cNvSpPr txBox="1"/>
          <p:nvPr/>
        </p:nvSpPr>
        <p:spPr>
          <a:xfrm>
            <a:off x="566928" y="6565392"/>
            <a:ext cx="5303520" cy="146304"/>
          </a:xfrm>
          <a:prstGeom prst="rect">
            <a:avLst/>
          </a:prstGeom>
          <a:noFill/>
          <a:ln/>
        </p:spPr>
        <p:txBody>
          <a:bodyPr wrap="square" lIns="0" tIns="0" rIns="0" bIns="0" rtlCol="0" anchor="ctr">
            <a:normAutofit/>
          </a:bodyPr>
          <a:lstStyle/>
          <a:p>
            <a:pPr algn="l" indent="0" marL="0">
              <a:buNone/>
            </a:pPr>
            <a:r>
              <a:rPr lang="en-US" sz="750" spc="110" kern="0" dirty="0">
                <a:solidFill>
                  <a:srgbClr val="6B7A88"/>
                </a:solidFill>
                <a:latin typeface="Inter" pitchFamily="34" charset="0"/>
                <a:ea typeface="Inter" pitchFamily="34" charset="-122"/>
                <a:cs typeface="Inter" pitchFamily="34" charset="-120"/>
              </a:rPr>
              <a:t>TITANS  /  LIBRARY MANAGEMENT SYSTEM</a:t>
            </a:r>
            <a:endParaRPr lang="en-US" sz="750" dirty="0"/>
          </a:p>
        </p:txBody>
      </p:sp>
      <p:sp>
        <p:nvSpPr>
          <p:cNvPr id="8" name="Text 6"/>
          <p:cNvSpPr txBox="1"/>
          <p:nvPr/>
        </p:nvSpPr>
        <p:spPr>
          <a:xfrm>
            <a:off x="11109960" y="6556248"/>
            <a:ext cx="502920" cy="164592"/>
          </a:xfrm>
          <a:prstGeom prst="rect">
            <a:avLst/>
          </a:prstGeom>
          <a:noFill/>
          <a:ln/>
        </p:spPr>
        <p:txBody>
          <a:bodyPr wrap="square" lIns="0" tIns="0" rIns="0" bIns="0" rtlCol="0" anchor="ctr">
            <a:normAutofit/>
          </a:bodyPr>
          <a:lstStyle/>
          <a:p>
            <a:pPr algn="r" indent="0" marL="0">
              <a:buNone/>
            </a:pPr>
            <a:r>
              <a:rPr lang="en-US" sz="800" dirty="0">
                <a:solidFill>
                  <a:srgbClr val="6B7A88"/>
                </a:solidFill>
                <a:latin typeface="Inter" pitchFamily="34" charset="0"/>
                <a:ea typeface="Inter" pitchFamily="34" charset="-122"/>
                <a:cs typeface="Inter" pitchFamily="34" charset="-120"/>
              </a:rPr>
              <a:t>07</a:t>
            </a:r>
            <a:endParaRPr lang="en-US" sz="800" dirty="0"/>
          </a:p>
        </p:txBody>
      </p:sp>
      <p:sp>
        <p:nvSpPr>
          <p:cNvPr id="9" name="Shape 7"/>
          <p:cNvSpPr/>
          <p:nvPr/>
        </p:nvSpPr>
        <p:spPr>
          <a:xfrm>
            <a:off x="640080" y="1700784"/>
            <a:ext cx="7360920" cy="2880360"/>
          </a:xfrm>
          <a:prstGeom prst="roundRect">
            <a:avLst>
              <a:gd name="adj" fmla="val 3810"/>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0" name="Text 8"/>
          <p:cNvSpPr txBox="1"/>
          <p:nvPr/>
        </p:nvSpPr>
        <p:spPr>
          <a:xfrm>
            <a:off x="896112" y="1883664"/>
            <a:ext cx="2834640" cy="274320"/>
          </a:xfrm>
          <a:prstGeom prst="rect">
            <a:avLst/>
          </a:prstGeom>
          <a:noFill/>
          <a:ln/>
        </p:spPr>
        <p:txBody>
          <a:bodyPr wrap="square" lIns="0" tIns="0" rIns="0" bIns="0" rtlCol="0" anchor="ctr">
            <a:normAutofit/>
          </a:bodyPr>
          <a:lstStyle/>
          <a:p>
            <a:pPr algn="l" indent="0" marL="0">
              <a:buNone/>
            </a:pPr>
            <a:r>
              <a:rPr lang="en-US" sz="1330" b="1" dirty="0">
                <a:solidFill>
                  <a:srgbClr val="12263A"/>
                </a:solidFill>
                <a:latin typeface="DejaVu Sans Mono" pitchFamily="34" charset="0"/>
                <a:ea typeface="DejaVu Sans Mono" pitchFamily="34" charset="-122"/>
                <a:cs typeface="DejaVu Sans Mono" pitchFamily="34" charset="-120"/>
              </a:rPr>
              <a:t>titans::Container&lt;T&gt;</a:t>
            </a:r>
            <a:endParaRPr lang="en-US" sz="1330" dirty="0"/>
          </a:p>
        </p:txBody>
      </p:sp>
      <p:sp>
        <p:nvSpPr>
          <p:cNvPr id="11" name="Text 9"/>
          <p:cNvSpPr txBox="1"/>
          <p:nvPr/>
        </p:nvSpPr>
        <p:spPr>
          <a:xfrm>
            <a:off x="896112" y="2203704"/>
            <a:ext cx="5029200" cy="228600"/>
          </a:xfrm>
          <a:prstGeom prst="rect">
            <a:avLst/>
          </a:prstGeom>
          <a:noFill/>
          <a:ln/>
        </p:spPr>
        <p:txBody>
          <a:bodyPr wrap="square" lIns="0" tIns="0" rIns="0" bIns="0" rtlCol="0" anchor="ctr">
            <a:normAutofit/>
          </a:bodyPr>
          <a:lstStyle/>
          <a:p>
            <a:pPr algn="l" indent="0" marL="0">
              <a:buNone/>
            </a:pPr>
            <a:r>
              <a:rPr lang="en-US" sz="1000" dirty="0">
                <a:solidFill>
                  <a:srgbClr val="657585"/>
                </a:solidFill>
                <a:latin typeface="Inter" pitchFamily="34" charset="0"/>
                <a:ea typeface="Inter" pitchFamily="34" charset="-122"/>
                <a:cs typeface="Inter" pitchFamily="34" charset="-120"/>
              </a:rPr>
              <a:t>Each node owns a value and links to its neighbours.</a:t>
            </a:r>
            <a:endParaRPr lang="en-US" sz="1000" dirty="0"/>
          </a:p>
        </p:txBody>
      </p:sp>
      <p:sp>
        <p:nvSpPr>
          <p:cNvPr id="12" name="Shape 10"/>
          <p:cNvSpPr/>
          <p:nvPr/>
        </p:nvSpPr>
        <p:spPr>
          <a:xfrm>
            <a:off x="1298448" y="2761488"/>
            <a:ext cx="1408176" cy="841248"/>
          </a:xfrm>
          <a:prstGeom prst="roundRect">
            <a:avLst>
              <a:gd name="adj" fmla="val 13043"/>
            </a:avLst>
          </a:prstGeom>
          <a:solidFill>
            <a:srgbClr val="E9F0F6"/>
          </a:solidFill>
          <a:ln w="11430">
            <a:solidFill>
              <a:srgbClr val="DCE5EA"/>
            </a:solidFill>
            <a:prstDash val="solid"/>
          </a:ln>
        </p:spPr>
      </p:sp>
      <p:sp>
        <p:nvSpPr>
          <p:cNvPr id="13" name="Text 11"/>
          <p:cNvSpPr txBox="1"/>
          <p:nvPr/>
        </p:nvSpPr>
        <p:spPr>
          <a:xfrm>
            <a:off x="1371600" y="2871216"/>
            <a:ext cx="1261872" cy="173736"/>
          </a:xfrm>
          <a:prstGeom prst="rect">
            <a:avLst/>
          </a:prstGeom>
          <a:noFill/>
          <a:ln/>
        </p:spPr>
        <p:txBody>
          <a:bodyPr wrap="square" lIns="0" tIns="0" rIns="0" bIns="0" rtlCol="0" anchor="ctr">
            <a:normAutofit/>
          </a:bodyPr>
          <a:lstStyle/>
          <a:p>
            <a:pPr algn="ctr" indent="0" marL="0">
              <a:buNone/>
            </a:pPr>
            <a:r>
              <a:rPr lang="en-US" sz="750" b="1" spc="40" kern="0" dirty="0">
                <a:solidFill>
                  <a:srgbClr val="16877D"/>
                </a:solidFill>
                <a:latin typeface="Inter" pitchFamily="34" charset="0"/>
                <a:ea typeface="Inter" pitchFamily="34" charset="-122"/>
                <a:cs typeface="Inter" pitchFamily="34" charset="-120"/>
              </a:rPr>
              <a:t>NODE 01</a:t>
            </a:r>
            <a:endParaRPr lang="en-US" sz="750" dirty="0"/>
          </a:p>
        </p:txBody>
      </p:sp>
      <p:sp>
        <p:nvSpPr>
          <p:cNvPr id="14" name="Text 12"/>
          <p:cNvSpPr txBox="1"/>
          <p:nvPr/>
        </p:nvSpPr>
        <p:spPr>
          <a:xfrm>
            <a:off x="1371600" y="3154680"/>
            <a:ext cx="1261872" cy="237744"/>
          </a:xfrm>
          <a:prstGeom prst="rect">
            <a:avLst/>
          </a:prstGeom>
          <a:noFill/>
          <a:ln/>
        </p:spPr>
        <p:txBody>
          <a:bodyPr wrap="square" lIns="0" tIns="0" rIns="0" bIns="0" rtlCol="0" anchor="ctr">
            <a:normAutofit/>
          </a:bodyPr>
          <a:lstStyle/>
          <a:p>
            <a:pPr algn="ctr" indent="0" marL="0">
              <a:buNone/>
            </a:pPr>
            <a:r>
              <a:rPr lang="en-US" sz="1200" b="1" dirty="0">
                <a:solidFill>
                  <a:srgbClr val="12263A"/>
                </a:solidFill>
                <a:latin typeface="Inter" pitchFamily="34" charset="0"/>
                <a:ea typeface="Inter" pitchFamily="34" charset="-122"/>
                <a:cs typeface="Inter" pitchFamily="34" charset="-120"/>
              </a:rPr>
              <a:t>Book A</a:t>
            </a:r>
            <a:endParaRPr lang="en-US" sz="1200" dirty="0"/>
          </a:p>
        </p:txBody>
      </p:sp>
      <p:sp>
        <p:nvSpPr>
          <p:cNvPr id="15" name="Shape 13"/>
          <p:cNvSpPr/>
          <p:nvPr/>
        </p:nvSpPr>
        <p:spPr>
          <a:xfrm>
            <a:off x="3447288" y="2761488"/>
            <a:ext cx="1408176" cy="841248"/>
          </a:xfrm>
          <a:prstGeom prst="roundRect">
            <a:avLst>
              <a:gd name="adj" fmla="val 13043"/>
            </a:avLst>
          </a:prstGeom>
          <a:solidFill>
            <a:srgbClr val="E1F3F0"/>
          </a:solidFill>
          <a:ln w="11430">
            <a:solidFill>
              <a:srgbClr val="B8DFD8"/>
            </a:solidFill>
            <a:prstDash val="solid"/>
          </a:ln>
        </p:spPr>
      </p:sp>
      <p:sp>
        <p:nvSpPr>
          <p:cNvPr id="16" name="Text 14"/>
          <p:cNvSpPr txBox="1"/>
          <p:nvPr/>
        </p:nvSpPr>
        <p:spPr>
          <a:xfrm>
            <a:off x="3520440" y="2871216"/>
            <a:ext cx="1261872" cy="173736"/>
          </a:xfrm>
          <a:prstGeom prst="rect">
            <a:avLst/>
          </a:prstGeom>
          <a:noFill/>
          <a:ln/>
        </p:spPr>
        <p:txBody>
          <a:bodyPr wrap="square" lIns="0" tIns="0" rIns="0" bIns="0" rtlCol="0" anchor="ctr">
            <a:normAutofit/>
          </a:bodyPr>
          <a:lstStyle/>
          <a:p>
            <a:pPr algn="ctr" indent="0" marL="0">
              <a:buNone/>
            </a:pPr>
            <a:r>
              <a:rPr lang="en-US" sz="750" b="1" spc="40" kern="0" dirty="0">
                <a:solidFill>
                  <a:srgbClr val="16877D"/>
                </a:solidFill>
                <a:latin typeface="Inter" pitchFamily="34" charset="0"/>
                <a:ea typeface="Inter" pitchFamily="34" charset="-122"/>
                <a:cs typeface="Inter" pitchFamily="34" charset="-120"/>
              </a:rPr>
              <a:t>NODE 02</a:t>
            </a:r>
            <a:endParaRPr lang="en-US" sz="750" dirty="0"/>
          </a:p>
        </p:txBody>
      </p:sp>
      <p:sp>
        <p:nvSpPr>
          <p:cNvPr id="17" name="Text 15"/>
          <p:cNvSpPr txBox="1"/>
          <p:nvPr/>
        </p:nvSpPr>
        <p:spPr>
          <a:xfrm>
            <a:off x="3520440" y="3154680"/>
            <a:ext cx="1261872" cy="237744"/>
          </a:xfrm>
          <a:prstGeom prst="rect">
            <a:avLst/>
          </a:prstGeom>
          <a:noFill/>
          <a:ln/>
        </p:spPr>
        <p:txBody>
          <a:bodyPr wrap="square" lIns="0" tIns="0" rIns="0" bIns="0" rtlCol="0" anchor="ctr">
            <a:normAutofit/>
          </a:bodyPr>
          <a:lstStyle/>
          <a:p>
            <a:pPr algn="ctr" indent="0" marL="0">
              <a:buNone/>
            </a:pPr>
            <a:r>
              <a:rPr lang="en-US" sz="1200" b="1" dirty="0">
                <a:solidFill>
                  <a:srgbClr val="12263A"/>
                </a:solidFill>
                <a:latin typeface="Inter" pitchFamily="34" charset="0"/>
                <a:ea typeface="Inter" pitchFamily="34" charset="-122"/>
                <a:cs typeface="Inter" pitchFamily="34" charset="-120"/>
              </a:rPr>
              <a:t>Book B</a:t>
            </a:r>
            <a:endParaRPr lang="en-US" sz="1200" dirty="0"/>
          </a:p>
        </p:txBody>
      </p:sp>
      <p:sp>
        <p:nvSpPr>
          <p:cNvPr id="18" name="Shape 16"/>
          <p:cNvSpPr/>
          <p:nvPr/>
        </p:nvSpPr>
        <p:spPr>
          <a:xfrm>
            <a:off x="5596128" y="2761488"/>
            <a:ext cx="1408176" cy="841248"/>
          </a:xfrm>
          <a:prstGeom prst="roundRect">
            <a:avLst>
              <a:gd name="adj" fmla="val 13043"/>
            </a:avLst>
          </a:prstGeom>
          <a:solidFill>
            <a:srgbClr val="E9F0F6"/>
          </a:solidFill>
          <a:ln w="11430">
            <a:solidFill>
              <a:srgbClr val="DCE5EA"/>
            </a:solidFill>
            <a:prstDash val="solid"/>
          </a:ln>
        </p:spPr>
      </p:sp>
      <p:sp>
        <p:nvSpPr>
          <p:cNvPr id="19" name="Text 17"/>
          <p:cNvSpPr txBox="1"/>
          <p:nvPr/>
        </p:nvSpPr>
        <p:spPr>
          <a:xfrm>
            <a:off x="5669280" y="2871216"/>
            <a:ext cx="1261872" cy="173736"/>
          </a:xfrm>
          <a:prstGeom prst="rect">
            <a:avLst/>
          </a:prstGeom>
          <a:noFill/>
          <a:ln/>
        </p:spPr>
        <p:txBody>
          <a:bodyPr wrap="square" lIns="0" tIns="0" rIns="0" bIns="0" rtlCol="0" anchor="ctr">
            <a:normAutofit/>
          </a:bodyPr>
          <a:lstStyle/>
          <a:p>
            <a:pPr algn="ctr" indent="0" marL="0">
              <a:buNone/>
            </a:pPr>
            <a:r>
              <a:rPr lang="en-US" sz="750" b="1" spc="40" kern="0" dirty="0">
                <a:solidFill>
                  <a:srgbClr val="16877D"/>
                </a:solidFill>
                <a:latin typeface="Inter" pitchFamily="34" charset="0"/>
                <a:ea typeface="Inter" pitchFamily="34" charset="-122"/>
                <a:cs typeface="Inter" pitchFamily="34" charset="-120"/>
              </a:rPr>
              <a:t>NODE 03</a:t>
            </a:r>
            <a:endParaRPr lang="en-US" sz="750" dirty="0"/>
          </a:p>
        </p:txBody>
      </p:sp>
      <p:sp>
        <p:nvSpPr>
          <p:cNvPr id="20" name="Text 18"/>
          <p:cNvSpPr txBox="1"/>
          <p:nvPr/>
        </p:nvSpPr>
        <p:spPr>
          <a:xfrm>
            <a:off x="5669280" y="3154680"/>
            <a:ext cx="1261872" cy="237744"/>
          </a:xfrm>
          <a:prstGeom prst="rect">
            <a:avLst/>
          </a:prstGeom>
          <a:noFill/>
          <a:ln/>
        </p:spPr>
        <p:txBody>
          <a:bodyPr wrap="square" lIns="0" tIns="0" rIns="0" bIns="0" rtlCol="0" anchor="ctr">
            <a:normAutofit/>
          </a:bodyPr>
          <a:lstStyle/>
          <a:p>
            <a:pPr algn="ctr" indent="0" marL="0">
              <a:buNone/>
            </a:pPr>
            <a:r>
              <a:rPr lang="en-US" sz="1200" b="1" dirty="0">
                <a:solidFill>
                  <a:srgbClr val="12263A"/>
                </a:solidFill>
                <a:latin typeface="Inter" pitchFamily="34" charset="0"/>
                <a:ea typeface="Inter" pitchFamily="34" charset="-122"/>
                <a:cs typeface="Inter" pitchFamily="34" charset="-120"/>
              </a:rPr>
              <a:t>Book C</a:t>
            </a:r>
            <a:endParaRPr lang="en-US" sz="1200" dirty="0"/>
          </a:p>
        </p:txBody>
      </p:sp>
      <p:sp>
        <p:nvSpPr>
          <p:cNvPr id="21" name="Text 19"/>
          <p:cNvSpPr txBox="1"/>
          <p:nvPr/>
        </p:nvSpPr>
        <p:spPr>
          <a:xfrm>
            <a:off x="850392" y="3072384"/>
            <a:ext cx="384048" cy="192024"/>
          </a:xfrm>
          <a:prstGeom prst="rect">
            <a:avLst/>
          </a:prstGeom>
          <a:noFill/>
          <a:ln/>
        </p:spPr>
        <p:txBody>
          <a:bodyPr wrap="square" lIns="0" tIns="0" rIns="0" bIns="0" rtlCol="0" anchor="ctr">
            <a:normAutofit/>
          </a:bodyPr>
          <a:lstStyle/>
          <a:p>
            <a:pPr algn="ctr" indent="0" marL="0">
              <a:buNone/>
            </a:pPr>
            <a:r>
              <a:rPr lang="en-US" sz="880" b="1" dirty="0">
                <a:solidFill>
                  <a:srgbClr val="657585"/>
                </a:solidFill>
                <a:latin typeface="Inter" pitchFamily="34" charset="0"/>
                <a:ea typeface="Inter" pitchFamily="34" charset="-122"/>
                <a:cs typeface="Inter" pitchFamily="34" charset="-120"/>
              </a:rPr>
              <a:t>head</a:t>
            </a:r>
            <a:endParaRPr lang="en-US" sz="880" dirty="0"/>
          </a:p>
        </p:txBody>
      </p:sp>
      <p:sp>
        <p:nvSpPr>
          <p:cNvPr id="22" name="Shape 20"/>
          <p:cNvSpPr/>
          <p:nvPr/>
        </p:nvSpPr>
        <p:spPr>
          <a:xfrm>
            <a:off x="1097280" y="3191256"/>
            <a:ext cx="182880" cy="0"/>
          </a:xfrm>
          <a:prstGeom prst="line">
            <a:avLst/>
          </a:prstGeom>
          <a:noFill/>
          <a:ln w="15875">
            <a:solidFill>
              <a:srgbClr val="16877D"/>
            </a:solidFill>
            <a:prstDash val="solid"/>
            <a:tailEnd type="triangle"/>
          </a:ln>
        </p:spPr>
      </p:sp>
      <p:sp>
        <p:nvSpPr>
          <p:cNvPr id="23" name="Shape 21"/>
          <p:cNvSpPr/>
          <p:nvPr/>
        </p:nvSpPr>
        <p:spPr>
          <a:xfrm>
            <a:off x="2724912" y="3072384"/>
            <a:ext cx="667512" cy="0"/>
          </a:xfrm>
          <a:prstGeom prst="line">
            <a:avLst/>
          </a:prstGeom>
          <a:noFill/>
          <a:ln w="15875">
            <a:solidFill>
              <a:srgbClr val="16877D"/>
            </a:solidFill>
            <a:prstDash val="solid"/>
            <a:tailEnd type="triangle"/>
          </a:ln>
        </p:spPr>
      </p:sp>
      <p:sp>
        <p:nvSpPr>
          <p:cNvPr id="24" name="Shape 22"/>
          <p:cNvSpPr/>
          <p:nvPr/>
        </p:nvSpPr>
        <p:spPr>
          <a:xfrm>
            <a:off x="3392424" y="3310128"/>
            <a:ext cx="-667512" cy="0"/>
          </a:xfrm>
          <a:prstGeom prst="line">
            <a:avLst/>
          </a:prstGeom>
          <a:noFill/>
          <a:ln w="15875">
            <a:solidFill>
              <a:srgbClr val="16877D"/>
            </a:solidFill>
            <a:prstDash val="solid"/>
            <a:tailEnd type="triangle"/>
          </a:ln>
        </p:spPr>
      </p:sp>
      <p:sp>
        <p:nvSpPr>
          <p:cNvPr id="25" name="Shape 23"/>
          <p:cNvSpPr/>
          <p:nvPr/>
        </p:nvSpPr>
        <p:spPr>
          <a:xfrm>
            <a:off x="4873752" y="3072384"/>
            <a:ext cx="667512" cy="0"/>
          </a:xfrm>
          <a:prstGeom prst="line">
            <a:avLst/>
          </a:prstGeom>
          <a:noFill/>
          <a:ln w="15875">
            <a:solidFill>
              <a:srgbClr val="16877D"/>
            </a:solidFill>
            <a:prstDash val="solid"/>
            <a:tailEnd type="triangle"/>
          </a:ln>
        </p:spPr>
      </p:sp>
      <p:sp>
        <p:nvSpPr>
          <p:cNvPr id="26" name="Shape 24"/>
          <p:cNvSpPr/>
          <p:nvPr/>
        </p:nvSpPr>
        <p:spPr>
          <a:xfrm>
            <a:off x="5541264" y="3310128"/>
            <a:ext cx="-667512" cy="0"/>
          </a:xfrm>
          <a:prstGeom prst="line">
            <a:avLst/>
          </a:prstGeom>
          <a:noFill/>
          <a:ln w="15875">
            <a:solidFill>
              <a:srgbClr val="16877D"/>
            </a:solidFill>
            <a:prstDash val="solid"/>
            <a:tailEnd type="triangle"/>
          </a:ln>
        </p:spPr>
      </p:sp>
      <p:sp>
        <p:nvSpPr>
          <p:cNvPr id="27" name="Shape 25"/>
          <p:cNvSpPr/>
          <p:nvPr/>
        </p:nvSpPr>
        <p:spPr>
          <a:xfrm>
            <a:off x="7022592" y="3191256"/>
            <a:ext cx="374904" cy="0"/>
          </a:xfrm>
          <a:prstGeom prst="line">
            <a:avLst/>
          </a:prstGeom>
          <a:noFill/>
          <a:ln w="15875">
            <a:solidFill>
              <a:srgbClr val="16877D"/>
            </a:solidFill>
            <a:prstDash val="solid"/>
            <a:tailEnd type="triangle"/>
          </a:ln>
        </p:spPr>
      </p:sp>
      <p:sp>
        <p:nvSpPr>
          <p:cNvPr id="28" name="Text 26"/>
          <p:cNvSpPr txBox="1"/>
          <p:nvPr/>
        </p:nvSpPr>
        <p:spPr>
          <a:xfrm>
            <a:off x="7360920" y="3401568"/>
            <a:ext cx="384048" cy="192024"/>
          </a:xfrm>
          <a:prstGeom prst="rect">
            <a:avLst/>
          </a:prstGeom>
          <a:noFill/>
          <a:ln/>
        </p:spPr>
        <p:txBody>
          <a:bodyPr wrap="square" lIns="0" tIns="0" rIns="0" bIns="0" rtlCol="0" anchor="ctr">
            <a:normAutofit/>
          </a:bodyPr>
          <a:lstStyle/>
          <a:p>
            <a:pPr algn="ctr" indent="0" marL="0">
              <a:buNone/>
            </a:pPr>
            <a:r>
              <a:rPr lang="en-US" sz="880" b="1" dirty="0">
                <a:solidFill>
                  <a:srgbClr val="657585"/>
                </a:solidFill>
                <a:latin typeface="Inter" pitchFamily="34" charset="0"/>
                <a:ea typeface="Inter" pitchFamily="34" charset="-122"/>
                <a:cs typeface="Inter" pitchFamily="34" charset="-120"/>
              </a:rPr>
              <a:t>tail</a:t>
            </a:r>
            <a:endParaRPr lang="en-US" sz="880" dirty="0"/>
          </a:p>
        </p:txBody>
      </p:sp>
      <p:sp>
        <p:nvSpPr>
          <p:cNvPr id="29" name="Text 27"/>
          <p:cNvSpPr txBox="1"/>
          <p:nvPr/>
        </p:nvSpPr>
        <p:spPr>
          <a:xfrm>
            <a:off x="2176272" y="3941064"/>
            <a:ext cx="3813048" cy="228600"/>
          </a:xfrm>
          <a:prstGeom prst="rect">
            <a:avLst/>
          </a:prstGeom>
          <a:noFill/>
          <a:ln/>
        </p:spPr>
        <p:txBody>
          <a:bodyPr wrap="square" lIns="0" tIns="0" rIns="0" bIns="0" rtlCol="0" anchor="ctr">
            <a:normAutofit/>
          </a:bodyPr>
          <a:lstStyle/>
          <a:p>
            <a:pPr algn="ctr" indent="0" marL="0">
              <a:buNone/>
            </a:pPr>
            <a:r>
              <a:rPr lang="en-US" sz="950" dirty="0">
                <a:solidFill>
                  <a:srgbClr val="657585"/>
                </a:solidFill>
                <a:latin typeface="DejaVu Sans Mono" pitchFamily="34" charset="0"/>
                <a:ea typeface="DejaVu Sans Mono" pitchFamily="34" charset="-122"/>
                <a:cs typeface="DejaVu Sans Mono" pitchFamily="34" charset="-120"/>
              </a:rPr>
              <a:t>prev  ↔  data  ↔  next</a:t>
            </a:r>
            <a:endParaRPr lang="en-US" sz="950" dirty="0"/>
          </a:p>
        </p:txBody>
      </p:sp>
      <p:sp>
        <p:nvSpPr>
          <p:cNvPr id="30" name="Shape 28"/>
          <p:cNvSpPr/>
          <p:nvPr/>
        </p:nvSpPr>
        <p:spPr>
          <a:xfrm>
            <a:off x="8229600" y="1700784"/>
            <a:ext cx="3310128" cy="2880360"/>
          </a:xfrm>
          <a:prstGeom prst="roundRect">
            <a:avLst>
              <a:gd name="adj" fmla="val 3810"/>
            </a:avLst>
          </a:prstGeom>
          <a:solidFill>
            <a:srgbClr val="12263A"/>
          </a:solidFill>
          <a:ln w="11430">
            <a:solidFill>
              <a:srgbClr val="12263A"/>
            </a:solidFill>
            <a:prstDash val="solid"/>
          </a:ln>
        </p:spPr>
      </p:sp>
      <p:sp>
        <p:nvSpPr>
          <p:cNvPr id="31" name="Text 29"/>
          <p:cNvSpPr txBox="1"/>
          <p:nvPr/>
        </p:nvSpPr>
        <p:spPr>
          <a:xfrm>
            <a:off x="8485632" y="1929384"/>
            <a:ext cx="2560320" cy="201168"/>
          </a:xfrm>
          <a:prstGeom prst="rect">
            <a:avLst/>
          </a:prstGeom>
          <a:noFill/>
          <a:ln/>
        </p:spPr>
        <p:txBody>
          <a:bodyPr wrap="square" lIns="0" tIns="0" rIns="0" bIns="0" rtlCol="0" anchor="ctr">
            <a:normAutofit/>
          </a:bodyPr>
          <a:lstStyle/>
          <a:p>
            <a:pPr algn="l" indent="0" marL="0">
              <a:buNone/>
            </a:pPr>
            <a:r>
              <a:rPr lang="en-US" sz="840" b="1" spc="110" kern="0" dirty="0">
                <a:solidFill>
                  <a:srgbClr val="91DCD2"/>
                </a:solidFill>
                <a:latin typeface="Inter" pitchFamily="34" charset="0"/>
                <a:ea typeface="Inter" pitchFamily="34" charset="-122"/>
                <a:cs typeface="Inter" pitchFamily="34" charset="-120"/>
              </a:rPr>
              <a:t>DESIGN TRADE-OFF</a:t>
            </a:r>
            <a:endParaRPr lang="en-US" sz="840" dirty="0"/>
          </a:p>
        </p:txBody>
      </p:sp>
      <p:sp>
        <p:nvSpPr>
          <p:cNvPr id="32" name="Shape 30"/>
          <p:cNvSpPr/>
          <p:nvPr/>
        </p:nvSpPr>
        <p:spPr>
          <a:xfrm>
            <a:off x="8476488" y="2404872"/>
            <a:ext cx="77724" cy="77724"/>
          </a:xfrm>
          <a:prstGeom prst="ellipse">
            <a:avLst/>
          </a:prstGeom>
          <a:solidFill>
            <a:srgbClr val="53B4A8"/>
          </a:solidFill>
          <a:ln w="12700">
            <a:solidFill>
              <a:srgbClr val="53B4A8">
                <a:alpha val="0"/>
              </a:srgbClr>
            </a:solidFill>
            <a:prstDash val="solid"/>
          </a:ln>
        </p:spPr>
      </p:sp>
      <p:sp>
        <p:nvSpPr>
          <p:cNvPr id="33" name="Text 31"/>
          <p:cNvSpPr txBox="1"/>
          <p:nvPr/>
        </p:nvSpPr>
        <p:spPr>
          <a:xfrm>
            <a:off x="8650224" y="2313432"/>
            <a:ext cx="2551176" cy="475488"/>
          </a:xfrm>
          <a:prstGeom prst="rect">
            <a:avLst/>
          </a:prstGeom>
          <a:noFill/>
          <a:ln/>
        </p:spPr>
        <p:txBody>
          <a:bodyPr wrap="square" lIns="0" tIns="0" rIns="0" bIns="0" rtlCol="0" anchor="t">
            <a:normAutofit/>
          </a:bodyPr>
          <a:lstStyle/>
          <a:p>
            <a:pPr algn="l" indent="0" marL="0">
              <a:buNone/>
            </a:pPr>
            <a:r>
              <a:rPr lang="en-US" sz="1000" dirty="0">
                <a:solidFill>
                  <a:srgbClr val="FFFFFF"/>
                </a:solidFill>
                <a:latin typeface="Inter" pitchFamily="34" charset="0"/>
                <a:ea typeface="Inter" pitchFamily="34" charset="-122"/>
                <a:cs typeface="Inter" pitchFamily="34" charset="-120"/>
              </a:rPr>
              <a:t>Stable node references until the node is erased</a:t>
            </a:r>
            <a:endParaRPr lang="en-US" sz="1000" dirty="0"/>
          </a:p>
        </p:txBody>
      </p:sp>
      <p:sp>
        <p:nvSpPr>
          <p:cNvPr id="34" name="Shape 32"/>
          <p:cNvSpPr/>
          <p:nvPr/>
        </p:nvSpPr>
        <p:spPr>
          <a:xfrm>
            <a:off x="8476488" y="2999232"/>
            <a:ext cx="77724" cy="77724"/>
          </a:xfrm>
          <a:prstGeom prst="ellipse">
            <a:avLst/>
          </a:prstGeom>
          <a:solidFill>
            <a:srgbClr val="53B4A8"/>
          </a:solidFill>
          <a:ln w="12700">
            <a:solidFill>
              <a:srgbClr val="53B4A8">
                <a:alpha val="0"/>
              </a:srgbClr>
            </a:solidFill>
            <a:prstDash val="solid"/>
          </a:ln>
        </p:spPr>
      </p:sp>
      <p:sp>
        <p:nvSpPr>
          <p:cNvPr id="35" name="Text 33"/>
          <p:cNvSpPr txBox="1"/>
          <p:nvPr/>
        </p:nvSpPr>
        <p:spPr>
          <a:xfrm>
            <a:off x="8650224" y="2907792"/>
            <a:ext cx="2551176" cy="292608"/>
          </a:xfrm>
          <a:prstGeom prst="rect">
            <a:avLst/>
          </a:prstGeom>
          <a:noFill/>
          <a:ln/>
        </p:spPr>
        <p:txBody>
          <a:bodyPr wrap="square" lIns="0" tIns="0" rIns="0" bIns="0" rtlCol="0" anchor="t">
            <a:normAutofit/>
          </a:bodyPr>
          <a:lstStyle/>
          <a:p>
            <a:pPr algn="l" indent="0" marL="0">
              <a:buNone/>
            </a:pPr>
            <a:r>
              <a:rPr lang="en-US" sz="1000" dirty="0">
                <a:solidFill>
                  <a:srgbClr val="FFFFFF"/>
                </a:solidFill>
                <a:latin typeface="Inter" pitchFamily="34" charset="0"/>
                <a:ea typeface="Inter" pitchFamily="34" charset="-122"/>
                <a:cs typeface="Inter" pitchFamily="34" charset="-120"/>
              </a:rPr>
              <a:t>O(1) insertion at either end</a:t>
            </a:r>
            <a:endParaRPr lang="en-US" sz="1000" dirty="0"/>
          </a:p>
        </p:txBody>
      </p:sp>
      <p:sp>
        <p:nvSpPr>
          <p:cNvPr id="36" name="Shape 34"/>
          <p:cNvSpPr/>
          <p:nvPr/>
        </p:nvSpPr>
        <p:spPr>
          <a:xfrm>
            <a:off x="8476488" y="3419856"/>
            <a:ext cx="77724" cy="77724"/>
          </a:xfrm>
          <a:prstGeom prst="ellipse">
            <a:avLst/>
          </a:prstGeom>
          <a:solidFill>
            <a:srgbClr val="53B4A8"/>
          </a:solidFill>
          <a:ln w="12700">
            <a:solidFill>
              <a:srgbClr val="53B4A8">
                <a:alpha val="0"/>
              </a:srgbClr>
            </a:solidFill>
            <a:prstDash val="solid"/>
          </a:ln>
        </p:spPr>
      </p:sp>
      <p:sp>
        <p:nvSpPr>
          <p:cNvPr id="37" name="Text 35"/>
          <p:cNvSpPr txBox="1"/>
          <p:nvPr/>
        </p:nvSpPr>
        <p:spPr>
          <a:xfrm>
            <a:off x="8650224" y="3328416"/>
            <a:ext cx="2551176" cy="475488"/>
          </a:xfrm>
          <a:prstGeom prst="rect">
            <a:avLst/>
          </a:prstGeom>
          <a:noFill/>
          <a:ln/>
        </p:spPr>
        <p:txBody>
          <a:bodyPr wrap="square" lIns="0" tIns="0" rIns="0" bIns="0" rtlCol="0" anchor="t">
            <a:normAutofit/>
          </a:bodyPr>
          <a:lstStyle/>
          <a:p>
            <a:pPr algn="l" indent="0" marL="0">
              <a:buNone/>
            </a:pPr>
            <a:r>
              <a:rPr lang="en-US" sz="1000" dirty="0">
                <a:solidFill>
                  <a:srgbClr val="FFFFFF"/>
                </a:solidFill>
                <a:latin typeface="Inter" pitchFamily="34" charset="0"/>
                <a:ea typeface="Inter" pitchFamily="34" charset="-122"/>
                <a:cs typeface="Inter" pitchFamily="34" charset="-120"/>
              </a:rPr>
              <a:t>Bidirectional iterators; relinking-based merge sort</a:t>
            </a:r>
            <a:endParaRPr lang="en-US" sz="1000" dirty="0"/>
          </a:p>
        </p:txBody>
      </p:sp>
      <p:sp>
        <p:nvSpPr>
          <p:cNvPr id="38" name="Shape 36"/>
          <p:cNvSpPr/>
          <p:nvPr/>
        </p:nvSpPr>
        <p:spPr>
          <a:xfrm>
            <a:off x="658368" y="4901184"/>
            <a:ext cx="3456432" cy="731520"/>
          </a:xfrm>
          <a:prstGeom prst="roundRect">
            <a:avLst>
              <a:gd name="adj" fmla="val 15000"/>
            </a:avLst>
          </a:prstGeom>
          <a:solidFill>
            <a:srgbClr val="FFFFFF"/>
          </a:solidFill>
          <a:ln w="11430">
            <a:solidFill>
              <a:srgbClr val="DCE5EA"/>
            </a:solidFill>
            <a:prstDash val="solid"/>
          </a:ln>
        </p:spPr>
      </p:sp>
      <p:sp>
        <p:nvSpPr>
          <p:cNvPr id="39" name="Text 37"/>
          <p:cNvSpPr txBox="1"/>
          <p:nvPr/>
        </p:nvSpPr>
        <p:spPr>
          <a:xfrm>
            <a:off x="822960" y="5038344"/>
            <a:ext cx="2148840" cy="182880"/>
          </a:xfrm>
          <a:prstGeom prst="rect">
            <a:avLst/>
          </a:prstGeom>
          <a:noFill/>
          <a:ln/>
        </p:spPr>
        <p:txBody>
          <a:bodyPr wrap="square" lIns="0" tIns="0" rIns="0" bIns="0" rtlCol="0" anchor="ctr">
            <a:normAutofit/>
          </a:bodyPr>
          <a:lstStyle/>
          <a:p>
            <a:pPr algn="l" indent="0" marL="0">
              <a:buNone/>
            </a:pPr>
            <a:r>
              <a:rPr lang="en-US" sz="830" b="1" spc="50" kern="0" dirty="0">
                <a:solidFill>
                  <a:srgbClr val="657585"/>
                </a:solidFill>
                <a:latin typeface="Inter" pitchFamily="34" charset="0"/>
                <a:ea typeface="Inter" pitchFamily="34" charset="-122"/>
                <a:cs typeface="Inter" pitchFamily="34" charset="-120"/>
              </a:rPr>
              <a:t>PUSH FRONT / BACK</a:t>
            </a:r>
            <a:endParaRPr lang="en-US" sz="830" dirty="0"/>
          </a:p>
        </p:txBody>
      </p:sp>
      <p:sp>
        <p:nvSpPr>
          <p:cNvPr id="40" name="Text 38"/>
          <p:cNvSpPr txBox="1"/>
          <p:nvPr/>
        </p:nvSpPr>
        <p:spPr>
          <a:xfrm>
            <a:off x="2898648" y="5020056"/>
            <a:ext cx="1005840" cy="219456"/>
          </a:xfrm>
          <a:prstGeom prst="rect">
            <a:avLst/>
          </a:prstGeom>
          <a:noFill/>
          <a:ln/>
        </p:spPr>
        <p:txBody>
          <a:bodyPr wrap="square" lIns="0" tIns="0" rIns="0" bIns="0" rtlCol="0" anchor="ctr">
            <a:normAutofit/>
          </a:bodyPr>
          <a:lstStyle/>
          <a:p>
            <a:pPr algn="r" indent="0" marL="0">
              <a:buNone/>
            </a:pPr>
            <a:r>
              <a:rPr lang="en-US" sz="1400" b="1" dirty="0">
                <a:solidFill>
                  <a:srgbClr val="16877D"/>
                </a:solidFill>
                <a:latin typeface="Inter" pitchFamily="34" charset="0"/>
                <a:ea typeface="Inter" pitchFamily="34" charset="-122"/>
                <a:cs typeface="Inter" pitchFamily="34" charset="-120"/>
              </a:rPr>
              <a:t>O(1)</a:t>
            </a:r>
            <a:endParaRPr lang="en-US" sz="1400" dirty="0"/>
          </a:p>
        </p:txBody>
      </p:sp>
      <p:sp>
        <p:nvSpPr>
          <p:cNvPr id="41" name="Shape 39"/>
          <p:cNvSpPr/>
          <p:nvPr/>
        </p:nvSpPr>
        <p:spPr>
          <a:xfrm>
            <a:off x="4352544" y="4901184"/>
            <a:ext cx="3456432" cy="731520"/>
          </a:xfrm>
          <a:prstGeom prst="roundRect">
            <a:avLst>
              <a:gd name="adj" fmla="val 15000"/>
            </a:avLst>
          </a:prstGeom>
          <a:solidFill>
            <a:srgbClr val="FFFFFF"/>
          </a:solidFill>
          <a:ln w="11430">
            <a:solidFill>
              <a:srgbClr val="DCE5EA"/>
            </a:solidFill>
            <a:prstDash val="solid"/>
          </a:ln>
        </p:spPr>
      </p:sp>
      <p:sp>
        <p:nvSpPr>
          <p:cNvPr id="42" name="Text 40"/>
          <p:cNvSpPr txBox="1"/>
          <p:nvPr/>
        </p:nvSpPr>
        <p:spPr>
          <a:xfrm>
            <a:off x="4517136" y="5038344"/>
            <a:ext cx="2148840" cy="182880"/>
          </a:xfrm>
          <a:prstGeom prst="rect">
            <a:avLst/>
          </a:prstGeom>
          <a:noFill/>
          <a:ln/>
        </p:spPr>
        <p:txBody>
          <a:bodyPr wrap="square" lIns="0" tIns="0" rIns="0" bIns="0" rtlCol="0" anchor="ctr">
            <a:normAutofit/>
          </a:bodyPr>
          <a:lstStyle/>
          <a:p>
            <a:pPr algn="l" indent="0" marL="0">
              <a:buNone/>
            </a:pPr>
            <a:r>
              <a:rPr lang="en-US" sz="830" b="1" spc="50" kern="0" dirty="0">
                <a:solidFill>
                  <a:srgbClr val="657585"/>
                </a:solidFill>
                <a:latin typeface="Inter" pitchFamily="34" charset="0"/>
                <a:ea typeface="Inter" pitchFamily="34" charset="-122"/>
                <a:cs typeface="Inter" pitchFamily="34" charset="-120"/>
              </a:rPr>
              <a:t>SEARCH / INDEX</a:t>
            </a:r>
            <a:endParaRPr lang="en-US" sz="830" dirty="0"/>
          </a:p>
        </p:txBody>
      </p:sp>
      <p:sp>
        <p:nvSpPr>
          <p:cNvPr id="43" name="Text 41"/>
          <p:cNvSpPr txBox="1"/>
          <p:nvPr/>
        </p:nvSpPr>
        <p:spPr>
          <a:xfrm>
            <a:off x="6592824" y="5020056"/>
            <a:ext cx="1005840" cy="219456"/>
          </a:xfrm>
          <a:prstGeom prst="rect">
            <a:avLst/>
          </a:prstGeom>
          <a:noFill/>
          <a:ln/>
        </p:spPr>
        <p:txBody>
          <a:bodyPr wrap="square" lIns="0" tIns="0" rIns="0" bIns="0" rtlCol="0" anchor="ctr">
            <a:normAutofit/>
          </a:bodyPr>
          <a:lstStyle/>
          <a:p>
            <a:pPr algn="r" indent="0" marL="0">
              <a:buNone/>
            </a:pPr>
            <a:r>
              <a:rPr lang="en-US" sz="1400" b="1" dirty="0">
                <a:solidFill>
                  <a:srgbClr val="E3A34F"/>
                </a:solidFill>
                <a:latin typeface="Inter" pitchFamily="34" charset="0"/>
                <a:ea typeface="Inter" pitchFamily="34" charset="-122"/>
                <a:cs typeface="Inter" pitchFamily="34" charset="-120"/>
              </a:rPr>
              <a:t>O(n)</a:t>
            </a:r>
            <a:endParaRPr lang="en-US" sz="1400" dirty="0"/>
          </a:p>
        </p:txBody>
      </p:sp>
      <p:sp>
        <p:nvSpPr>
          <p:cNvPr id="44" name="Shape 42"/>
          <p:cNvSpPr/>
          <p:nvPr/>
        </p:nvSpPr>
        <p:spPr>
          <a:xfrm>
            <a:off x="8046720" y="4901184"/>
            <a:ext cx="3456432" cy="731520"/>
          </a:xfrm>
          <a:prstGeom prst="roundRect">
            <a:avLst>
              <a:gd name="adj" fmla="val 15000"/>
            </a:avLst>
          </a:prstGeom>
          <a:solidFill>
            <a:srgbClr val="FFFFFF"/>
          </a:solidFill>
          <a:ln w="11430">
            <a:solidFill>
              <a:srgbClr val="DCE5EA"/>
            </a:solidFill>
            <a:prstDash val="solid"/>
          </a:ln>
        </p:spPr>
      </p:sp>
      <p:sp>
        <p:nvSpPr>
          <p:cNvPr id="45" name="Text 43"/>
          <p:cNvSpPr txBox="1"/>
          <p:nvPr/>
        </p:nvSpPr>
        <p:spPr>
          <a:xfrm>
            <a:off x="8211312" y="5038344"/>
            <a:ext cx="2148840" cy="182880"/>
          </a:xfrm>
          <a:prstGeom prst="rect">
            <a:avLst/>
          </a:prstGeom>
          <a:noFill/>
          <a:ln/>
        </p:spPr>
        <p:txBody>
          <a:bodyPr wrap="square" lIns="0" tIns="0" rIns="0" bIns="0" rtlCol="0" anchor="ctr">
            <a:normAutofit/>
          </a:bodyPr>
          <a:lstStyle/>
          <a:p>
            <a:pPr algn="l" indent="0" marL="0">
              <a:buNone/>
            </a:pPr>
            <a:r>
              <a:rPr lang="en-US" sz="830" b="1" spc="50" kern="0" dirty="0">
                <a:solidFill>
                  <a:srgbClr val="657585"/>
                </a:solidFill>
                <a:latin typeface="Inter" pitchFamily="34" charset="0"/>
                <a:ea typeface="Inter" pitchFamily="34" charset="-122"/>
                <a:cs typeface="Inter" pitchFamily="34" charset="-120"/>
              </a:rPr>
              <a:t>MERGE SORT</a:t>
            </a:r>
            <a:endParaRPr lang="en-US" sz="830" dirty="0"/>
          </a:p>
        </p:txBody>
      </p:sp>
      <p:sp>
        <p:nvSpPr>
          <p:cNvPr id="46" name="Text 44"/>
          <p:cNvSpPr txBox="1"/>
          <p:nvPr/>
        </p:nvSpPr>
        <p:spPr>
          <a:xfrm>
            <a:off x="10287000" y="5020056"/>
            <a:ext cx="1005840" cy="219456"/>
          </a:xfrm>
          <a:prstGeom prst="rect">
            <a:avLst/>
          </a:prstGeom>
          <a:noFill/>
          <a:ln/>
        </p:spPr>
        <p:txBody>
          <a:bodyPr wrap="square" lIns="0" tIns="0" rIns="0" bIns="0" rtlCol="0" anchor="ctr">
            <a:normAutofit/>
          </a:bodyPr>
          <a:lstStyle/>
          <a:p>
            <a:pPr algn="r" indent="0" marL="0">
              <a:buNone/>
            </a:pPr>
            <a:r>
              <a:rPr lang="en-US" sz="1400" b="1" dirty="0">
                <a:solidFill>
                  <a:srgbClr val="16877D"/>
                </a:solidFill>
                <a:latin typeface="Inter" pitchFamily="34" charset="0"/>
                <a:ea typeface="Inter" pitchFamily="34" charset="-122"/>
                <a:cs typeface="Inter" pitchFamily="34" charset="-120"/>
              </a:rPr>
              <a:t>O(n log n)</a:t>
            </a:r>
            <a:endParaRPr lang="en-US" sz="1400" dirty="0"/>
          </a:p>
        </p:txBody>
      </p:sp>
      <p:sp>
        <p:nvSpPr>
          <p:cNvPr id="47" name="Text 45"/>
          <p:cNvSpPr txBox="1"/>
          <p:nvPr/>
        </p:nvSpPr>
        <p:spPr>
          <a:xfrm>
            <a:off x="713232" y="5870448"/>
            <a:ext cx="8778240" cy="201168"/>
          </a:xfrm>
          <a:prstGeom prst="rect">
            <a:avLst/>
          </a:prstGeom>
          <a:noFill/>
          <a:ln/>
        </p:spPr>
        <p:txBody>
          <a:bodyPr wrap="square" lIns="0" tIns="0" rIns="0" bIns="0" rtlCol="0" anchor="ctr">
            <a:normAutofit/>
          </a:bodyPr>
          <a:lstStyle/>
          <a:p>
            <a:pPr algn="l" indent="0" marL="0">
              <a:buNone/>
            </a:pPr>
            <a:r>
              <a:rPr lang="en-US" sz="1010" i="1" dirty="0">
                <a:solidFill>
                  <a:srgbClr val="657585"/>
                </a:solidFill>
                <a:latin typeface="Inter" pitchFamily="34" charset="0"/>
                <a:ea typeface="Inter" pitchFamily="34" charset="-122"/>
                <a:cs typeface="Inter" pitchFamily="34" charset="-120"/>
              </a:rPr>
              <a:t>The trade-off: excellent end operations and stable nodes; traversal and lookup remain linear.</a:t>
            </a:r>
            <a:endParaRPr lang="en-US" sz="101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66928" y="347472"/>
            <a:ext cx="50292" cy="210312"/>
          </a:xfrm>
          <a:prstGeom prst="rect">
            <a:avLst/>
          </a:prstGeom>
          <a:solidFill>
            <a:srgbClr val="16877D"/>
          </a:solidFill>
          <a:ln w="12700">
            <a:solidFill>
              <a:srgbClr val="16877D">
                <a:alpha val="0"/>
              </a:srgbClr>
            </a:solidFill>
            <a:prstDash val="solid"/>
          </a:ln>
        </p:spPr>
      </p:sp>
      <p:sp>
        <p:nvSpPr>
          <p:cNvPr id="3" name="Text 1"/>
          <p:cNvSpPr txBox="1"/>
          <p:nvPr/>
        </p:nvSpPr>
        <p:spPr>
          <a:xfrm>
            <a:off x="713232" y="333756"/>
            <a:ext cx="3200400" cy="219456"/>
          </a:xfrm>
          <a:prstGeom prst="rect">
            <a:avLst/>
          </a:prstGeom>
          <a:noFill/>
          <a:ln/>
        </p:spPr>
        <p:txBody>
          <a:bodyPr wrap="square" lIns="0" tIns="0" rIns="0" bIns="0" rtlCol="0" anchor="ctr">
            <a:normAutofit/>
          </a:bodyPr>
          <a:lstStyle/>
          <a:p>
            <a:pPr algn="l" indent="0" marL="0">
              <a:buNone/>
            </a:pPr>
            <a:r>
              <a:rPr lang="en-US" sz="810" b="1" spc="180" kern="0" dirty="0">
                <a:solidFill>
                  <a:srgbClr val="16877D"/>
                </a:solidFill>
                <a:latin typeface="Inter" pitchFamily="34" charset="0"/>
                <a:ea typeface="Inter" pitchFamily="34" charset="-122"/>
                <a:cs typeface="Inter" pitchFamily="34" charset="-120"/>
              </a:rPr>
              <a:t>DESIGN CHOICES</a:t>
            </a:r>
            <a:endParaRPr lang="en-US" sz="810" dirty="0"/>
          </a:p>
        </p:txBody>
      </p:sp>
      <p:sp>
        <p:nvSpPr>
          <p:cNvPr id="4" name="Text 2"/>
          <p:cNvSpPr txBox="1"/>
          <p:nvPr/>
        </p:nvSpPr>
        <p:spPr>
          <a:xfrm>
            <a:off x="566928" y="658368"/>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2263A"/>
                </a:solidFill>
                <a:latin typeface="Inter" pitchFamily="34" charset="0"/>
                <a:ea typeface="Inter" pitchFamily="34" charset="-122"/>
                <a:cs typeface="Inter" pitchFamily="34" charset="-120"/>
              </a:rPr>
              <a:t>Three patterns keep the system open to change</a:t>
            </a:r>
            <a:endParaRPr lang="en-US" sz="2700" dirty="0"/>
          </a:p>
        </p:txBody>
      </p:sp>
      <p:sp>
        <p:nvSpPr>
          <p:cNvPr id="5" name="Text 3"/>
          <p:cNvSpPr txBox="1"/>
          <p:nvPr/>
        </p:nvSpPr>
        <p:spPr>
          <a:xfrm>
            <a:off x="585216" y="1115568"/>
            <a:ext cx="10972800" cy="274320"/>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Patterns are useful here because each removes a specific kind of coupling.</a:t>
            </a:r>
            <a:endParaRPr lang="en-US" sz="1070" dirty="0"/>
          </a:p>
        </p:txBody>
      </p:sp>
      <p:sp>
        <p:nvSpPr>
          <p:cNvPr id="6" name="Shape 4"/>
          <p:cNvSpPr/>
          <p:nvPr/>
        </p:nvSpPr>
        <p:spPr>
          <a:xfrm>
            <a:off x="566928" y="6510528"/>
            <a:ext cx="11119104" cy="0"/>
          </a:xfrm>
          <a:prstGeom prst="line">
            <a:avLst/>
          </a:prstGeom>
          <a:noFill/>
          <a:ln w="10160">
            <a:solidFill>
              <a:srgbClr val="E0E7EB"/>
            </a:solidFill>
            <a:prstDash val="solid"/>
          </a:ln>
        </p:spPr>
      </p:sp>
      <p:sp>
        <p:nvSpPr>
          <p:cNvPr id="7" name="Text 5"/>
          <p:cNvSpPr txBox="1"/>
          <p:nvPr/>
        </p:nvSpPr>
        <p:spPr>
          <a:xfrm>
            <a:off x="566928" y="6565392"/>
            <a:ext cx="5303520" cy="146304"/>
          </a:xfrm>
          <a:prstGeom prst="rect">
            <a:avLst/>
          </a:prstGeom>
          <a:noFill/>
          <a:ln/>
        </p:spPr>
        <p:txBody>
          <a:bodyPr wrap="square" lIns="0" tIns="0" rIns="0" bIns="0" rtlCol="0" anchor="ctr">
            <a:normAutofit/>
          </a:bodyPr>
          <a:lstStyle/>
          <a:p>
            <a:pPr algn="l" indent="0" marL="0">
              <a:buNone/>
            </a:pPr>
            <a:r>
              <a:rPr lang="en-US" sz="750" spc="110" kern="0" dirty="0">
                <a:solidFill>
                  <a:srgbClr val="6B7A88"/>
                </a:solidFill>
                <a:latin typeface="Inter" pitchFamily="34" charset="0"/>
                <a:ea typeface="Inter" pitchFamily="34" charset="-122"/>
                <a:cs typeface="Inter" pitchFamily="34" charset="-120"/>
              </a:rPr>
              <a:t>TITANS  /  LIBRARY MANAGEMENT SYSTEM</a:t>
            </a:r>
            <a:endParaRPr lang="en-US" sz="750" dirty="0"/>
          </a:p>
        </p:txBody>
      </p:sp>
      <p:sp>
        <p:nvSpPr>
          <p:cNvPr id="8" name="Text 6"/>
          <p:cNvSpPr txBox="1"/>
          <p:nvPr/>
        </p:nvSpPr>
        <p:spPr>
          <a:xfrm>
            <a:off x="11109960" y="6556248"/>
            <a:ext cx="502920" cy="164592"/>
          </a:xfrm>
          <a:prstGeom prst="rect">
            <a:avLst/>
          </a:prstGeom>
          <a:noFill/>
          <a:ln/>
        </p:spPr>
        <p:txBody>
          <a:bodyPr wrap="square" lIns="0" tIns="0" rIns="0" bIns="0" rtlCol="0" anchor="ctr">
            <a:normAutofit/>
          </a:bodyPr>
          <a:lstStyle/>
          <a:p>
            <a:pPr algn="r" indent="0" marL="0">
              <a:buNone/>
            </a:pPr>
            <a:r>
              <a:rPr lang="en-US" sz="800" dirty="0">
                <a:solidFill>
                  <a:srgbClr val="6B7A88"/>
                </a:solidFill>
                <a:latin typeface="Inter" pitchFamily="34" charset="0"/>
                <a:ea typeface="Inter" pitchFamily="34" charset="-122"/>
                <a:cs typeface="Inter" pitchFamily="34" charset="-120"/>
              </a:rPr>
              <a:t>08</a:t>
            </a:r>
            <a:endParaRPr lang="en-US" sz="800" dirty="0"/>
          </a:p>
        </p:txBody>
      </p:sp>
      <p:sp>
        <p:nvSpPr>
          <p:cNvPr id="9" name="Shape 7"/>
          <p:cNvSpPr/>
          <p:nvPr/>
        </p:nvSpPr>
        <p:spPr>
          <a:xfrm>
            <a:off x="658368" y="1783080"/>
            <a:ext cx="3255264" cy="3456432"/>
          </a:xfrm>
          <a:prstGeom prst="roundRect">
            <a:avLst>
              <a:gd name="adj" fmla="val 3371"/>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0" name="Shape 8"/>
          <p:cNvSpPr/>
          <p:nvPr/>
        </p:nvSpPr>
        <p:spPr>
          <a:xfrm>
            <a:off x="859536" y="2002536"/>
            <a:ext cx="1847088" cy="274320"/>
          </a:xfrm>
          <a:prstGeom prst="roundRect">
            <a:avLst>
              <a:gd name="adj" fmla="val 33333"/>
            </a:avLst>
          </a:prstGeom>
          <a:solidFill>
            <a:srgbClr val="E1F3F0"/>
          </a:solidFill>
          <a:ln w="12700">
            <a:solidFill>
              <a:srgbClr val="E1F3F0">
                <a:alpha val="0"/>
              </a:srgbClr>
            </a:solidFill>
            <a:prstDash val="solid"/>
          </a:ln>
        </p:spPr>
      </p:sp>
      <p:sp>
        <p:nvSpPr>
          <p:cNvPr id="11" name="Text 9"/>
          <p:cNvSpPr txBox="1"/>
          <p:nvPr/>
        </p:nvSpPr>
        <p:spPr>
          <a:xfrm>
            <a:off x="914400" y="2016252"/>
            <a:ext cx="1737360" cy="242316"/>
          </a:xfrm>
          <a:prstGeom prst="rect">
            <a:avLst/>
          </a:prstGeom>
          <a:noFill/>
          <a:ln/>
        </p:spPr>
        <p:txBody>
          <a:bodyPr wrap="square" lIns="0" tIns="0" rIns="0" bIns="0" rtlCol="0" anchor="ctr">
            <a:normAutofit/>
          </a:bodyPr>
          <a:lstStyle/>
          <a:p>
            <a:pPr algn="ctr" indent="0" marL="0">
              <a:buNone/>
            </a:pPr>
            <a:r>
              <a:rPr lang="en-US" sz="760" b="1" spc="30" kern="0" dirty="0">
                <a:solidFill>
                  <a:srgbClr val="16877D"/>
                </a:solidFill>
                <a:latin typeface="Inter" pitchFamily="34" charset="0"/>
                <a:ea typeface="Inter" pitchFamily="34" charset="-122"/>
                <a:cs typeface="Inter" pitchFamily="34" charset="-120"/>
              </a:rPr>
              <a:t>SIMPLIFY CALLERS</a:t>
            </a:r>
            <a:endParaRPr lang="en-US" sz="760" dirty="0"/>
          </a:p>
        </p:txBody>
      </p:sp>
      <p:sp>
        <p:nvSpPr>
          <p:cNvPr id="12" name="Text 10"/>
          <p:cNvSpPr txBox="1"/>
          <p:nvPr/>
        </p:nvSpPr>
        <p:spPr>
          <a:xfrm>
            <a:off x="859536" y="2441448"/>
            <a:ext cx="2788920" cy="429768"/>
          </a:xfrm>
          <a:prstGeom prst="rect">
            <a:avLst/>
          </a:prstGeom>
          <a:noFill/>
          <a:ln/>
        </p:spPr>
        <p:txBody>
          <a:bodyPr wrap="square" lIns="0" tIns="0" rIns="0" bIns="0" rtlCol="0" anchor="ctr">
            <a:normAutofit/>
          </a:bodyPr>
          <a:lstStyle/>
          <a:p>
            <a:pPr algn="l" indent="0" marL="0">
              <a:buNone/>
            </a:pPr>
            <a:r>
              <a:rPr lang="en-US" sz="2300" b="1" dirty="0">
                <a:solidFill>
                  <a:srgbClr val="12263A"/>
                </a:solidFill>
                <a:latin typeface="Inter" pitchFamily="34" charset="0"/>
                <a:ea typeface="Inter" pitchFamily="34" charset="-122"/>
                <a:cs typeface="Inter" pitchFamily="34" charset="-120"/>
              </a:rPr>
              <a:t>Facade</a:t>
            </a:r>
            <a:endParaRPr lang="en-US" sz="2300" dirty="0"/>
          </a:p>
        </p:txBody>
      </p:sp>
      <p:sp>
        <p:nvSpPr>
          <p:cNvPr id="13" name="Text 11"/>
          <p:cNvSpPr txBox="1"/>
          <p:nvPr/>
        </p:nvSpPr>
        <p:spPr>
          <a:xfrm>
            <a:off x="859536" y="2916936"/>
            <a:ext cx="2788920" cy="384048"/>
          </a:xfrm>
          <a:prstGeom prst="rect">
            <a:avLst/>
          </a:prstGeom>
          <a:noFill/>
          <a:ln/>
        </p:spPr>
        <p:txBody>
          <a:bodyPr wrap="square" lIns="0" tIns="0" rIns="0" bIns="0" rtlCol="0" anchor="t">
            <a:normAutofit/>
          </a:bodyPr>
          <a:lstStyle/>
          <a:p>
            <a:pPr algn="l" indent="0" marL="0">
              <a:buNone/>
            </a:pPr>
            <a:r>
              <a:rPr lang="en-US" sz="1000" b="1" dirty="0">
                <a:solidFill>
                  <a:srgbClr val="16877D"/>
                </a:solidFill>
                <a:latin typeface="DejaVu Sans Mono" pitchFamily="34" charset="0"/>
                <a:ea typeface="DejaVu Sans Mono" pitchFamily="34" charset="-122"/>
                <a:cs typeface="DejaVu Sans Mono" pitchFamily="34" charset="-120"/>
              </a:rPr>
              <a:t>LibraryService</a:t>
            </a:r>
            <a:endParaRPr lang="en-US" sz="1000" dirty="0"/>
          </a:p>
        </p:txBody>
      </p:sp>
      <p:sp>
        <p:nvSpPr>
          <p:cNvPr id="14" name="Shape 12"/>
          <p:cNvSpPr/>
          <p:nvPr/>
        </p:nvSpPr>
        <p:spPr>
          <a:xfrm>
            <a:off x="859536" y="3438144"/>
            <a:ext cx="2816352" cy="0"/>
          </a:xfrm>
          <a:prstGeom prst="line">
            <a:avLst/>
          </a:prstGeom>
          <a:noFill/>
          <a:ln w="11430">
            <a:solidFill>
              <a:srgbClr val="DCE5EA"/>
            </a:solidFill>
            <a:prstDash val="solid"/>
          </a:ln>
        </p:spPr>
      </p:sp>
      <p:sp>
        <p:nvSpPr>
          <p:cNvPr id="15" name="Text 13"/>
          <p:cNvSpPr txBox="1"/>
          <p:nvPr/>
        </p:nvSpPr>
        <p:spPr>
          <a:xfrm>
            <a:off x="859536" y="3602736"/>
            <a:ext cx="1920240" cy="164592"/>
          </a:xfrm>
          <a:prstGeom prst="rect">
            <a:avLst/>
          </a:prstGeom>
          <a:noFill/>
          <a:ln/>
        </p:spPr>
        <p:txBody>
          <a:bodyPr wrap="square" lIns="0" tIns="0" rIns="0" bIns="0" rtlCol="0" anchor="ctr">
            <a:normAutofit/>
          </a:bodyPr>
          <a:lstStyle/>
          <a:p>
            <a:pPr algn="l" indent="0" marL="0">
              <a:buNone/>
            </a:pPr>
            <a:r>
              <a:rPr lang="en-US" sz="780" b="1" spc="80" kern="0" dirty="0">
                <a:solidFill>
                  <a:srgbClr val="657585"/>
                </a:solidFill>
                <a:latin typeface="Inter" pitchFamily="34" charset="0"/>
                <a:ea typeface="Inter" pitchFamily="34" charset="-122"/>
                <a:cs typeface="Inter" pitchFamily="34" charset="-120"/>
              </a:rPr>
              <a:t>DESIGN PRESSURE</a:t>
            </a:r>
            <a:endParaRPr lang="en-US" sz="780" dirty="0"/>
          </a:p>
        </p:txBody>
      </p:sp>
      <p:sp>
        <p:nvSpPr>
          <p:cNvPr id="16" name="Text 14"/>
          <p:cNvSpPr txBox="1"/>
          <p:nvPr/>
        </p:nvSpPr>
        <p:spPr>
          <a:xfrm>
            <a:off x="859536" y="3822192"/>
            <a:ext cx="2816352" cy="493776"/>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Callers should not coordinate every rule and component.</a:t>
            </a:r>
            <a:endParaRPr lang="en-US" sz="1020" dirty="0"/>
          </a:p>
        </p:txBody>
      </p:sp>
      <p:sp>
        <p:nvSpPr>
          <p:cNvPr id="17" name="Text 15"/>
          <p:cNvSpPr txBox="1"/>
          <p:nvPr/>
        </p:nvSpPr>
        <p:spPr>
          <a:xfrm>
            <a:off x="859536" y="4407408"/>
            <a:ext cx="1097280" cy="164592"/>
          </a:xfrm>
          <a:prstGeom prst="rect">
            <a:avLst/>
          </a:prstGeom>
          <a:noFill/>
          <a:ln/>
        </p:spPr>
        <p:txBody>
          <a:bodyPr wrap="square" lIns="0" tIns="0" rIns="0" bIns="0" rtlCol="0" anchor="ctr">
            <a:normAutofit/>
          </a:bodyPr>
          <a:lstStyle/>
          <a:p>
            <a:pPr algn="l" indent="0" marL="0">
              <a:buNone/>
            </a:pPr>
            <a:r>
              <a:rPr lang="en-US" sz="780" b="1" spc="80" kern="0" dirty="0">
                <a:solidFill>
                  <a:srgbClr val="16877D"/>
                </a:solidFill>
                <a:latin typeface="Inter" pitchFamily="34" charset="0"/>
                <a:ea typeface="Inter" pitchFamily="34" charset="-122"/>
                <a:cs typeface="Inter" pitchFamily="34" charset="-120"/>
              </a:rPr>
              <a:t>BENEFIT</a:t>
            </a:r>
            <a:endParaRPr lang="en-US" sz="780" dirty="0"/>
          </a:p>
        </p:txBody>
      </p:sp>
      <p:sp>
        <p:nvSpPr>
          <p:cNvPr id="18" name="Text 16"/>
          <p:cNvSpPr txBox="1"/>
          <p:nvPr/>
        </p:nvSpPr>
        <p:spPr>
          <a:xfrm>
            <a:off x="859536" y="4608576"/>
            <a:ext cx="2816352" cy="475488"/>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One service API orchestrates validation, state changes and queries.</a:t>
            </a:r>
            <a:endParaRPr lang="en-US" sz="1020" dirty="0"/>
          </a:p>
        </p:txBody>
      </p:sp>
      <p:sp>
        <p:nvSpPr>
          <p:cNvPr id="19" name="Shape 17"/>
          <p:cNvSpPr/>
          <p:nvPr/>
        </p:nvSpPr>
        <p:spPr>
          <a:xfrm>
            <a:off x="4462272" y="1783080"/>
            <a:ext cx="3255264" cy="3456432"/>
          </a:xfrm>
          <a:prstGeom prst="roundRect">
            <a:avLst>
              <a:gd name="adj" fmla="val 3371"/>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20" name="Shape 18"/>
          <p:cNvSpPr/>
          <p:nvPr/>
        </p:nvSpPr>
        <p:spPr>
          <a:xfrm>
            <a:off x="4663440" y="2002536"/>
            <a:ext cx="1847088" cy="274320"/>
          </a:xfrm>
          <a:prstGeom prst="roundRect">
            <a:avLst>
              <a:gd name="adj" fmla="val 33333"/>
            </a:avLst>
          </a:prstGeom>
          <a:solidFill>
            <a:srgbClr val="E9F0F6"/>
          </a:solidFill>
          <a:ln w="12700">
            <a:solidFill>
              <a:srgbClr val="E9F0F6">
                <a:alpha val="0"/>
              </a:srgbClr>
            </a:solidFill>
            <a:prstDash val="solid"/>
          </a:ln>
        </p:spPr>
      </p:sp>
      <p:sp>
        <p:nvSpPr>
          <p:cNvPr id="21" name="Text 19"/>
          <p:cNvSpPr txBox="1"/>
          <p:nvPr/>
        </p:nvSpPr>
        <p:spPr>
          <a:xfrm>
            <a:off x="4718304" y="2016252"/>
            <a:ext cx="1737360" cy="242316"/>
          </a:xfrm>
          <a:prstGeom prst="rect">
            <a:avLst/>
          </a:prstGeom>
          <a:noFill/>
          <a:ln/>
        </p:spPr>
        <p:txBody>
          <a:bodyPr wrap="square" lIns="0" tIns="0" rIns="0" bIns="0" rtlCol="0" anchor="ctr">
            <a:normAutofit/>
          </a:bodyPr>
          <a:lstStyle/>
          <a:p>
            <a:pPr algn="ctr" indent="0" marL="0">
              <a:buNone/>
            </a:pPr>
            <a:r>
              <a:rPr lang="en-US" sz="760" b="1" spc="30" kern="0" dirty="0">
                <a:solidFill>
                  <a:srgbClr val="16877D"/>
                </a:solidFill>
                <a:latin typeface="Inter" pitchFamily="34" charset="0"/>
                <a:ea typeface="Inter" pitchFamily="34" charset="-122"/>
                <a:cs typeface="Inter" pitchFamily="34" charset="-120"/>
              </a:rPr>
              <a:t>SWAP ALGORITHMS</a:t>
            </a:r>
            <a:endParaRPr lang="en-US" sz="760" dirty="0"/>
          </a:p>
        </p:txBody>
      </p:sp>
      <p:sp>
        <p:nvSpPr>
          <p:cNvPr id="22" name="Text 20"/>
          <p:cNvSpPr txBox="1"/>
          <p:nvPr/>
        </p:nvSpPr>
        <p:spPr>
          <a:xfrm>
            <a:off x="4663440" y="2441448"/>
            <a:ext cx="2788920" cy="429768"/>
          </a:xfrm>
          <a:prstGeom prst="rect">
            <a:avLst/>
          </a:prstGeom>
          <a:noFill/>
          <a:ln/>
        </p:spPr>
        <p:txBody>
          <a:bodyPr wrap="square" lIns="0" tIns="0" rIns="0" bIns="0" rtlCol="0" anchor="ctr">
            <a:normAutofit/>
          </a:bodyPr>
          <a:lstStyle/>
          <a:p>
            <a:pPr algn="l" indent="0" marL="0">
              <a:buNone/>
            </a:pPr>
            <a:r>
              <a:rPr lang="en-US" sz="2300" b="1" dirty="0">
                <a:solidFill>
                  <a:srgbClr val="12263A"/>
                </a:solidFill>
                <a:latin typeface="Inter" pitchFamily="34" charset="0"/>
                <a:ea typeface="Inter" pitchFamily="34" charset="-122"/>
                <a:cs typeface="Inter" pitchFamily="34" charset="-120"/>
              </a:rPr>
              <a:t>Strategy</a:t>
            </a:r>
            <a:endParaRPr lang="en-US" sz="2300" dirty="0"/>
          </a:p>
        </p:txBody>
      </p:sp>
      <p:sp>
        <p:nvSpPr>
          <p:cNvPr id="23" name="Text 21"/>
          <p:cNvSpPr txBox="1"/>
          <p:nvPr/>
        </p:nvSpPr>
        <p:spPr>
          <a:xfrm>
            <a:off x="4663440" y="2916936"/>
            <a:ext cx="2788920" cy="384048"/>
          </a:xfrm>
          <a:prstGeom prst="rect">
            <a:avLst/>
          </a:prstGeom>
          <a:noFill/>
          <a:ln/>
        </p:spPr>
        <p:txBody>
          <a:bodyPr wrap="square" lIns="0" tIns="0" rIns="0" bIns="0" rtlCol="0" anchor="t">
            <a:normAutofit/>
          </a:bodyPr>
          <a:lstStyle/>
          <a:p>
            <a:pPr algn="l" indent="0" marL="0">
              <a:buNone/>
            </a:pPr>
            <a:r>
              <a:rPr lang="en-US" sz="1000" b="1" dirty="0">
                <a:solidFill>
                  <a:srgbClr val="16877D"/>
                </a:solidFill>
                <a:latin typeface="DejaVu Sans Mono" pitchFamily="34" charset="0"/>
                <a:ea typeface="DejaVu Sans Mono" pitchFamily="34" charset="-122"/>
                <a:cs typeface="DejaVu Sans Mono" pitchFamily="34" charset="-120"/>
              </a:rPr>
              <a:t>SearchStrategy / SortStrategy</a:t>
            </a:r>
            <a:endParaRPr lang="en-US" sz="1000" dirty="0"/>
          </a:p>
        </p:txBody>
      </p:sp>
      <p:sp>
        <p:nvSpPr>
          <p:cNvPr id="24" name="Shape 22"/>
          <p:cNvSpPr/>
          <p:nvPr/>
        </p:nvSpPr>
        <p:spPr>
          <a:xfrm>
            <a:off x="4663440" y="3438144"/>
            <a:ext cx="2816352" cy="0"/>
          </a:xfrm>
          <a:prstGeom prst="line">
            <a:avLst/>
          </a:prstGeom>
          <a:noFill/>
          <a:ln w="11430">
            <a:solidFill>
              <a:srgbClr val="DCE5EA"/>
            </a:solidFill>
            <a:prstDash val="solid"/>
          </a:ln>
        </p:spPr>
      </p:sp>
      <p:sp>
        <p:nvSpPr>
          <p:cNvPr id="25" name="Text 23"/>
          <p:cNvSpPr txBox="1"/>
          <p:nvPr/>
        </p:nvSpPr>
        <p:spPr>
          <a:xfrm>
            <a:off x="4663440" y="3602736"/>
            <a:ext cx="1920240" cy="164592"/>
          </a:xfrm>
          <a:prstGeom prst="rect">
            <a:avLst/>
          </a:prstGeom>
          <a:noFill/>
          <a:ln/>
        </p:spPr>
        <p:txBody>
          <a:bodyPr wrap="square" lIns="0" tIns="0" rIns="0" bIns="0" rtlCol="0" anchor="ctr">
            <a:normAutofit/>
          </a:bodyPr>
          <a:lstStyle/>
          <a:p>
            <a:pPr algn="l" indent="0" marL="0">
              <a:buNone/>
            </a:pPr>
            <a:r>
              <a:rPr lang="en-US" sz="780" b="1" spc="80" kern="0" dirty="0">
                <a:solidFill>
                  <a:srgbClr val="657585"/>
                </a:solidFill>
                <a:latin typeface="Inter" pitchFamily="34" charset="0"/>
                <a:ea typeface="Inter" pitchFamily="34" charset="-122"/>
                <a:cs typeface="Inter" pitchFamily="34" charset="-120"/>
              </a:rPr>
              <a:t>DESIGN PRESSURE</a:t>
            </a:r>
            <a:endParaRPr lang="en-US" sz="780" dirty="0"/>
          </a:p>
        </p:txBody>
      </p:sp>
      <p:sp>
        <p:nvSpPr>
          <p:cNvPr id="26" name="Text 24"/>
          <p:cNvSpPr txBox="1"/>
          <p:nvPr/>
        </p:nvSpPr>
        <p:spPr>
          <a:xfrm>
            <a:off x="4663440" y="3822192"/>
            <a:ext cx="2816352" cy="493776"/>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Search and sort options should not grow into one large conditional.</a:t>
            </a:r>
            <a:endParaRPr lang="en-US" sz="1020" dirty="0"/>
          </a:p>
        </p:txBody>
      </p:sp>
      <p:sp>
        <p:nvSpPr>
          <p:cNvPr id="27" name="Text 25"/>
          <p:cNvSpPr txBox="1"/>
          <p:nvPr/>
        </p:nvSpPr>
        <p:spPr>
          <a:xfrm>
            <a:off x="4663440" y="4407408"/>
            <a:ext cx="1097280" cy="164592"/>
          </a:xfrm>
          <a:prstGeom prst="rect">
            <a:avLst/>
          </a:prstGeom>
          <a:noFill/>
          <a:ln/>
        </p:spPr>
        <p:txBody>
          <a:bodyPr wrap="square" lIns="0" tIns="0" rIns="0" bIns="0" rtlCol="0" anchor="ctr">
            <a:normAutofit/>
          </a:bodyPr>
          <a:lstStyle/>
          <a:p>
            <a:pPr algn="l" indent="0" marL="0">
              <a:buNone/>
            </a:pPr>
            <a:r>
              <a:rPr lang="en-US" sz="780" b="1" spc="80" kern="0" dirty="0">
                <a:solidFill>
                  <a:srgbClr val="16877D"/>
                </a:solidFill>
                <a:latin typeface="Inter" pitchFamily="34" charset="0"/>
                <a:ea typeface="Inter" pitchFamily="34" charset="-122"/>
                <a:cs typeface="Inter" pitchFamily="34" charset="-120"/>
              </a:rPr>
              <a:t>BENEFIT</a:t>
            </a:r>
            <a:endParaRPr lang="en-US" sz="780" dirty="0"/>
          </a:p>
        </p:txBody>
      </p:sp>
      <p:sp>
        <p:nvSpPr>
          <p:cNvPr id="28" name="Text 26"/>
          <p:cNvSpPr txBox="1"/>
          <p:nvPr/>
        </p:nvSpPr>
        <p:spPr>
          <a:xfrm>
            <a:off x="4663440" y="4608576"/>
            <a:ext cx="2816352" cy="475488"/>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New criteria can be added with limited changes to orchestration.</a:t>
            </a:r>
            <a:endParaRPr lang="en-US" sz="1020" dirty="0"/>
          </a:p>
        </p:txBody>
      </p:sp>
      <p:sp>
        <p:nvSpPr>
          <p:cNvPr id="29" name="Shape 27"/>
          <p:cNvSpPr/>
          <p:nvPr/>
        </p:nvSpPr>
        <p:spPr>
          <a:xfrm>
            <a:off x="8266176" y="1783080"/>
            <a:ext cx="3255264" cy="3456432"/>
          </a:xfrm>
          <a:prstGeom prst="roundRect">
            <a:avLst>
              <a:gd name="adj" fmla="val 3371"/>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30" name="Shape 28"/>
          <p:cNvSpPr/>
          <p:nvPr/>
        </p:nvSpPr>
        <p:spPr>
          <a:xfrm>
            <a:off x="8467344" y="2002536"/>
            <a:ext cx="1847088" cy="274320"/>
          </a:xfrm>
          <a:prstGeom prst="roundRect">
            <a:avLst>
              <a:gd name="adj" fmla="val 33333"/>
            </a:avLst>
          </a:prstGeom>
          <a:solidFill>
            <a:srgbClr val="FFF2DE"/>
          </a:solidFill>
          <a:ln w="12700">
            <a:solidFill>
              <a:srgbClr val="FFF2DE">
                <a:alpha val="0"/>
              </a:srgbClr>
            </a:solidFill>
            <a:prstDash val="solid"/>
          </a:ln>
        </p:spPr>
      </p:sp>
      <p:sp>
        <p:nvSpPr>
          <p:cNvPr id="31" name="Text 29"/>
          <p:cNvSpPr txBox="1"/>
          <p:nvPr/>
        </p:nvSpPr>
        <p:spPr>
          <a:xfrm>
            <a:off x="8522208" y="2016252"/>
            <a:ext cx="1737360" cy="242316"/>
          </a:xfrm>
          <a:prstGeom prst="rect">
            <a:avLst/>
          </a:prstGeom>
          <a:noFill/>
          <a:ln/>
        </p:spPr>
        <p:txBody>
          <a:bodyPr wrap="square" lIns="0" tIns="0" rIns="0" bIns="0" rtlCol="0" anchor="ctr">
            <a:normAutofit/>
          </a:bodyPr>
          <a:lstStyle/>
          <a:p>
            <a:pPr algn="ctr" indent="0" marL="0">
              <a:buNone/>
            </a:pPr>
            <a:r>
              <a:rPr lang="en-US" sz="760" b="1" spc="30" kern="0" dirty="0">
                <a:solidFill>
                  <a:srgbClr val="94621D"/>
                </a:solidFill>
                <a:latin typeface="Inter" pitchFamily="34" charset="0"/>
                <a:ea typeface="Inter" pitchFamily="34" charset="-122"/>
                <a:cs typeface="Inter" pitchFamily="34" charset="-120"/>
              </a:rPr>
              <a:t>HIDE STORAGE</a:t>
            </a:r>
            <a:endParaRPr lang="en-US" sz="760" dirty="0"/>
          </a:p>
        </p:txBody>
      </p:sp>
      <p:sp>
        <p:nvSpPr>
          <p:cNvPr id="32" name="Text 30"/>
          <p:cNvSpPr txBox="1"/>
          <p:nvPr/>
        </p:nvSpPr>
        <p:spPr>
          <a:xfrm>
            <a:off x="8467344" y="2441448"/>
            <a:ext cx="2788920" cy="429768"/>
          </a:xfrm>
          <a:prstGeom prst="rect">
            <a:avLst/>
          </a:prstGeom>
          <a:noFill/>
          <a:ln/>
        </p:spPr>
        <p:txBody>
          <a:bodyPr wrap="square" lIns="0" tIns="0" rIns="0" bIns="0" rtlCol="0" anchor="ctr">
            <a:normAutofit/>
          </a:bodyPr>
          <a:lstStyle/>
          <a:p>
            <a:pPr algn="l" indent="0" marL="0">
              <a:buNone/>
            </a:pPr>
            <a:r>
              <a:rPr lang="en-US" sz="2300" b="1" dirty="0">
                <a:solidFill>
                  <a:srgbClr val="12263A"/>
                </a:solidFill>
                <a:latin typeface="Inter" pitchFamily="34" charset="0"/>
                <a:ea typeface="Inter" pitchFamily="34" charset="-122"/>
                <a:cs typeface="Inter" pitchFamily="34" charset="-120"/>
              </a:rPr>
              <a:t>Repository</a:t>
            </a:r>
            <a:endParaRPr lang="en-US" sz="2300" dirty="0"/>
          </a:p>
        </p:txBody>
      </p:sp>
      <p:sp>
        <p:nvSpPr>
          <p:cNvPr id="33" name="Text 31"/>
          <p:cNvSpPr txBox="1"/>
          <p:nvPr/>
        </p:nvSpPr>
        <p:spPr>
          <a:xfrm>
            <a:off x="8467344" y="2916936"/>
            <a:ext cx="2788920" cy="384048"/>
          </a:xfrm>
          <a:prstGeom prst="rect">
            <a:avLst/>
          </a:prstGeom>
          <a:noFill/>
          <a:ln/>
        </p:spPr>
        <p:txBody>
          <a:bodyPr wrap="square" lIns="0" tIns="0" rIns="0" bIns="0" rtlCol="0" anchor="t">
            <a:normAutofit/>
          </a:bodyPr>
          <a:lstStyle/>
          <a:p>
            <a:pPr algn="l" indent="0" marL="0">
              <a:buNone/>
            </a:pPr>
            <a:r>
              <a:rPr lang="en-US" sz="1000" b="1" dirty="0">
                <a:solidFill>
                  <a:srgbClr val="16877D"/>
                </a:solidFill>
                <a:latin typeface="DejaVu Sans Mono" pitchFamily="34" charset="0"/>
                <a:ea typeface="DejaVu Sans Mono" pitchFamily="34" charset="-122"/>
                <a:cs typeface="DejaVu Sans Mono" pitchFamily="34" charset="-120"/>
              </a:rPr>
              <a:t>ILibraryRepository</a:t>
            </a:r>
            <a:endParaRPr lang="en-US" sz="1000" dirty="0"/>
          </a:p>
        </p:txBody>
      </p:sp>
      <p:sp>
        <p:nvSpPr>
          <p:cNvPr id="34" name="Shape 32"/>
          <p:cNvSpPr/>
          <p:nvPr/>
        </p:nvSpPr>
        <p:spPr>
          <a:xfrm>
            <a:off x="8467344" y="3438144"/>
            <a:ext cx="2816352" cy="0"/>
          </a:xfrm>
          <a:prstGeom prst="line">
            <a:avLst/>
          </a:prstGeom>
          <a:noFill/>
          <a:ln w="11430">
            <a:solidFill>
              <a:srgbClr val="DCE5EA"/>
            </a:solidFill>
            <a:prstDash val="solid"/>
          </a:ln>
        </p:spPr>
      </p:sp>
      <p:sp>
        <p:nvSpPr>
          <p:cNvPr id="35" name="Text 33"/>
          <p:cNvSpPr txBox="1"/>
          <p:nvPr/>
        </p:nvSpPr>
        <p:spPr>
          <a:xfrm>
            <a:off x="8467344" y="3602736"/>
            <a:ext cx="1920240" cy="164592"/>
          </a:xfrm>
          <a:prstGeom prst="rect">
            <a:avLst/>
          </a:prstGeom>
          <a:noFill/>
          <a:ln/>
        </p:spPr>
        <p:txBody>
          <a:bodyPr wrap="square" lIns="0" tIns="0" rIns="0" bIns="0" rtlCol="0" anchor="ctr">
            <a:normAutofit/>
          </a:bodyPr>
          <a:lstStyle/>
          <a:p>
            <a:pPr algn="l" indent="0" marL="0">
              <a:buNone/>
            </a:pPr>
            <a:r>
              <a:rPr lang="en-US" sz="780" b="1" spc="80" kern="0" dirty="0">
                <a:solidFill>
                  <a:srgbClr val="657585"/>
                </a:solidFill>
                <a:latin typeface="Inter" pitchFamily="34" charset="0"/>
                <a:ea typeface="Inter" pitchFamily="34" charset="-122"/>
                <a:cs typeface="Inter" pitchFamily="34" charset="-120"/>
              </a:rPr>
              <a:t>DESIGN PRESSURE</a:t>
            </a:r>
            <a:endParaRPr lang="en-US" sz="780" dirty="0"/>
          </a:p>
        </p:txBody>
      </p:sp>
      <p:sp>
        <p:nvSpPr>
          <p:cNvPr id="36" name="Text 34"/>
          <p:cNvSpPr txBox="1"/>
          <p:nvPr/>
        </p:nvSpPr>
        <p:spPr>
          <a:xfrm>
            <a:off x="8467344" y="3822192"/>
            <a:ext cx="2816352" cy="493776"/>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Business logic should not depend on SQL statements.</a:t>
            </a:r>
            <a:endParaRPr lang="en-US" sz="1020" dirty="0"/>
          </a:p>
        </p:txBody>
      </p:sp>
      <p:sp>
        <p:nvSpPr>
          <p:cNvPr id="37" name="Text 35"/>
          <p:cNvSpPr txBox="1"/>
          <p:nvPr/>
        </p:nvSpPr>
        <p:spPr>
          <a:xfrm>
            <a:off x="8467344" y="4407408"/>
            <a:ext cx="1097280" cy="164592"/>
          </a:xfrm>
          <a:prstGeom prst="rect">
            <a:avLst/>
          </a:prstGeom>
          <a:noFill/>
          <a:ln/>
        </p:spPr>
        <p:txBody>
          <a:bodyPr wrap="square" lIns="0" tIns="0" rIns="0" bIns="0" rtlCol="0" anchor="ctr">
            <a:normAutofit/>
          </a:bodyPr>
          <a:lstStyle/>
          <a:p>
            <a:pPr algn="l" indent="0" marL="0">
              <a:buNone/>
            </a:pPr>
            <a:r>
              <a:rPr lang="en-US" sz="780" b="1" spc="80" kern="0" dirty="0">
                <a:solidFill>
                  <a:srgbClr val="16877D"/>
                </a:solidFill>
                <a:latin typeface="Inter" pitchFamily="34" charset="0"/>
                <a:ea typeface="Inter" pitchFamily="34" charset="-122"/>
                <a:cs typeface="Inter" pitchFamily="34" charset="-120"/>
              </a:rPr>
              <a:t>BENEFIT</a:t>
            </a:r>
            <a:endParaRPr lang="en-US" sz="780" dirty="0"/>
          </a:p>
        </p:txBody>
      </p:sp>
      <p:sp>
        <p:nvSpPr>
          <p:cNvPr id="38" name="Text 36"/>
          <p:cNvSpPr txBox="1"/>
          <p:nvPr/>
        </p:nvSpPr>
        <p:spPr>
          <a:xfrm>
            <a:off x="8467344" y="4608576"/>
            <a:ext cx="2816352" cy="475488"/>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SQLite storage can be replaced or bypassed in non-persistent runs.</a:t>
            </a:r>
            <a:endParaRPr lang="en-US" sz="1020" dirty="0"/>
          </a:p>
        </p:txBody>
      </p:sp>
      <p:sp>
        <p:nvSpPr>
          <p:cNvPr id="39" name="Shape 37"/>
          <p:cNvSpPr/>
          <p:nvPr/>
        </p:nvSpPr>
        <p:spPr>
          <a:xfrm>
            <a:off x="658368" y="5486400"/>
            <a:ext cx="10863072" cy="576072"/>
          </a:xfrm>
          <a:prstGeom prst="roundRect">
            <a:avLst>
              <a:gd name="adj" fmla="val 19048"/>
            </a:avLst>
          </a:prstGeom>
          <a:solidFill>
            <a:srgbClr val="12263A"/>
          </a:solidFill>
          <a:ln w="11430">
            <a:solidFill>
              <a:srgbClr val="12263A"/>
            </a:solidFill>
            <a:prstDash val="solid"/>
          </a:ln>
        </p:spPr>
      </p:sp>
      <p:sp>
        <p:nvSpPr>
          <p:cNvPr id="40" name="Text 38"/>
          <p:cNvSpPr txBox="1"/>
          <p:nvPr/>
        </p:nvSpPr>
        <p:spPr>
          <a:xfrm>
            <a:off x="896112" y="5641848"/>
            <a:ext cx="1627632" cy="164592"/>
          </a:xfrm>
          <a:prstGeom prst="rect">
            <a:avLst/>
          </a:prstGeom>
          <a:noFill/>
          <a:ln/>
        </p:spPr>
        <p:txBody>
          <a:bodyPr wrap="square" lIns="0" tIns="0" rIns="0" bIns="0" rtlCol="0" anchor="ctr">
            <a:normAutofit/>
          </a:bodyPr>
          <a:lstStyle/>
          <a:p>
            <a:pPr algn="l" indent="0" marL="0">
              <a:buNone/>
            </a:pPr>
            <a:r>
              <a:rPr lang="en-US" sz="920" b="1" dirty="0">
                <a:solidFill>
                  <a:srgbClr val="9FE1D8"/>
                </a:solidFill>
                <a:latin typeface="Inter" pitchFamily="34" charset="0"/>
                <a:ea typeface="Inter" pitchFamily="34" charset="-122"/>
                <a:cs typeface="Inter" pitchFamily="34" charset="-120"/>
              </a:rPr>
              <a:t>Supporting techniques</a:t>
            </a:r>
            <a:endParaRPr lang="en-US" sz="920" dirty="0"/>
          </a:p>
        </p:txBody>
      </p:sp>
      <p:sp>
        <p:nvSpPr>
          <p:cNvPr id="41" name="Text 39"/>
          <p:cNvSpPr txBox="1"/>
          <p:nvPr/>
        </p:nvSpPr>
        <p:spPr>
          <a:xfrm>
            <a:off x="2560320" y="5605272"/>
            <a:ext cx="8595360" cy="237744"/>
          </a:xfrm>
          <a:prstGeom prst="rect">
            <a:avLst/>
          </a:prstGeom>
          <a:noFill/>
          <a:ln/>
        </p:spPr>
        <p:txBody>
          <a:bodyPr wrap="square" lIns="0" tIns="0" rIns="0" bIns="0" rtlCol="0" anchor="ctr">
            <a:normAutofit/>
          </a:bodyPr>
          <a:lstStyle/>
          <a:p>
            <a:pPr algn="ctr" indent="0" marL="0">
              <a:buNone/>
            </a:pPr>
            <a:r>
              <a:rPr lang="en-US" sz="1030" b="1" dirty="0">
                <a:solidFill>
                  <a:srgbClr val="FFFFFF"/>
                </a:solidFill>
                <a:latin typeface="Inter" pitchFamily="34" charset="0"/>
                <a:ea typeface="Inter" pitchFamily="34" charset="-122"/>
                <a:cs typeface="Inter" pitchFamily="34" charset="-120"/>
              </a:rPr>
              <a:t>Iterator  ·  Factory  ·  Null Object  ·  Templates  ·  RAII  ·  Move semantics</a:t>
            </a:r>
            <a:endParaRPr lang="en-US" sz="103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66928" y="347472"/>
            <a:ext cx="50292" cy="210312"/>
          </a:xfrm>
          <a:prstGeom prst="rect">
            <a:avLst/>
          </a:prstGeom>
          <a:solidFill>
            <a:srgbClr val="16877D"/>
          </a:solidFill>
          <a:ln w="12700">
            <a:solidFill>
              <a:srgbClr val="16877D">
                <a:alpha val="0"/>
              </a:srgbClr>
            </a:solidFill>
            <a:prstDash val="solid"/>
          </a:ln>
        </p:spPr>
      </p:sp>
      <p:sp>
        <p:nvSpPr>
          <p:cNvPr id="3" name="Text 1"/>
          <p:cNvSpPr txBox="1"/>
          <p:nvPr/>
        </p:nvSpPr>
        <p:spPr>
          <a:xfrm>
            <a:off x="713232" y="333756"/>
            <a:ext cx="3200400" cy="219456"/>
          </a:xfrm>
          <a:prstGeom prst="rect">
            <a:avLst/>
          </a:prstGeom>
          <a:noFill/>
          <a:ln/>
        </p:spPr>
        <p:txBody>
          <a:bodyPr wrap="square" lIns="0" tIns="0" rIns="0" bIns="0" rtlCol="0" anchor="ctr">
            <a:normAutofit/>
          </a:bodyPr>
          <a:lstStyle/>
          <a:p>
            <a:pPr algn="l" indent="0" marL="0">
              <a:buNone/>
            </a:pPr>
            <a:r>
              <a:rPr lang="en-US" sz="810" b="1" spc="180" kern="0" dirty="0">
                <a:solidFill>
                  <a:srgbClr val="16877D"/>
                </a:solidFill>
                <a:latin typeface="Inter" pitchFamily="34" charset="0"/>
                <a:ea typeface="Inter" pitchFamily="34" charset="-122"/>
                <a:cs typeface="Inter" pitchFamily="34" charset="-120"/>
              </a:rPr>
              <a:t>PERSISTENCE</a:t>
            </a:r>
            <a:endParaRPr lang="en-US" sz="810" dirty="0"/>
          </a:p>
        </p:txBody>
      </p:sp>
      <p:sp>
        <p:nvSpPr>
          <p:cNvPr id="4" name="Text 2"/>
          <p:cNvSpPr txBox="1"/>
          <p:nvPr/>
        </p:nvSpPr>
        <p:spPr>
          <a:xfrm>
            <a:off x="566928" y="658368"/>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2263A"/>
                </a:solidFill>
                <a:latin typeface="Inter" pitchFamily="34" charset="0"/>
                <a:ea typeface="Inter" pitchFamily="34" charset="-122"/>
                <a:cs typeface="Inter" pitchFamily="34" charset="-120"/>
              </a:rPr>
              <a:t>SQLite is the durable source for catalogue and loan history</a:t>
            </a:r>
            <a:endParaRPr lang="en-US" sz="2700" dirty="0"/>
          </a:p>
        </p:txBody>
      </p:sp>
      <p:sp>
        <p:nvSpPr>
          <p:cNvPr id="5" name="Text 3"/>
          <p:cNvSpPr txBox="1"/>
          <p:nvPr/>
        </p:nvSpPr>
        <p:spPr>
          <a:xfrm>
            <a:off x="585216" y="1115568"/>
            <a:ext cx="10972800" cy="274320"/>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The repository contract keeps SQL details out of domain workflows.</a:t>
            </a:r>
            <a:endParaRPr lang="en-US" sz="1070" dirty="0"/>
          </a:p>
        </p:txBody>
      </p:sp>
      <p:sp>
        <p:nvSpPr>
          <p:cNvPr id="6" name="Shape 4"/>
          <p:cNvSpPr/>
          <p:nvPr/>
        </p:nvSpPr>
        <p:spPr>
          <a:xfrm>
            <a:off x="566928" y="6510528"/>
            <a:ext cx="11119104" cy="0"/>
          </a:xfrm>
          <a:prstGeom prst="line">
            <a:avLst/>
          </a:prstGeom>
          <a:noFill/>
          <a:ln w="10160">
            <a:solidFill>
              <a:srgbClr val="E0E7EB"/>
            </a:solidFill>
            <a:prstDash val="solid"/>
          </a:ln>
        </p:spPr>
      </p:sp>
      <p:sp>
        <p:nvSpPr>
          <p:cNvPr id="7" name="Text 5"/>
          <p:cNvSpPr txBox="1"/>
          <p:nvPr/>
        </p:nvSpPr>
        <p:spPr>
          <a:xfrm>
            <a:off x="566928" y="6565392"/>
            <a:ext cx="5303520" cy="146304"/>
          </a:xfrm>
          <a:prstGeom prst="rect">
            <a:avLst/>
          </a:prstGeom>
          <a:noFill/>
          <a:ln/>
        </p:spPr>
        <p:txBody>
          <a:bodyPr wrap="square" lIns="0" tIns="0" rIns="0" bIns="0" rtlCol="0" anchor="ctr">
            <a:normAutofit/>
          </a:bodyPr>
          <a:lstStyle/>
          <a:p>
            <a:pPr algn="l" indent="0" marL="0">
              <a:buNone/>
            </a:pPr>
            <a:r>
              <a:rPr lang="en-US" sz="750" spc="110" kern="0" dirty="0">
                <a:solidFill>
                  <a:srgbClr val="6B7A88"/>
                </a:solidFill>
                <a:latin typeface="Inter" pitchFamily="34" charset="0"/>
                <a:ea typeface="Inter" pitchFamily="34" charset="-122"/>
                <a:cs typeface="Inter" pitchFamily="34" charset="-120"/>
              </a:rPr>
              <a:t>TITANS  /  LIBRARY MANAGEMENT SYSTEM</a:t>
            </a:r>
            <a:endParaRPr lang="en-US" sz="750" dirty="0"/>
          </a:p>
        </p:txBody>
      </p:sp>
      <p:sp>
        <p:nvSpPr>
          <p:cNvPr id="8" name="Text 6"/>
          <p:cNvSpPr txBox="1"/>
          <p:nvPr/>
        </p:nvSpPr>
        <p:spPr>
          <a:xfrm>
            <a:off x="11109960" y="6556248"/>
            <a:ext cx="502920" cy="164592"/>
          </a:xfrm>
          <a:prstGeom prst="rect">
            <a:avLst/>
          </a:prstGeom>
          <a:noFill/>
          <a:ln/>
        </p:spPr>
        <p:txBody>
          <a:bodyPr wrap="square" lIns="0" tIns="0" rIns="0" bIns="0" rtlCol="0" anchor="ctr">
            <a:normAutofit/>
          </a:bodyPr>
          <a:lstStyle/>
          <a:p>
            <a:pPr algn="r" indent="0" marL="0">
              <a:buNone/>
            </a:pPr>
            <a:r>
              <a:rPr lang="en-US" sz="800" dirty="0">
                <a:solidFill>
                  <a:srgbClr val="6B7A88"/>
                </a:solidFill>
                <a:latin typeface="Inter" pitchFamily="34" charset="0"/>
                <a:ea typeface="Inter" pitchFamily="34" charset="-122"/>
                <a:cs typeface="Inter" pitchFamily="34" charset="-120"/>
              </a:rPr>
              <a:t>09</a:t>
            </a:r>
            <a:endParaRPr lang="en-US" sz="800" dirty="0"/>
          </a:p>
        </p:txBody>
      </p:sp>
      <p:sp>
        <p:nvSpPr>
          <p:cNvPr id="9" name="Shape 7"/>
          <p:cNvSpPr/>
          <p:nvPr/>
        </p:nvSpPr>
        <p:spPr>
          <a:xfrm>
            <a:off x="658368" y="1728216"/>
            <a:ext cx="3895344" cy="1188720"/>
          </a:xfrm>
          <a:prstGeom prst="roundRect">
            <a:avLst>
              <a:gd name="adj" fmla="val 9231"/>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0" name="Shape 8"/>
          <p:cNvSpPr/>
          <p:nvPr/>
        </p:nvSpPr>
        <p:spPr>
          <a:xfrm>
            <a:off x="658368" y="3236976"/>
            <a:ext cx="3895344" cy="1188720"/>
          </a:xfrm>
          <a:prstGeom prst="roundRect">
            <a:avLst>
              <a:gd name="adj" fmla="val 9231"/>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1" name="Shape 9"/>
          <p:cNvSpPr/>
          <p:nvPr/>
        </p:nvSpPr>
        <p:spPr>
          <a:xfrm>
            <a:off x="5870448" y="2212848"/>
            <a:ext cx="5577840" cy="1755648"/>
          </a:xfrm>
          <a:prstGeom prst="roundRect">
            <a:avLst>
              <a:gd name="adj" fmla="val 6250"/>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2" name="Shape 10"/>
          <p:cNvSpPr/>
          <p:nvPr/>
        </p:nvSpPr>
        <p:spPr>
          <a:xfrm>
            <a:off x="658368" y="1728216"/>
            <a:ext cx="3895344" cy="393192"/>
          </a:xfrm>
          <a:prstGeom prst="roundRect">
            <a:avLst>
              <a:gd name="adj" fmla="val 27907"/>
            </a:avLst>
          </a:prstGeom>
          <a:solidFill>
            <a:srgbClr val="E9F0F6"/>
          </a:solidFill>
          <a:ln w="11430">
            <a:solidFill>
              <a:srgbClr val="E9F0F6"/>
            </a:solidFill>
            <a:prstDash val="solid"/>
          </a:ln>
        </p:spPr>
      </p:sp>
      <p:sp>
        <p:nvSpPr>
          <p:cNvPr id="13" name="Shape 11"/>
          <p:cNvSpPr/>
          <p:nvPr/>
        </p:nvSpPr>
        <p:spPr>
          <a:xfrm>
            <a:off x="658368" y="3236976"/>
            <a:ext cx="3895344" cy="393192"/>
          </a:xfrm>
          <a:prstGeom prst="roundRect">
            <a:avLst>
              <a:gd name="adj" fmla="val 27907"/>
            </a:avLst>
          </a:prstGeom>
          <a:solidFill>
            <a:srgbClr val="E1F3F0"/>
          </a:solidFill>
          <a:ln w="11430">
            <a:solidFill>
              <a:srgbClr val="E1F3F0"/>
            </a:solidFill>
            <a:prstDash val="solid"/>
          </a:ln>
        </p:spPr>
      </p:sp>
      <p:sp>
        <p:nvSpPr>
          <p:cNvPr id="14" name="Shape 12"/>
          <p:cNvSpPr/>
          <p:nvPr/>
        </p:nvSpPr>
        <p:spPr>
          <a:xfrm>
            <a:off x="5870448" y="2212848"/>
            <a:ext cx="5577840" cy="393192"/>
          </a:xfrm>
          <a:prstGeom prst="roundRect">
            <a:avLst>
              <a:gd name="adj" fmla="val 27907"/>
            </a:avLst>
          </a:prstGeom>
          <a:solidFill>
            <a:srgbClr val="FFF2DE"/>
          </a:solidFill>
          <a:ln w="11430">
            <a:solidFill>
              <a:srgbClr val="FFF2DE"/>
            </a:solidFill>
            <a:prstDash val="solid"/>
          </a:ln>
        </p:spPr>
      </p:sp>
      <p:sp>
        <p:nvSpPr>
          <p:cNvPr id="15" name="Text 13"/>
          <p:cNvSpPr txBox="1"/>
          <p:nvPr/>
        </p:nvSpPr>
        <p:spPr>
          <a:xfrm>
            <a:off x="850392" y="1810512"/>
            <a:ext cx="3474720" cy="210312"/>
          </a:xfrm>
          <a:prstGeom prst="rect">
            <a:avLst/>
          </a:prstGeom>
          <a:noFill/>
          <a:ln/>
        </p:spPr>
        <p:txBody>
          <a:bodyPr wrap="square" lIns="0" tIns="0" rIns="0" bIns="0" rtlCol="0" anchor="ctr">
            <a:normAutofit/>
          </a:bodyPr>
          <a:lstStyle/>
          <a:p>
            <a:pPr algn="l" indent="0" marL="0">
              <a:buNone/>
            </a:pPr>
            <a:r>
              <a:rPr lang="en-US" sz="1430" b="1" dirty="0">
                <a:solidFill>
                  <a:srgbClr val="12263A"/>
                </a:solidFill>
                <a:latin typeface="DejaVu Sans Mono" pitchFamily="34" charset="0"/>
                <a:ea typeface="DejaVu Sans Mono" pitchFamily="34" charset="-122"/>
                <a:cs typeface="DejaVu Sans Mono" pitchFamily="34" charset="-120"/>
              </a:rPr>
              <a:t>books</a:t>
            </a:r>
            <a:endParaRPr lang="en-US" sz="1430" dirty="0"/>
          </a:p>
        </p:txBody>
      </p:sp>
      <p:sp>
        <p:nvSpPr>
          <p:cNvPr id="16" name="Text 14"/>
          <p:cNvSpPr txBox="1"/>
          <p:nvPr/>
        </p:nvSpPr>
        <p:spPr>
          <a:xfrm>
            <a:off x="868680" y="2286000"/>
            <a:ext cx="3456432" cy="256032"/>
          </a:xfrm>
          <a:prstGeom prst="rect">
            <a:avLst/>
          </a:prstGeom>
          <a:noFill/>
          <a:ln/>
        </p:spPr>
        <p:txBody>
          <a:bodyPr wrap="square" lIns="0" tIns="0" rIns="0" bIns="0" rtlCol="0" anchor="ctr">
            <a:normAutofit/>
          </a:bodyPr>
          <a:lstStyle/>
          <a:p>
            <a:pPr algn="l" indent="0" marL="0">
              <a:buNone/>
            </a:pPr>
            <a:r>
              <a:rPr lang="en-US" sz="1030" dirty="0">
                <a:solidFill>
                  <a:srgbClr val="203345"/>
                </a:solidFill>
                <a:latin typeface="Inter" pitchFamily="34" charset="0"/>
                <a:ea typeface="Inter" pitchFamily="34" charset="-122"/>
                <a:cs typeface="Inter" pitchFamily="34" charset="-120"/>
              </a:rPr>
              <a:t>isbn UNIQUE  ·  title  ·  author  ·  genre</a:t>
            </a:r>
            <a:endParaRPr lang="en-US" sz="1030" dirty="0"/>
          </a:p>
        </p:txBody>
      </p:sp>
      <p:sp>
        <p:nvSpPr>
          <p:cNvPr id="17" name="Text 15"/>
          <p:cNvSpPr txBox="1"/>
          <p:nvPr/>
        </p:nvSpPr>
        <p:spPr>
          <a:xfrm>
            <a:off x="850392" y="3319272"/>
            <a:ext cx="3474720" cy="210312"/>
          </a:xfrm>
          <a:prstGeom prst="rect">
            <a:avLst/>
          </a:prstGeom>
          <a:noFill/>
          <a:ln/>
        </p:spPr>
        <p:txBody>
          <a:bodyPr wrap="square" lIns="0" tIns="0" rIns="0" bIns="0" rtlCol="0" anchor="ctr">
            <a:normAutofit/>
          </a:bodyPr>
          <a:lstStyle/>
          <a:p>
            <a:pPr algn="l" indent="0" marL="0">
              <a:buNone/>
            </a:pPr>
            <a:r>
              <a:rPr lang="en-US" sz="1430" b="1" dirty="0">
                <a:solidFill>
                  <a:srgbClr val="12263A"/>
                </a:solidFill>
                <a:latin typeface="DejaVu Sans Mono" pitchFamily="34" charset="0"/>
                <a:ea typeface="DejaVu Sans Mono" pitchFamily="34" charset="-122"/>
                <a:cs typeface="DejaVu Sans Mono" pitchFamily="34" charset="-120"/>
              </a:rPr>
              <a:t>members</a:t>
            </a:r>
            <a:endParaRPr lang="en-US" sz="1430" dirty="0"/>
          </a:p>
        </p:txBody>
      </p:sp>
      <p:sp>
        <p:nvSpPr>
          <p:cNvPr id="18" name="Text 16"/>
          <p:cNvSpPr txBox="1"/>
          <p:nvPr/>
        </p:nvSpPr>
        <p:spPr>
          <a:xfrm>
            <a:off x="868680" y="3794760"/>
            <a:ext cx="3456432" cy="256032"/>
          </a:xfrm>
          <a:prstGeom prst="rect">
            <a:avLst/>
          </a:prstGeom>
          <a:noFill/>
          <a:ln/>
        </p:spPr>
        <p:txBody>
          <a:bodyPr wrap="square" lIns="0" tIns="0" rIns="0" bIns="0" rtlCol="0" anchor="ctr">
            <a:normAutofit/>
          </a:bodyPr>
          <a:lstStyle/>
          <a:p>
            <a:pPr algn="l" indent="0" marL="0">
              <a:buNone/>
            </a:pPr>
            <a:r>
              <a:rPr lang="en-US" sz="1030" dirty="0">
                <a:solidFill>
                  <a:srgbClr val="203345"/>
                </a:solidFill>
                <a:latin typeface="Inter" pitchFamily="34" charset="0"/>
                <a:ea typeface="Inter" pitchFamily="34" charset="-122"/>
                <a:cs typeface="Inter" pitchFamily="34" charset="-120"/>
              </a:rPr>
              <a:t>id UNIQUE  ·  name  ·  id &gt; 0</a:t>
            </a:r>
            <a:endParaRPr lang="en-US" sz="1030" dirty="0"/>
          </a:p>
        </p:txBody>
      </p:sp>
      <p:sp>
        <p:nvSpPr>
          <p:cNvPr id="19" name="Text 17"/>
          <p:cNvSpPr txBox="1"/>
          <p:nvPr/>
        </p:nvSpPr>
        <p:spPr>
          <a:xfrm>
            <a:off x="6108192" y="2295144"/>
            <a:ext cx="5074920" cy="210312"/>
          </a:xfrm>
          <a:prstGeom prst="rect">
            <a:avLst/>
          </a:prstGeom>
          <a:noFill/>
          <a:ln/>
        </p:spPr>
        <p:txBody>
          <a:bodyPr wrap="square" lIns="0" tIns="0" rIns="0" bIns="0" rtlCol="0" anchor="ctr">
            <a:normAutofit/>
          </a:bodyPr>
          <a:lstStyle/>
          <a:p>
            <a:pPr algn="l" indent="0" marL="0">
              <a:buNone/>
            </a:pPr>
            <a:r>
              <a:rPr lang="en-US" sz="1430" b="1" dirty="0">
                <a:solidFill>
                  <a:srgbClr val="12263A"/>
                </a:solidFill>
                <a:latin typeface="DejaVu Sans Mono" pitchFamily="34" charset="0"/>
                <a:ea typeface="DejaVu Sans Mono" pitchFamily="34" charset="-122"/>
                <a:cs typeface="DejaVu Sans Mono" pitchFamily="34" charset="-120"/>
              </a:rPr>
              <a:t>loans</a:t>
            </a:r>
            <a:endParaRPr lang="en-US" sz="1430" dirty="0"/>
          </a:p>
        </p:txBody>
      </p:sp>
      <p:sp>
        <p:nvSpPr>
          <p:cNvPr id="20" name="Shape 18"/>
          <p:cNvSpPr/>
          <p:nvPr/>
        </p:nvSpPr>
        <p:spPr>
          <a:xfrm>
            <a:off x="6144768" y="2770632"/>
            <a:ext cx="59436" cy="59436"/>
          </a:xfrm>
          <a:prstGeom prst="ellipse">
            <a:avLst/>
          </a:prstGeom>
          <a:solidFill>
            <a:srgbClr val="16877D"/>
          </a:solidFill>
          <a:ln w="12700">
            <a:solidFill>
              <a:srgbClr val="16877D">
                <a:alpha val="0"/>
              </a:srgbClr>
            </a:solidFill>
            <a:prstDash val="solid"/>
          </a:ln>
        </p:spPr>
      </p:sp>
      <p:sp>
        <p:nvSpPr>
          <p:cNvPr id="21" name="Text 19"/>
          <p:cNvSpPr txBox="1"/>
          <p:nvPr/>
        </p:nvSpPr>
        <p:spPr>
          <a:xfrm>
            <a:off x="6309360" y="2715768"/>
            <a:ext cx="4791456" cy="219456"/>
          </a:xfrm>
          <a:prstGeom prst="rect">
            <a:avLst/>
          </a:prstGeom>
          <a:noFill/>
          <a:ln/>
        </p:spPr>
        <p:txBody>
          <a:bodyPr wrap="square" lIns="0" tIns="0" rIns="0" bIns="0" rtlCol="0" anchor="ctr">
            <a:normAutofit/>
          </a:bodyPr>
          <a:lstStyle/>
          <a:p>
            <a:pPr algn="l" indent="0" marL="0">
              <a:buNone/>
            </a:pPr>
            <a:r>
              <a:rPr lang="en-US" sz="950" dirty="0">
                <a:solidFill>
                  <a:srgbClr val="203345"/>
                </a:solidFill>
                <a:latin typeface="DejaVu Sans Mono" pitchFamily="34" charset="0"/>
                <a:ea typeface="DejaVu Sans Mono" pitchFamily="34" charset="-122"/>
                <a:cs typeface="DejaVu Sans Mono" pitchFamily="34" charset="-120"/>
              </a:rPr>
              <a:t>book_isbn  →  books.isbn  (FK)</a:t>
            </a:r>
            <a:endParaRPr lang="en-US" sz="950" dirty="0"/>
          </a:p>
        </p:txBody>
      </p:sp>
      <p:sp>
        <p:nvSpPr>
          <p:cNvPr id="22" name="Shape 20"/>
          <p:cNvSpPr/>
          <p:nvPr/>
        </p:nvSpPr>
        <p:spPr>
          <a:xfrm>
            <a:off x="6144768" y="3035808"/>
            <a:ext cx="59436" cy="59436"/>
          </a:xfrm>
          <a:prstGeom prst="ellipse">
            <a:avLst/>
          </a:prstGeom>
          <a:solidFill>
            <a:srgbClr val="16877D"/>
          </a:solidFill>
          <a:ln w="12700">
            <a:solidFill>
              <a:srgbClr val="16877D">
                <a:alpha val="0"/>
              </a:srgbClr>
            </a:solidFill>
            <a:prstDash val="solid"/>
          </a:ln>
        </p:spPr>
      </p:sp>
      <p:sp>
        <p:nvSpPr>
          <p:cNvPr id="23" name="Text 21"/>
          <p:cNvSpPr txBox="1"/>
          <p:nvPr/>
        </p:nvSpPr>
        <p:spPr>
          <a:xfrm>
            <a:off x="6309360" y="2980944"/>
            <a:ext cx="4791456" cy="219456"/>
          </a:xfrm>
          <a:prstGeom prst="rect">
            <a:avLst/>
          </a:prstGeom>
          <a:noFill/>
          <a:ln/>
        </p:spPr>
        <p:txBody>
          <a:bodyPr wrap="square" lIns="0" tIns="0" rIns="0" bIns="0" rtlCol="0" anchor="ctr">
            <a:normAutofit/>
          </a:bodyPr>
          <a:lstStyle/>
          <a:p>
            <a:pPr algn="l" indent="0" marL="0">
              <a:buNone/>
            </a:pPr>
            <a:r>
              <a:rPr lang="en-US" sz="950" dirty="0">
                <a:solidFill>
                  <a:srgbClr val="203345"/>
                </a:solidFill>
                <a:latin typeface="DejaVu Sans Mono" pitchFamily="34" charset="0"/>
                <a:ea typeface="DejaVu Sans Mono" pitchFamily="34" charset="-122"/>
                <a:cs typeface="DejaVu Sans Mono" pitchFamily="34" charset="-120"/>
              </a:rPr>
              <a:t>member_id  →  members.id  (FK)</a:t>
            </a:r>
            <a:endParaRPr lang="en-US" sz="950" dirty="0"/>
          </a:p>
        </p:txBody>
      </p:sp>
      <p:sp>
        <p:nvSpPr>
          <p:cNvPr id="24" name="Shape 22"/>
          <p:cNvSpPr/>
          <p:nvPr/>
        </p:nvSpPr>
        <p:spPr>
          <a:xfrm>
            <a:off x="6144768" y="3300984"/>
            <a:ext cx="59436" cy="59436"/>
          </a:xfrm>
          <a:prstGeom prst="ellipse">
            <a:avLst/>
          </a:prstGeom>
          <a:solidFill>
            <a:srgbClr val="16877D"/>
          </a:solidFill>
          <a:ln w="12700">
            <a:solidFill>
              <a:srgbClr val="16877D">
                <a:alpha val="0"/>
              </a:srgbClr>
            </a:solidFill>
            <a:prstDash val="solid"/>
          </a:ln>
        </p:spPr>
      </p:sp>
      <p:sp>
        <p:nvSpPr>
          <p:cNvPr id="25" name="Text 23"/>
          <p:cNvSpPr txBox="1"/>
          <p:nvPr/>
        </p:nvSpPr>
        <p:spPr>
          <a:xfrm>
            <a:off x="6309360" y="3246120"/>
            <a:ext cx="4791456" cy="219456"/>
          </a:xfrm>
          <a:prstGeom prst="rect">
            <a:avLst/>
          </a:prstGeom>
          <a:noFill/>
          <a:ln/>
        </p:spPr>
        <p:txBody>
          <a:bodyPr wrap="square" lIns="0" tIns="0" rIns="0" bIns="0" rtlCol="0" anchor="ctr">
            <a:normAutofit/>
          </a:bodyPr>
          <a:lstStyle/>
          <a:p>
            <a:pPr algn="l" indent="0" marL="0">
              <a:buNone/>
            </a:pPr>
            <a:r>
              <a:rPr lang="en-US" sz="950" dirty="0">
                <a:solidFill>
                  <a:srgbClr val="203345"/>
                </a:solidFill>
                <a:latin typeface="Inter" pitchFamily="34" charset="0"/>
                <a:ea typeface="Inter" pitchFamily="34" charset="-122"/>
                <a:cs typeface="Inter" pitchFamily="34" charset="-120"/>
              </a:rPr>
              <a:t>borrowed_at  ·  timestamp</a:t>
            </a:r>
            <a:endParaRPr lang="en-US" sz="950" dirty="0"/>
          </a:p>
        </p:txBody>
      </p:sp>
      <p:sp>
        <p:nvSpPr>
          <p:cNvPr id="26" name="Shape 24"/>
          <p:cNvSpPr/>
          <p:nvPr/>
        </p:nvSpPr>
        <p:spPr>
          <a:xfrm>
            <a:off x="6144768" y="3566160"/>
            <a:ext cx="59436" cy="59436"/>
          </a:xfrm>
          <a:prstGeom prst="ellipse">
            <a:avLst/>
          </a:prstGeom>
          <a:solidFill>
            <a:srgbClr val="16877D"/>
          </a:solidFill>
          <a:ln w="12700">
            <a:solidFill>
              <a:srgbClr val="16877D">
                <a:alpha val="0"/>
              </a:srgbClr>
            </a:solidFill>
            <a:prstDash val="solid"/>
          </a:ln>
        </p:spPr>
      </p:sp>
      <p:sp>
        <p:nvSpPr>
          <p:cNvPr id="27" name="Text 25"/>
          <p:cNvSpPr txBox="1"/>
          <p:nvPr/>
        </p:nvSpPr>
        <p:spPr>
          <a:xfrm>
            <a:off x="6309360" y="3511296"/>
            <a:ext cx="4791456" cy="219456"/>
          </a:xfrm>
          <a:prstGeom prst="rect">
            <a:avLst/>
          </a:prstGeom>
          <a:noFill/>
          <a:ln/>
        </p:spPr>
        <p:txBody>
          <a:bodyPr wrap="square" lIns="0" tIns="0" rIns="0" bIns="0" rtlCol="0" anchor="ctr">
            <a:normAutofit/>
          </a:bodyPr>
          <a:lstStyle/>
          <a:p>
            <a:pPr algn="l" indent="0" marL="0">
              <a:buNone/>
            </a:pPr>
            <a:r>
              <a:rPr lang="en-US" sz="950" dirty="0">
                <a:solidFill>
                  <a:srgbClr val="203345"/>
                </a:solidFill>
                <a:latin typeface="Inter" pitchFamily="34" charset="0"/>
                <a:ea typeface="Inter" pitchFamily="34" charset="-122"/>
                <a:cs typeface="Inter" pitchFamily="34" charset="-120"/>
              </a:rPr>
              <a:t>returned_at  ·  NULL while open</a:t>
            </a:r>
            <a:endParaRPr lang="en-US" sz="950" dirty="0"/>
          </a:p>
        </p:txBody>
      </p:sp>
      <p:sp>
        <p:nvSpPr>
          <p:cNvPr id="28" name="Shape 26"/>
          <p:cNvSpPr/>
          <p:nvPr/>
        </p:nvSpPr>
        <p:spPr>
          <a:xfrm>
            <a:off x="4562856" y="2221992"/>
            <a:ext cx="1197864" cy="493776"/>
          </a:xfrm>
          <a:prstGeom prst="line">
            <a:avLst/>
          </a:prstGeom>
          <a:noFill/>
          <a:ln w="14605">
            <a:solidFill>
              <a:srgbClr val="16877D"/>
            </a:solidFill>
            <a:prstDash val="solid"/>
            <a:tailEnd type="triangle"/>
          </a:ln>
        </p:spPr>
      </p:sp>
      <p:sp>
        <p:nvSpPr>
          <p:cNvPr id="29" name="Shape 27"/>
          <p:cNvSpPr/>
          <p:nvPr/>
        </p:nvSpPr>
        <p:spPr>
          <a:xfrm>
            <a:off x="4562856" y="3785616"/>
            <a:ext cx="1197864" cy="-329184"/>
          </a:xfrm>
          <a:prstGeom prst="line">
            <a:avLst/>
          </a:prstGeom>
          <a:noFill/>
          <a:ln w="14605">
            <a:solidFill>
              <a:srgbClr val="16877D"/>
            </a:solidFill>
            <a:prstDash val="solid"/>
            <a:tailEnd type="triangle"/>
          </a:ln>
        </p:spPr>
      </p:sp>
      <p:sp>
        <p:nvSpPr>
          <p:cNvPr id="30" name="Shape 28"/>
          <p:cNvSpPr/>
          <p:nvPr/>
        </p:nvSpPr>
        <p:spPr>
          <a:xfrm>
            <a:off x="4626864" y="2514600"/>
            <a:ext cx="969264" cy="274320"/>
          </a:xfrm>
          <a:prstGeom prst="roundRect">
            <a:avLst>
              <a:gd name="adj" fmla="val 33333"/>
            </a:avLst>
          </a:prstGeom>
          <a:solidFill>
            <a:srgbClr val="EEF2F5"/>
          </a:solidFill>
          <a:ln w="12700">
            <a:solidFill>
              <a:srgbClr val="EEF2F5">
                <a:alpha val="0"/>
              </a:srgbClr>
            </a:solidFill>
            <a:prstDash val="solid"/>
          </a:ln>
        </p:spPr>
      </p:sp>
      <p:sp>
        <p:nvSpPr>
          <p:cNvPr id="31" name="Text 29"/>
          <p:cNvSpPr txBox="1"/>
          <p:nvPr/>
        </p:nvSpPr>
        <p:spPr>
          <a:xfrm>
            <a:off x="4681728" y="2528316"/>
            <a:ext cx="859536" cy="242316"/>
          </a:xfrm>
          <a:prstGeom prst="rect">
            <a:avLst/>
          </a:prstGeom>
          <a:noFill/>
          <a:ln/>
        </p:spPr>
        <p:txBody>
          <a:bodyPr wrap="square" lIns="0" tIns="0" rIns="0" bIns="0" rtlCol="0" anchor="ctr">
            <a:normAutofit/>
          </a:bodyPr>
          <a:lstStyle/>
          <a:p>
            <a:pPr algn="ctr" indent="0" marL="0">
              <a:buNone/>
            </a:pPr>
            <a:r>
              <a:rPr lang="en-US" sz="700" b="1" spc="30" kern="0" dirty="0">
                <a:solidFill>
                  <a:srgbClr val="657585"/>
                </a:solidFill>
                <a:latin typeface="Inter" pitchFamily="34" charset="0"/>
                <a:ea typeface="Inter" pitchFamily="34" charset="-122"/>
                <a:cs typeface="Inter" pitchFamily="34" charset="-120"/>
              </a:rPr>
              <a:t>1 → MANY</a:t>
            </a:r>
            <a:endParaRPr lang="en-US" sz="700" dirty="0"/>
          </a:p>
        </p:txBody>
      </p:sp>
      <p:sp>
        <p:nvSpPr>
          <p:cNvPr id="32" name="Shape 30"/>
          <p:cNvSpPr/>
          <p:nvPr/>
        </p:nvSpPr>
        <p:spPr>
          <a:xfrm>
            <a:off x="4626864" y="3374136"/>
            <a:ext cx="969264" cy="274320"/>
          </a:xfrm>
          <a:prstGeom prst="roundRect">
            <a:avLst>
              <a:gd name="adj" fmla="val 33333"/>
            </a:avLst>
          </a:prstGeom>
          <a:solidFill>
            <a:srgbClr val="EEF2F5"/>
          </a:solidFill>
          <a:ln w="12700">
            <a:solidFill>
              <a:srgbClr val="EEF2F5">
                <a:alpha val="0"/>
              </a:srgbClr>
            </a:solidFill>
            <a:prstDash val="solid"/>
          </a:ln>
        </p:spPr>
      </p:sp>
      <p:sp>
        <p:nvSpPr>
          <p:cNvPr id="33" name="Text 31"/>
          <p:cNvSpPr txBox="1"/>
          <p:nvPr/>
        </p:nvSpPr>
        <p:spPr>
          <a:xfrm>
            <a:off x="4681728" y="3387852"/>
            <a:ext cx="859536" cy="242316"/>
          </a:xfrm>
          <a:prstGeom prst="rect">
            <a:avLst/>
          </a:prstGeom>
          <a:noFill/>
          <a:ln/>
        </p:spPr>
        <p:txBody>
          <a:bodyPr wrap="square" lIns="0" tIns="0" rIns="0" bIns="0" rtlCol="0" anchor="ctr">
            <a:normAutofit/>
          </a:bodyPr>
          <a:lstStyle/>
          <a:p>
            <a:pPr algn="ctr" indent="0" marL="0">
              <a:buNone/>
            </a:pPr>
            <a:r>
              <a:rPr lang="en-US" sz="700" b="1" spc="30" kern="0" dirty="0">
                <a:solidFill>
                  <a:srgbClr val="657585"/>
                </a:solidFill>
                <a:latin typeface="Inter" pitchFamily="34" charset="0"/>
                <a:ea typeface="Inter" pitchFamily="34" charset="-122"/>
                <a:cs typeface="Inter" pitchFamily="34" charset="-120"/>
              </a:rPr>
              <a:t>1 → MANY</a:t>
            </a:r>
            <a:endParaRPr lang="en-US" sz="700" dirty="0"/>
          </a:p>
        </p:txBody>
      </p:sp>
      <p:sp>
        <p:nvSpPr>
          <p:cNvPr id="34" name="Shape 32"/>
          <p:cNvSpPr/>
          <p:nvPr/>
        </p:nvSpPr>
        <p:spPr>
          <a:xfrm>
            <a:off x="658368" y="4645152"/>
            <a:ext cx="5321808" cy="1188720"/>
          </a:xfrm>
          <a:prstGeom prst="roundRect">
            <a:avLst>
              <a:gd name="adj" fmla="val 9231"/>
            </a:avLst>
          </a:prstGeom>
          <a:solidFill>
            <a:srgbClr val="12263A"/>
          </a:solidFill>
          <a:ln w="11430">
            <a:solidFill>
              <a:srgbClr val="12263A"/>
            </a:solidFill>
            <a:prstDash val="solid"/>
          </a:ln>
        </p:spPr>
      </p:sp>
      <p:sp>
        <p:nvSpPr>
          <p:cNvPr id="35" name="Text 33"/>
          <p:cNvSpPr txBox="1"/>
          <p:nvPr/>
        </p:nvSpPr>
        <p:spPr>
          <a:xfrm>
            <a:off x="896112" y="4818888"/>
            <a:ext cx="2212848" cy="182880"/>
          </a:xfrm>
          <a:prstGeom prst="rect">
            <a:avLst/>
          </a:prstGeom>
          <a:noFill/>
          <a:ln/>
        </p:spPr>
        <p:txBody>
          <a:bodyPr wrap="square" lIns="0" tIns="0" rIns="0" bIns="0" rtlCol="0" anchor="ctr">
            <a:normAutofit/>
          </a:bodyPr>
          <a:lstStyle/>
          <a:p>
            <a:pPr algn="l" indent="0" marL="0">
              <a:buNone/>
            </a:pPr>
            <a:r>
              <a:rPr lang="en-US" sz="830" b="1" spc="120" kern="0" dirty="0">
                <a:solidFill>
                  <a:srgbClr val="9FE1D8"/>
                </a:solidFill>
                <a:latin typeface="Inter" pitchFamily="34" charset="0"/>
                <a:ea typeface="Inter" pitchFamily="34" charset="-122"/>
                <a:cs typeface="Inter" pitchFamily="34" charset="-120"/>
              </a:rPr>
              <a:t>INTEGRITY CONTROLS</a:t>
            </a:r>
            <a:endParaRPr lang="en-US" sz="830" dirty="0"/>
          </a:p>
        </p:txBody>
      </p:sp>
      <p:sp>
        <p:nvSpPr>
          <p:cNvPr id="36" name="Shape 34"/>
          <p:cNvSpPr/>
          <p:nvPr/>
        </p:nvSpPr>
        <p:spPr>
          <a:xfrm>
            <a:off x="896112" y="5202936"/>
            <a:ext cx="77724" cy="77724"/>
          </a:xfrm>
          <a:prstGeom prst="ellipse">
            <a:avLst/>
          </a:prstGeom>
          <a:solidFill>
            <a:srgbClr val="53B4A8"/>
          </a:solidFill>
          <a:ln w="12700">
            <a:solidFill>
              <a:srgbClr val="53B4A8">
                <a:alpha val="0"/>
              </a:srgbClr>
            </a:solidFill>
            <a:prstDash val="solid"/>
          </a:ln>
        </p:spPr>
      </p:sp>
      <p:sp>
        <p:nvSpPr>
          <p:cNvPr id="37" name="Text 35"/>
          <p:cNvSpPr txBox="1"/>
          <p:nvPr/>
        </p:nvSpPr>
        <p:spPr>
          <a:xfrm>
            <a:off x="1069848" y="5111496"/>
            <a:ext cx="2066544" cy="237744"/>
          </a:xfrm>
          <a:prstGeom prst="rect">
            <a:avLst/>
          </a:prstGeom>
          <a:noFill/>
          <a:ln/>
        </p:spPr>
        <p:txBody>
          <a:bodyPr wrap="square" lIns="0" tIns="0" rIns="0" bIns="0" rtlCol="0" anchor="t">
            <a:normAutofit/>
          </a:bodyPr>
          <a:lstStyle/>
          <a:p>
            <a:pPr algn="l" indent="0" marL="0">
              <a:buNone/>
            </a:pPr>
            <a:r>
              <a:rPr lang="en-US" sz="1000" dirty="0">
                <a:solidFill>
                  <a:srgbClr val="FFFFFF"/>
                </a:solidFill>
                <a:latin typeface="Inter" pitchFamily="34" charset="0"/>
                <a:ea typeface="Inter" pitchFamily="34" charset="-122"/>
                <a:cs typeface="Inter" pitchFamily="34" charset="-120"/>
              </a:rPr>
              <a:t>Foreign keys enabled</a:t>
            </a:r>
            <a:endParaRPr lang="en-US" sz="1000" dirty="0"/>
          </a:p>
        </p:txBody>
      </p:sp>
      <p:sp>
        <p:nvSpPr>
          <p:cNvPr id="38" name="Shape 36"/>
          <p:cNvSpPr/>
          <p:nvPr/>
        </p:nvSpPr>
        <p:spPr>
          <a:xfrm>
            <a:off x="3255264" y="5202936"/>
            <a:ext cx="77724" cy="77724"/>
          </a:xfrm>
          <a:prstGeom prst="ellipse">
            <a:avLst/>
          </a:prstGeom>
          <a:solidFill>
            <a:srgbClr val="53B4A8"/>
          </a:solidFill>
          <a:ln w="12700">
            <a:solidFill>
              <a:srgbClr val="53B4A8">
                <a:alpha val="0"/>
              </a:srgbClr>
            </a:solidFill>
            <a:prstDash val="solid"/>
          </a:ln>
        </p:spPr>
      </p:sp>
      <p:sp>
        <p:nvSpPr>
          <p:cNvPr id="39" name="Text 37"/>
          <p:cNvSpPr txBox="1"/>
          <p:nvPr/>
        </p:nvSpPr>
        <p:spPr>
          <a:xfrm>
            <a:off x="3429000" y="5111496"/>
            <a:ext cx="2221992" cy="237744"/>
          </a:xfrm>
          <a:prstGeom prst="rect">
            <a:avLst/>
          </a:prstGeom>
          <a:noFill/>
          <a:ln/>
        </p:spPr>
        <p:txBody>
          <a:bodyPr wrap="square" lIns="0" tIns="0" rIns="0" bIns="0" rtlCol="0" anchor="t">
            <a:normAutofit/>
          </a:bodyPr>
          <a:lstStyle/>
          <a:p>
            <a:pPr algn="l" indent="0" marL="0">
              <a:buNone/>
            </a:pPr>
            <a:r>
              <a:rPr lang="en-US" sz="1000" dirty="0">
                <a:solidFill>
                  <a:srgbClr val="FFFFFF"/>
                </a:solidFill>
                <a:latin typeface="Inter" pitchFamily="34" charset="0"/>
                <a:ea typeface="Inter" pitchFamily="34" charset="-122"/>
                <a:cs typeface="Inter" pitchFamily="34" charset="-120"/>
              </a:rPr>
              <a:t>Parameterized SQL</a:t>
            </a:r>
            <a:endParaRPr lang="en-US" sz="1000" dirty="0"/>
          </a:p>
        </p:txBody>
      </p:sp>
      <p:sp>
        <p:nvSpPr>
          <p:cNvPr id="40" name="Shape 38"/>
          <p:cNvSpPr/>
          <p:nvPr/>
        </p:nvSpPr>
        <p:spPr>
          <a:xfrm>
            <a:off x="896112" y="5522976"/>
            <a:ext cx="77724" cy="77724"/>
          </a:xfrm>
          <a:prstGeom prst="ellipse">
            <a:avLst/>
          </a:prstGeom>
          <a:solidFill>
            <a:srgbClr val="53B4A8"/>
          </a:solidFill>
          <a:ln w="12700">
            <a:solidFill>
              <a:srgbClr val="53B4A8">
                <a:alpha val="0"/>
              </a:srgbClr>
            </a:solidFill>
            <a:prstDash val="solid"/>
          </a:ln>
        </p:spPr>
      </p:sp>
      <p:sp>
        <p:nvSpPr>
          <p:cNvPr id="41" name="Text 39"/>
          <p:cNvSpPr txBox="1"/>
          <p:nvPr/>
        </p:nvSpPr>
        <p:spPr>
          <a:xfrm>
            <a:off x="1069848" y="5431536"/>
            <a:ext cx="4489704" cy="237744"/>
          </a:xfrm>
          <a:prstGeom prst="rect">
            <a:avLst/>
          </a:prstGeom>
          <a:noFill/>
          <a:ln/>
        </p:spPr>
        <p:txBody>
          <a:bodyPr wrap="square" lIns="0" tIns="0" rIns="0" bIns="0" rtlCol="0" anchor="t">
            <a:normAutofit/>
          </a:bodyPr>
          <a:lstStyle/>
          <a:p>
            <a:pPr algn="l" indent="0" marL="0">
              <a:buNone/>
            </a:pPr>
            <a:r>
              <a:rPr lang="en-US" sz="970" dirty="0">
                <a:solidFill>
                  <a:srgbClr val="FFFFFF"/>
                </a:solidFill>
                <a:latin typeface="Inter" pitchFamily="34" charset="0"/>
                <a:ea typeface="Inter" pitchFamily="34" charset="-122"/>
                <a:cs typeface="Inter" pitchFamily="34" charset="-120"/>
              </a:rPr>
              <a:t>One open loan per ISBN (partial unique index)</a:t>
            </a:r>
            <a:endParaRPr lang="en-US" sz="970" dirty="0"/>
          </a:p>
        </p:txBody>
      </p:sp>
      <p:sp>
        <p:nvSpPr>
          <p:cNvPr id="42" name="Shape 40"/>
          <p:cNvSpPr/>
          <p:nvPr/>
        </p:nvSpPr>
        <p:spPr>
          <a:xfrm>
            <a:off x="6236208" y="4645152"/>
            <a:ext cx="5212080" cy="1188720"/>
          </a:xfrm>
          <a:prstGeom prst="roundRect">
            <a:avLst>
              <a:gd name="adj" fmla="val 9231"/>
            </a:avLst>
          </a:prstGeom>
          <a:solidFill>
            <a:srgbClr val="FFFFFF"/>
          </a:solidFill>
          <a:ln w="11430">
            <a:solidFill>
              <a:srgbClr val="DCE5EA"/>
            </a:solidFill>
            <a:prstDash val="solid"/>
          </a:ln>
        </p:spPr>
      </p:sp>
      <p:sp>
        <p:nvSpPr>
          <p:cNvPr id="43" name="Text 41"/>
          <p:cNvSpPr txBox="1"/>
          <p:nvPr/>
        </p:nvSpPr>
        <p:spPr>
          <a:xfrm>
            <a:off x="6473952" y="4818888"/>
            <a:ext cx="3474720" cy="182880"/>
          </a:xfrm>
          <a:prstGeom prst="rect">
            <a:avLst/>
          </a:prstGeom>
          <a:noFill/>
          <a:ln/>
        </p:spPr>
        <p:txBody>
          <a:bodyPr wrap="square" lIns="0" tIns="0" rIns="0" bIns="0" rtlCol="0" anchor="ctr">
            <a:normAutofit/>
          </a:bodyPr>
          <a:lstStyle/>
          <a:p>
            <a:pPr algn="l" indent="0" marL="0">
              <a:buNone/>
            </a:pPr>
            <a:r>
              <a:rPr lang="en-US" sz="830" b="1" spc="100" kern="0" dirty="0">
                <a:solidFill>
                  <a:srgbClr val="16877D"/>
                </a:solidFill>
                <a:latin typeface="Inter" pitchFamily="34" charset="0"/>
                <a:ea typeface="Inter" pitchFamily="34" charset="-122"/>
                <a:cs typeface="Inter" pitchFamily="34" charset="-120"/>
              </a:rPr>
              <a:t>WHY THE REPOSITORY MATTERS</a:t>
            </a:r>
            <a:endParaRPr lang="en-US" sz="830" dirty="0"/>
          </a:p>
        </p:txBody>
      </p:sp>
      <p:sp>
        <p:nvSpPr>
          <p:cNvPr id="44" name="Text 42"/>
          <p:cNvSpPr txBox="1"/>
          <p:nvPr/>
        </p:nvSpPr>
        <p:spPr>
          <a:xfrm>
            <a:off x="6473952" y="5093208"/>
            <a:ext cx="4535424" cy="256032"/>
          </a:xfrm>
          <a:prstGeom prst="rect">
            <a:avLst/>
          </a:prstGeom>
          <a:noFill/>
          <a:ln/>
        </p:spPr>
        <p:txBody>
          <a:bodyPr wrap="square" lIns="0" tIns="0" rIns="0" bIns="0" rtlCol="0" anchor="ctr">
            <a:normAutofit/>
          </a:bodyPr>
          <a:lstStyle/>
          <a:p>
            <a:pPr algn="l" indent="0" marL="0">
              <a:buNone/>
            </a:pPr>
            <a:r>
              <a:rPr lang="en-US" sz="1080" b="1" dirty="0">
                <a:solidFill>
                  <a:srgbClr val="12263A"/>
                </a:solidFill>
                <a:latin typeface="Inter" pitchFamily="34" charset="0"/>
                <a:ea typeface="Inter" pitchFamily="34" charset="-122"/>
                <a:cs typeface="Inter" pitchFamily="34" charset="-120"/>
              </a:rPr>
              <a:t>The service targets ILibraryRepository, not SQLite calls.</a:t>
            </a:r>
            <a:endParaRPr lang="en-US" sz="1080" dirty="0"/>
          </a:p>
        </p:txBody>
      </p:sp>
      <p:sp>
        <p:nvSpPr>
          <p:cNvPr id="45" name="Text 43"/>
          <p:cNvSpPr txBox="1"/>
          <p:nvPr/>
        </p:nvSpPr>
        <p:spPr>
          <a:xfrm>
            <a:off x="6473952" y="5404104"/>
            <a:ext cx="4553712" cy="320040"/>
          </a:xfrm>
          <a:prstGeom prst="rect">
            <a:avLst/>
          </a:prstGeom>
          <a:noFill/>
          <a:ln/>
        </p:spPr>
        <p:txBody>
          <a:bodyPr wrap="square" lIns="0" tIns="0" rIns="0" bIns="0" rtlCol="0" anchor="t">
            <a:normAutofit/>
          </a:bodyPr>
          <a:lstStyle/>
          <a:p>
            <a:pPr algn="l" indent="0" marL="0">
              <a:buNone/>
            </a:pPr>
            <a:r>
              <a:rPr lang="en-US" sz="910" dirty="0">
                <a:solidFill>
                  <a:srgbClr val="657585"/>
                </a:solidFill>
                <a:latin typeface="Inter" pitchFamily="34" charset="0"/>
                <a:ea typeface="Inter" pitchFamily="34" charset="-122"/>
                <a:cs typeface="Inter" pitchFamily="34" charset="-120"/>
              </a:rPr>
              <a:t>SqliteRepository persists data; NullRepository provides no-op storage. Availability is derived from open loans.</a:t>
            </a:r>
            <a:endParaRPr lang="en-US" sz="91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66928" y="347472"/>
            <a:ext cx="50292" cy="210312"/>
          </a:xfrm>
          <a:prstGeom prst="rect">
            <a:avLst/>
          </a:prstGeom>
          <a:solidFill>
            <a:srgbClr val="16877D"/>
          </a:solidFill>
          <a:ln w="12700">
            <a:solidFill>
              <a:srgbClr val="16877D">
                <a:alpha val="0"/>
              </a:srgbClr>
            </a:solidFill>
            <a:prstDash val="solid"/>
          </a:ln>
        </p:spPr>
      </p:sp>
      <p:sp>
        <p:nvSpPr>
          <p:cNvPr id="3" name="Text 1"/>
          <p:cNvSpPr txBox="1"/>
          <p:nvPr/>
        </p:nvSpPr>
        <p:spPr>
          <a:xfrm>
            <a:off x="713232" y="333756"/>
            <a:ext cx="3200400" cy="219456"/>
          </a:xfrm>
          <a:prstGeom prst="rect">
            <a:avLst/>
          </a:prstGeom>
          <a:noFill/>
          <a:ln/>
        </p:spPr>
        <p:txBody>
          <a:bodyPr wrap="square" lIns="0" tIns="0" rIns="0" bIns="0" rtlCol="0" anchor="ctr">
            <a:normAutofit/>
          </a:bodyPr>
          <a:lstStyle/>
          <a:p>
            <a:pPr algn="l" indent="0" marL="0">
              <a:buNone/>
            </a:pPr>
            <a:r>
              <a:rPr lang="en-US" sz="810" b="1" spc="180" kern="0" dirty="0">
                <a:solidFill>
                  <a:srgbClr val="16877D"/>
                </a:solidFill>
                <a:latin typeface="Inter" pitchFamily="34" charset="0"/>
                <a:ea typeface="Inter" pitchFamily="34" charset="-122"/>
                <a:cs typeface="Inter" pitchFamily="34" charset="-120"/>
              </a:rPr>
              <a:t>CAPABILITIES</a:t>
            </a:r>
            <a:endParaRPr lang="en-US" sz="810" dirty="0"/>
          </a:p>
        </p:txBody>
      </p:sp>
      <p:sp>
        <p:nvSpPr>
          <p:cNvPr id="4" name="Text 2"/>
          <p:cNvSpPr txBox="1"/>
          <p:nvPr/>
        </p:nvSpPr>
        <p:spPr>
          <a:xfrm>
            <a:off x="566928" y="658368"/>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2263A"/>
                </a:solidFill>
                <a:latin typeface="Inter" pitchFamily="34" charset="0"/>
                <a:ea typeface="Inter" pitchFamily="34" charset="-122"/>
                <a:cs typeface="Inter" pitchFamily="34" charset="-120"/>
              </a:rPr>
              <a:t>The feature set follows the book lifecycle</a:t>
            </a:r>
            <a:endParaRPr lang="en-US" sz="2700" dirty="0"/>
          </a:p>
        </p:txBody>
      </p:sp>
      <p:sp>
        <p:nvSpPr>
          <p:cNvPr id="5" name="Text 3"/>
          <p:cNvSpPr txBox="1"/>
          <p:nvPr/>
        </p:nvSpPr>
        <p:spPr>
          <a:xfrm>
            <a:off x="585216" y="1115568"/>
            <a:ext cx="10972800" cy="274320"/>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Operations are grouped by the job they support, not simply by menu number.</a:t>
            </a:r>
            <a:endParaRPr lang="en-US" sz="1070" dirty="0"/>
          </a:p>
        </p:txBody>
      </p:sp>
      <p:sp>
        <p:nvSpPr>
          <p:cNvPr id="6" name="Shape 4"/>
          <p:cNvSpPr/>
          <p:nvPr/>
        </p:nvSpPr>
        <p:spPr>
          <a:xfrm>
            <a:off x="566928" y="6510528"/>
            <a:ext cx="11119104" cy="0"/>
          </a:xfrm>
          <a:prstGeom prst="line">
            <a:avLst/>
          </a:prstGeom>
          <a:noFill/>
          <a:ln w="10160">
            <a:solidFill>
              <a:srgbClr val="E0E7EB"/>
            </a:solidFill>
            <a:prstDash val="solid"/>
          </a:ln>
        </p:spPr>
      </p:sp>
      <p:sp>
        <p:nvSpPr>
          <p:cNvPr id="7" name="Text 5"/>
          <p:cNvSpPr txBox="1"/>
          <p:nvPr/>
        </p:nvSpPr>
        <p:spPr>
          <a:xfrm>
            <a:off x="566928" y="6565392"/>
            <a:ext cx="5303520" cy="146304"/>
          </a:xfrm>
          <a:prstGeom prst="rect">
            <a:avLst/>
          </a:prstGeom>
          <a:noFill/>
          <a:ln/>
        </p:spPr>
        <p:txBody>
          <a:bodyPr wrap="square" lIns="0" tIns="0" rIns="0" bIns="0" rtlCol="0" anchor="ctr">
            <a:normAutofit/>
          </a:bodyPr>
          <a:lstStyle/>
          <a:p>
            <a:pPr algn="l" indent="0" marL="0">
              <a:buNone/>
            </a:pPr>
            <a:r>
              <a:rPr lang="en-US" sz="750" spc="110" kern="0" dirty="0">
                <a:solidFill>
                  <a:srgbClr val="6B7A88"/>
                </a:solidFill>
                <a:latin typeface="Inter" pitchFamily="34" charset="0"/>
                <a:ea typeface="Inter" pitchFamily="34" charset="-122"/>
                <a:cs typeface="Inter" pitchFamily="34" charset="-120"/>
              </a:rPr>
              <a:t>TITANS  /  LIBRARY MANAGEMENT SYSTEM</a:t>
            </a:r>
            <a:endParaRPr lang="en-US" sz="750" dirty="0"/>
          </a:p>
        </p:txBody>
      </p:sp>
      <p:sp>
        <p:nvSpPr>
          <p:cNvPr id="8" name="Text 6"/>
          <p:cNvSpPr txBox="1"/>
          <p:nvPr/>
        </p:nvSpPr>
        <p:spPr>
          <a:xfrm>
            <a:off x="11109960" y="6556248"/>
            <a:ext cx="502920" cy="164592"/>
          </a:xfrm>
          <a:prstGeom prst="rect">
            <a:avLst/>
          </a:prstGeom>
          <a:noFill/>
          <a:ln/>
        </p:spPr>
        <p:txBody>
          <a:bodyPr wrap="square" lIns="0" tIns="0" rIns="0" bIns="0" rtlCol="0" anchor="ctr">
            <a:normAutofit/>
          </a:bodyPr>
          <a:lstStyle/>
          <a:p>
            <a:pPr algn="r" indent="0" marL="0">
              <a:buNone/>
            </a:pPr>
            <a:r>
              <a:rPr lang="en-US" sz="800" dirty="0">
                <a:solidFill>
                  <a:srgbClr val="6B7A88"/>
                </a:solidFill>
                <a:latin typeface="Inter" pitchFamily="34" charset="0"/>
                <a:ea typeface="Inter" pitchFamily="34" charset="-122"/>
                <a:cs typeface="Inter" pitchFamily="34" charset="-120"/>
              </a:rPr>
              <a:t>10</a:t>
            </a:r>
            <a:endParaRPr lang="en-US" sz="800" dirty="0"/>
          </a:p>
        </p:txBody>
      </p:sp>
      <p:sp>
        <p:nvSpPr>
          <p:cNvPr id="9" name="Shape 7"/>
          <p:cNvSpPr/>
          <p:nvPr/>
        </p:nvSpPr>
        <p:spPr>
          <a:xfrm>
            <a:off x="658368" y="1700784"/>
            <a:ext cx="5285232" cy="1783080"/>
          </a:xfrm>
          <a:prstGeom prst="roundRect">
            <a:avLst>
              <a:gd name="adj" fmla="val 6154"/>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0" name="Shape 8"/>
          <p:cNvSpPr/>
          <p:nvPr/>
        </p:nvSpPr>
        <p:spPr>
          <a:xfrm>
            <a:off x="658368" y="1700784"/>
            <a:ext cx="5285232" cy="457200"/>
          </a:xfrm>
          <a:prstGeom prst="roundRect">
            <a:avLst>
              <a:gd name="adj" fmla="val 24000"/>
            </a:avLst>
          </a:prstGeom>
          <a:solidFill>
            <a:srgbClr val="E9F0F6"/>
          </a:solidFill>
          <a:ln w="11430">
            <a:solidFill>
              <a:srgbClr val="E9F0F6"/>
            </a:solidFill>
            <a:prstDash val="solid"/>
          </a:ln>
        </p:spPr>
      </p:sp>
      <p:sp>
        <p:nvSpPr>
          <p:cNvPr id="11" name="Text 9"/>
          <p:cNvSpPr txBox="1"/>
          <p:nvPr/>
        </p:nvSpPr>
        <p:spPr>
          <a:xfrm>
            <a:off x="868680" y="1783080"/>
            <a:ext cx="4864608" cy="265176"/>
          </a:xfrm>
          <a:prstGeom prst="rect">
            <a:avLst/>
          </a:prstGeom>
          <a:noFill/>
          <a:ln/>
        </p:spPr>
        <p:txBody>
          <a:bodyPr wrap="square" lIns="0" tIns="0" rIns="0" bIns="0" rtlCol="0" anchor="ctr">
            <a:normAutofit/>
          </a:bodyPr>
          <a:lstStyle/>
          <a:p>
            <a:pPr algn="l" indent="0" marL="0">
              <a:buNone/>
            </a:pPr>
            <a:r>
              <a:rPr lang="en-US" sz="1400" b="1" dirty="0">
                <a:solidFill>
                  <a:srgbClr val="12263A"/>
                </a:solidFill>
                <a:latin typeface="Inter" pitchFamily="34" charset="0"/>
                <a:ea typeface="Inter" pitchFamily="34" charset="-122"/>
                <a:cs typeface="Inter" pitchFamily="34" charset="-120"/>
              </a:rPr>
              <a:t>01  Catalogue management</a:t>
            </a:r>
            <a:endParaRPr lang="en-US" sz="1400" dirty="0"/>
          </a:p>
        </p:txBody>
      </p:sp>
      <p:sp>
        <p:nvSpPr>
          <p:cNvPr id="12" name="Shape 10"/>
          <p:cNvSpPr/>
          <p:nvPr/>
        </p:nvSpPr>
        <p:spPr>
          <a:xfrm>
            <a:off x="886968" y="2432304"/>
            <a:ext cx="77724" cy="77724"/>
          </a:xfrm>
          <a:prstGeom prst="ellipse">
            <a:avLst/>
          </a:prstGeom>
          <a:solidFill>
            <a:srgbClr val="16877D"/>
          </a:solidFill>
          <a:ln w="12700">
            <a:solidFill>
              <a:srgbClr val="16877D">
                <a:alpha val="0"/>
              </a:srgbClr>
            </a:solidFill>
            <a:prstDash val="solid"/>
          </a:ln>
        </p:spPr>
      </p:sp>
      <p:sp>
        <p:nvSpPr>
          <p:cNvPr id="13" name="Text 11"/>
          <p:cNvSpPr txBox="1"/>
          <p:nvPr/>
        </p:nvSpPr>
        <p:spPr>
          <a:xfrm>
            <a:off x="1060704" y="2340864"/>
            <a:ext cx="4654296" cy="237744"/>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Add a book with validated metadata</a:t>
            </a:r>
            <a:endParaRPr lang="en-US" sz="1020" dirty="0"/>
          </a:p>
        </p:txBody>
      </p:sp>
      <p:sp>
        <p:nvSpPr>
          <p:cNvPr id="14" name="Shape 12"/>
          <p:cNvSpPr/>
          <p:nvPr/>
        </p:nvSpPr>
        <p:spPr>
          <a:xfrm>
            <a:off x="886968" y="2761488"/>
            <a:ext cx="77724" cy="77724"/>
          </a:xfrm>
          <a:prstGeom prst="ellipse">
            <a:avLst/>
          </a:prstGeom>
          <a:solidFill>
            <a:srgbClr val="16877D"/>
          </a:solidFill>
          <a:ln w="12700">
            <a:solidFill>
              <a:srgbClr val="16877D">
                <a:alpha val="0"/>
              </a:srgbClr>
            </a:solidFill>
            <a:prstDash val="solid"/>
          </a:ln>
        </p:spPr>
      </p:sp>
      <p:sp>
        <p:nvSpPr>
          <p:cNvPr id="15" name="Text 13"/>
          <p:cNvSpPr txBox="1"/>
          <p:nvPr/>
        </p:nvSpPr>
        <p:spPr>
          <a:xfrm>
            <a:off x="1060704" y="2670048"/>
            <a:ext cx="4654296" cy="237744"/>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Remove only when the book is available</a:t>
            </a:r>
            <a:endParaRPr lang="en-US" sz="1020" dirty="0"/>
          </a:p>
        </p:txBody>
      </p:sp>
      <p:sp>
        <p:nvSpPr>
          <p:cNvPr id="16" name="Shape 14"/>
          <p:cNvSpPr/>
          <p:nvPr/>
        </p:nvSpPr>
        <p:spPr>
          <a:xfrm>
            <a:off x="886968" y="3090672"/>
            <a:ext cx="77724" cy="77724"/>
          </a:xfrm>
          <a:prstGeom prst="ellipse">
            <a:avLst/>
          </a:prstGeom>
          <a:solidFill>
            <a:srgbClr val="16877D"/>
          </a:solidFill>
          <a:ln w="12700">
            <a:solidFill>
              <a:srgbClr val="16877D">
                <a:alpha val="0"/>
              </a:srgbClr>
            </a:solidFill>
            <a:prstDash val="solid"/>
          </a:ln>
        </p:spPr>
      </p:sp>
      <p:sp>
        <p:nvSpPr>
          <p:cNvPr id="17" name="Text 15"/>
          <p:cNvSpPr txBox="1"/>
          <p:nvPr/>
        </p:nvSpPr>
        <p:spPr>
          <a:xfrm>
            <a:off x="1060704" y="2999232"/>
            <a:ext cx="4654296" cy="237744"/>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Maintain unique ISBNs</a:t>
            </a:r>
            <a:endParaRPr lang="en-US" sz="1020" dirty="0"/>
          </a:p>
        </p:txBody>
      </p:sp>
      <p:sp>
        <p:nvSpPr>
          <p:cNvPr id="18" name="Shape 16"/>
          <p:cNvSpPr/>
          <p:nvPr/>
        </p:nvSpPr>
        <p:spPr>
          <a:xfrm>
            <a:off x="6199632" y="1700784"/>
            <a:ext cx="5285232" cy="1783080"/>
          </a:xfrm>
          <a:prstGeom prst="roundRect">
            <a:avLst>
              <a:gd name="adj" fmla="val 6154"/>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9" name="Shape 17"/>
          <p:cNvSpPr/>
          <p:nvPr/>
        </p:nvSpPr>
        <p:spPr>
          <a:xfrm>
            <a:off x="6199632" y="1700784"/>
            <a:ext cx="5285232" cy="457200"/>
          </a:xfrm>
          <a:prstGeom prst="roundRect">
            <a:avLst>
              <a:gd name="adj" fmla="val 24000"/>
            </a:avLst>
          </a:prstGeom>
          <a:solidFill>
            <a:srgbClr val="E1F3F0"/>
          </a:solidFill>
          <a:ln w="11430">
            <a:solidFill>
              <a:srgbClr val="E1F3F0"/>
            </a:solidFill>
            <a:prstDash val="solid"/>
          </a:ln>
        </p:spPr>
      </p:sp>
      <p:sp>
        <p:nvSpPr>
          <p:cNvPr id="20" name="Text 18"/>
          <p:cNvSpPr txBox="1"/>
          <p:nvPr/>
        </p:nvSpPr>
        <p:spPr>
          <a:xfrm>
            <a:off x="6409944" y="1783080"/>
            <a:ext cx="4864608" cy="265176"/>
          </a:xfrm>
          <a:prstGeom prst="rect">
            <a:avLst/>
          </a:prstGeom>
          <a:noFill/>
          <a:ln/>
        </p:spPr>
        <p:txBody>
          <a:bodyPr wrap="square" lIns="0" tIns="0" rIns="0" bIns="0" rtlCol="0" anchor="ctr">
            <a:normAutofit/>
          </a:bodyPr>
          <a:lstStyle/>
          <a:p>
            <a:pPr algn="l" indent="0" marL="0">
              <a:buNone/>
            </a:pPr>
            <a:r>
              <a:rPr lang="en-US" sz="1400" b="1" dirty="0">
                <a:solidFill>
                  <a:srgbClr val="12263A"/>
                </a:solidFill>
                <a:latin typeface="Inter" pitchFamily="34" charset="0"/>
                <a:ea typeface="Inter" pitchFamily="34" charset="-122"/>
                <a:cs typeface="Inter" pitchFamily="34" charset="-120"/>
              </a:rPr>
              <a:t>02  Discovery</a:t>
            </a:r>
            <a:endParaRPr lang="en-US" sz="1400" dirty="0"/>
          </a:p>
        </p:txBody>
      </p:sp>
      <p:sp>
        <p:nvSpPr>
          <p:cNvPr id="21" name="Shape 19"/>
          <p:cNvSpPr/>
          <p:nvPr/>
        </p:nvSpPr>
        <p:spPr>
          <a:xfrm>
            <a:off x="6428232" y="2432304"/>
            <a:ext cx="77724" cy="77724"/>
          </a:xfrm>
          <a:prstGeom prst="ellipse">
            <a:avLst/>
          </a:prstGeom>
          <a:solidFill>
            <a:srgbClr val="16877D"/>
          </a:solidFill>
          <a:ln w="12700">
            <a:solidFill>
              <a:srgbClr val="16877D">
                <a:alpha val="0"/>
              </a:srgbClr>
            </a:solidFill>
            <a:prstDash val="solid"/>
          </a:ln>
        </p:spPr>
      </p:sp>
      <p:sp>
        <p:nvSpPr>
          <p:cNvPr id="22" name="Text 20"/>
          <p:cNvSpPr txBox="1"/>
          <p:nvPr/>
        </p:nvSpPr>
        <p:spPr>
          <a:xfrm>
            <a:off x="6601968" y="2340864"/>
            <a:ext cx="4654296" cy="237744"/>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Search title, author, ISBN or genre</a:t>
            </a:r>
            <a:endParaRPr lang="en-US" sz="1020" dirty="0"/>
          </a:p>
        </p:txBody>
      </p:sp>
      <p:sp>
        <p:nvSpPr>
          <p:cNvPr id="23" name="Shape 21"/>
          <p:cNvSpPr/>
          <p:nvPr/>
        </p:nvSpPr>
        <p:spPr>
          <a:xfrm>
            <a:off x="6428232" y="2761488"/>
            <a:ext cx="77724" cy="77724"/>
          </a:xfrm>
          <a:prstGeom prst="ellipse">
            <a:avLst/>
          </a:prstGeom>
          <a:solidFill>
            <a:srgbClr val="16877D"/>
          </a:solidFill>
          <a:ln w="12700">
            <a:solidFill>
              <a:srgbClr val="16877D">
                <a:alpha val="0"/>
              </a:srgbClr>
            </a:solidFill>
            <a:prstDash val="solid"/>
          </a:ln>
        </p:spPr>
      </p:sp>
      <p:sp>
        <p:nvSpPr>
          <p:cNvPr id="24" name="Text 22"/>
          <p:cNvSpPr txBox="1"/>
          <p:nvPr/>
        </p:nvSpPr>
        <p:spPr>
          <a:xfrm>
            <a:off x="6601968" y="2670048"/>
            <a:ext cx="4654296" cy="237744"/>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Sort by title, author or genre</a:t>
            </a:r>
            <a:endParaRPr lang="en-US" sz="1020" dirty="0"/>
          </a:p>
        </p:txBody>
      </p:sp>
      <p:sp>
        <p:nvSpPr>
          <p:cNvPr id="25" name="Shape 23"/>
          <p:cNvSpPr/>
          <p:nvPr/>
        </p:nvSpPr>
        <p:spPr>
          <a:xfrm>
            <a:off x="6428232" y="3090672"/>
            <a:ext cx="77724" cy="77724"/>
          </a:xfrm>
          <a:prstGeom prst="ellipse">
            <a:avLst/>
          </a:prstGeom>
          <a:solidFill>
            <a:srgbClr val="16877D"/>
          </a:solidFill>
          <a:ln w="12700">
            <a:solidFill>
              <a:srgbClr val="16877D">
                <a:alpha val="0"/>
              </a:srgbClr>
            </a:solidFill>
            <a:prstDash val="solid"/>
          </a:ln>
        </p:spPr>
      </p:sp>
      <p:sp>
        <p:nvSpPr>
          <p:cNvPr id="26" name="Text 24"/>
          <p:cNvSpPr txBox="1"/>
          <p:nvPr/>
        </p:nvSpPr>
        <p:spPr>
          <a:xfrm>
            <a:off x="6601968" y="2999232"/>
            <a:ext cx="4654296" cy="237744"/>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Strategies isolate each criterion</a:t>
            </a:r>
            <a:endParaRPr lang="en-US" sz="1020" dirty="0"/>
          </a:p>
        </p:txBody>
      </p:sp>
      <p:sp>
        <p:nvSpPr>
          <p:cNvPr id="27" name="Shape 25"/>
          <p:cNvSpPr/>
          <p:nvPr/>
        </p:nvSpPr>
        <p:spPr>
          <a:xfrm>
            <a:off x="658368" y="3712464"/>
            <a:ext cx="5285232" cy="1783080"/>
          </a:xfrm>
          <a:prstGeom prst="roundRect">
            <a:avLst>
              <a:gd name="adj" fmla="val 6154"/>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28" name="Shape 26"/>
          <p:cNvSpPr/>
          <p:nvPr/>
        </p:nvSpPr>
        <p:spPr>
          <a:xfrm>
            <a:off x="658368" y="3712464"/>
            <a:ext cx="5285232" cy="457200"/>
          </a:xfrm>
          <a:prstGeom prst="roundRect">
            <a:avLst>
              <a:gd name="adj" fmla="val 24000"/>
            </a:avLst>
          </a:prstGeom>
          <a:solidFill>
            <a:srgbClr val="FFF2DE"/>
          </a:solidFill>
          <a:ln w="11430">
            <a:solidFill>
              <a:srgbClr val="FFF2DE"/>
            </a:solidFill>
            <a:prstDash val="solid"/>
          </a:ln>
        </p:spPr>
      </p:sp>
      <p:sp>
        <p:nvSpPr>
          <p:cNvPr id="29" name="Text 27"/>
          <p:cNvSpPr txBox="1"/>
          <p:nvPr/>
        </p:nvSpPr>
        <p:spPr>
          <a:xfrm>
            <a:off x="868680" y="3794760"/>
            <a:ext cx="4864608" cy="265176"/>
          </a:xfrm>
          <a:prstGeom prst="rect">
            <a:avLst/>
          </a:prstGeom>
          <a:noFill/>
          <a:ln/>
        </p:spPr>
        <p:txBody>
          <a:bodyPr wrap="square" lIns="0" tIns="0" rIns="0" bIns="0" rtlCol="0" anchor="ctr">
            <a:normAutofit/>
          </a:bodyPr>
          <a:lstStyle/>
          <a:p>
            <a:pPr algn="l" indent="0" marL="0">
              <a:buNone/>
            </a:pPr>
            <a:r>
              <a:rPr lang="en-US" sz="1400" b="1" dirty="0">
                <a:solidFill>
                  <a:srgbClr val="12263A"/>
                </a:solidFill>
                <a:latin typeface="Inter" pitchFamily="34" charset="0"/>
                <a:ea typeface="Inter" pitchFamily="34" charset="-122"/>
                <a:cs typeface="Inter" pitchFamily="34" charset="-120"/>
              </a:rPr>
              <a:t>03  Circulation</a:t>
            </a:r>
            <a:endParaRPr lang="en-US" sz="1400" dirty="0"/>
          </a:p>
        </p:txBody>
      </p:sp>
      <p:sp>
        <p:nvSpPr>
          <p:cNvPr id="30" name="Shape 28"/>
          <p:cNvSpPr/>
          <p:nvPr/>
        </p:nvSpPr>
        <p:spPr>
          <a:xfrm>
            <a:off x="886968" y="4443984"/>
            <a:ext cx="77724" cy="77724"/>
          </a:xfrm>
          <a:prstGeom prst="ellipse">
            <a:avLst/>
          </a:prstGeom>
          <a:solidFill>
            <a:srgbClr val="E3A34F"/>
          </a:solidFill>
          <a:ln w="12700">
            <a:solidFill>
              <a:srgbClr val="E3A34F">
                <a:alpha val="0"/>
              </a:srgbClr>
            </a:solidFill>
            <a:prstDash val="solid"/>
          </a:ln>
        </p:spPr>
      </p:sp>
      <p:sp>
        <p:nvSpPr>
          <p:cNvPr id="31" name="Text 29"/>
          <p:cNvSpPr txBox="1"/>
          <p:nvPr/>
        </p:nvSpPr>
        <p:spPr>
          <a:xfrm>
            <a:off x="1060704" y="4352544"/>
            <a:ext cx="4654296" cy="237744"/>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Borrow and return books</a:t>
            </a:r>
            <a:endParaRPr lang="en-US" sz="1020" dirty="0"/>
          </a:p>
        </p:txBody>
      </p:sp>
      <p:sp>
        <p:nvSpPr>
          <p:cNvPr id="32" name="Shape 30"/>
          <p:cNvSpPr/>
          <p:nvPr/>
        </p:nvSpPr>
        <p:spPr>
          <a:xfrm>
            <a:off x="886968" y="4773168"/>
            <a:ext cx="77724" cy="77724"/>
          </a:xfrm>
          <a:prstGeom prst="ellipse">
            <a:avLst/>
          </a:prstGeom>
          <a:solidFill>
            <a:srgbClr val="E3A34F"/>
          </a:solidFill>
          <a:ln w="12700">
            <a:solidFill>
              <a:srgbClr val="E3A34F">
                <a:alpha val="0"/>
              </a:srgbClr>
            </a:solidFill>
            <a:prstDash val="solid"/>
          </a:ln>
        </p:spPr>
      </p:sp>
      <p:sp>
        <p:nvSpPr>
          <p:cNvPr id="33" name="Text 31"/>
          <p:cNvSpPr txBox="1"/>
          <p:nvPr/>
        </p:nvSpPr>
        <p:spPr>
          <a:xfrm>
            <a:off x="1060704" y="4681728"/>
            <a:ext cx="4654296" cy="237744"/>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Reject unavailable books</a:t>
            </a:r>
            <a:endParaRPr lang="en-US" sz="1020" dirty="0"/>
          </a:p>
        </p:txBody>
      </p:sp>
      <p:sp>
        <p:nvSpPr>
          <p:cNvPr id="34" name="Shape 32"/>
          <p:cNvSpPr/>
          <p:nvPr/>
        </p:nvSpPr>
        <p:spPr>
          <a:xfrm>
            <a:off x="886968" y="5102352"/>
            <a:ext cx="77724" cy="77724"/>
          </a:xfrm>
          <a:prstGeom prst="ellipse">
            <a:avLst/>
          </a:prstGeom>
          <a:solidFill>
            <a:srgbClr val="E3A34F"/>
          </a:solidFill>
          <a:ln w="12700">
            <a:solidFill>
              <a:srgbClr val="E3A34F">
                <a:alpha val="0"/>
              </a:srgbClr>
            </a:solidFill>
            <a:prstDash val="solid"/>
          </a:ln>
        </p:spPr>
      </p:sp>
      <p:sp>
        <p:nvSpPr>
          <p:cNvPr id="35" name="Text 33"/>
          <p:cNvSpPr txBox="1"/>
          <p:nvPr/>
        </p:nvSpPr>
        <p:spPr>
          <a:xfrm>
            <a:off x="1060704" y="5010912"/>
            <a:ext cx="4654296" cy="237744"/>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Enforce member limit of five loans</a:t>
            </a:r>
            <a:endParaRPr lang="en-US" sz="1020" dirty="0"/>
          </a:p>
        </p:txBody>
      </p:sp>
      <p:sp>
        <p:nvSpPr>
          <p:cNvPr id="36" name="Shape 34"/>
          <p:cNvSpPr/>
          <p:nvPr/>
        </p:nvSpPr>
        <p:spPr>
          <a:xfrm>
            <a:off x="6199632" y="3712464"/>
            <a:ext cx="5285232" cy="1783080"/>
          </a:xfrm>
          <a:prstGeom prst="roundRect">
            <a:avLst>
              <a:gd name="adj" fmla="val 6154"/>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37" name="Shape 35"/>
          <p:cNvSpPr/>
          <p:nvPr/>
        </p:nvSpPr>
        <p:spPr>
          <a:xfrm>
            <a:off x="6199632" y="3712464"/>
            <a:ext cx="5285232" cy="457200"/>
          </a:xfrm>
          <a:prstGeom prst="roundRect">
            <a:avLst>
              <a:gd name="adj" fmla="val 24000"/>
            </a:avLst>
          </a:prstGeom>
          <a:solidFill>
            <a:srgbClr val="F0F3F6"/>
          </a:solidFill>
          <a:ln w="11430">
            <a:solidFill>
              <a:srgbClr val="F0F3F6"/>
            </a:solidFill>
            <a:prstDash val="solid"/>
          </a:ln>
        </p:spPr>
      </p:sp>
      <p:sp>
        <p:nvSpPr>
          <p:cNvPr id="38" name="Text 36"/>
          <p:cNvSpPr txBox="1"/>
          <p:nvPr/>
        </p:nvSpPr>
        <p:spPr>
          <a:xfrm>
            <a:off x="6409944" y="3794760"/>
            <a:ext cx="4864608" cy="265176"/>
          </a:xfrm>
          <a:prstGeom prst="rect">
            <a:avLst/>
          </a:prstGeom>
          <a:noFill/>
          <a:ln/>
        </p:spPr>
        <p:txBody>
          <a:bodyPr wrap="square" lIns="0" tIns="0" rIns="0" bIns="0" rtlCol="0" anchor="ctr">
            <a:normAutofit/>
          </a:bodyPr>
          <a:lstStyle/>
          <a:p>
            <a:pPr algn="l" indent="0" marL="0">
              <a:buNone/>
            </a:pPr>
            <a:r>
              <a:rPr lang="en-US" sz="1400" b="1" dirty="0">
                <a:solidFill>
                  <a:srgbClr val="12263A"/>
                </a:solidFill>
                <a:latin typeface="Inter" pitchFamily="34" charset="0"/>
                <a:ea typeface="Inter" pitchFamily="34" charset="-122"/>
                <a:cs typeface="Inter" pitchFamily="34" charset="-120"/>
              </a:rPr>
              <a:t>04  Membership &amp; insight</a:t>
            </a:r>
            <a:endParaRPr lang="en-US" sz="1400" dirty="0"/>
          </a:p>
        </p:txBody>
      </p:sp>
      <p:sp>
        <p:nvSpPr>
          <p:cNvPr id="39" name="Shape 37"/>
          <p:cNvSpPr/>
          <p:nvPr/>
        </p:nvSpPr>
        <p:spPr>
          <a:xfrm>
            <a:off x="6428232" y="4443984"/>
            <a:ext cx="77724" cy="77724"/>
          </a:xfrm>
          <a:prstGeom prst="ellipse">
            <a:avLst/>
          </a:prstGeom>
          <a:solidFill>
            <a:srgbClr val="16877D"/>
          </a:solidFill>
          <a:ln w="12700">
            <a:solidFill>
              <a:srgbClr val="16877D">
                <a:alpha val="0"/>
              </a:srgbClr>
            </a:solidFill>
            <a:prstDash val="solid"/>
          </a:ln>
        </p:spPr>
      </p:sp>
      <p:sp>
        <p:nvSpPr>
          <p:cNvPr id="40" name="Text 38"/>
          <p:cNvSpPr txBox="1"/>
          <p:nvPr/>
        </p:nvSpPr>
        <p:spPr>
          <a:xfrm>
            <a:off x="6601968" y="4352544"/>
            <a:ext cx="4654296" cy="237744"/>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Add, inspect and remove members safely</a:t>
            </a:r>
            <a:endParaRPr lang="en-US" sz="1020" dirty="0"/>
          </a:p>
        </p:txBody>
      </p:sp>
      <p:sp>
        <p:nvSpPr>
          <p:cNvPr id="41" name="Shape 39"/>
          <p:cNvSpPr/>
          <p:nvPr/>
        </p:nvSpPr>
        <p:spPr>
          <a:xfrm>
            <a:off x="6428232" y="4773168"/>
            <a:ext cx="77724" cy="77724"/>
          </a:xfrm>
          <a:prstGeom prst="ellipse">
            <a:avLst/>
          </a:prstGeom>
          <a:solidFill>
            <a:srgbClr val="16877D"/>
          </a:solidFill>
          <a:ln w="12700">
            <a:solidFill>
              <a:srgbClr val="16877D">
                <a:alpha val="0"/>
              </a:srgbClr>
            </a:solidFill>
            <a:prstDash val="solid"/>
          </a:ln>
        </p:spPr>
      </p:sp>
      <p:sp>
        <p:nvSpPr>
          <p:cNvPr id="42" name="Text 40"/>
          <p:cNvSpPr txBox="1"/>
          <p:nvPr/>
        </p:nvSpPr>
        <p:spPr>
          <a:xfrm>
            <a:off x="6601968" y="4681728"/>
            <a:ext cx="4654296" cy="237744"/>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Show total, available and borrowed counts</a:t>
            </a:r>
            <a:endParaRPr lang="en-US" sz="1020" dirty="0"/>
          </a:p>
        </p:txBody>
      </p:sp>
      <p:sp>
        <p:nvSpPr>
          <p:cNvPr id="43" name="Shape 41"/>
          <p:cNvSpPr/>
          <p:nvPr/>
        </p:nvSpPr>
        <p:spPr>
          <a:xfrm>
            <a:off x="6428232" y="5102352"/>
            <a:ext cx="77724" cy="77724"/>
          </a:xfrm>
          <a:prstGeom prst="ellipse">
            <a:avLst/>
          </a:prstGeom>
          <a:solidFill>
            <a:srgbClr val="16877D"/>
          </a:solidFill>
          <a:ln w="12700">
            <a:solidFill>
              <a:srgbClr val="16877D">
                <a:alpha val="0"/>
              </a:srgbClr>
            </a:solidFill>
            <a:prstDash val="solid"/>
          </a:ln>
        </p:spPr>
      </p:sp>
      <p:sp>
        <p:nvSpPr>
          <p:cNvPr id="44" name="Text 42"/>
          <p:cNvSpPr txBox="1"/>
          <p:nvPr/>
        </p:nvSpPr>
        <p:spPr>
          <a:xfrm>
            <a:off x="6601968" y="5010912"/>
            <a:ext cx="4654296" cy="237744"/>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Keep loan history in SQLite</a:t>
            </a:r>
            <a:endParaRPr lang="en-US" sz="1020" dirty="0"/>
          </a:p>
        </p:txBody>
      </p:sp>
      <p:sp>
        <p:nvSpPr>
          <p:cNvPr id="45" name="Text 43"/>
          <p:cNvSpPr txBox="1"/>
          <p:nvPr/>
        </p:nvSpPr>
        <p:spPr>
          <a:xfrm>
            <a:off x="731520" y="5870448"/>
            <a:ext cx="9875520" cy="201168"/>
          </a:xfrm>
          <a:prstGeom prst="rect">
            <a:avLst/>
          </a:prstGeom>
          <a:noFill/>
          <a:ln/>
        </p:spPr>
        <p:txBody>
          <a:bodyPr wrap="square" lIns="0" tIns="0" rIns="0" bIns="0" rtlCol="0" anchor="ctr">
            <a:normAutofit/>
          </a:bodyPr>
          <a:lstStyle/>
          <a:p>
            <a:pPr algn="l" indent="0" marL="0">
              <a:buNone/>
            </a:pPr>
            <a:r>
              <a:rPr lang="en-US" sz="1020" i="1" dirty="0">
                <a:solidFill>
                  <a:srgbClr val="657585"/>
                </a:solidFill>
                <a:latin typeface="Inter" pitchFamily="34" charset="0"/>
                <a:ea typeface="Inter" pitchFamily="34" charset="-122"/>
                <a:cs typeface="Inter" pitchFamily="34" charset="-120"/>
              </a:rPr>
              <a:t>Guardrails are part of each command: invalid transitions are rejected with domain-level errors.</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66928" y="347472"/>
            <a:ext cx="50292" cy="210312"/>
          </a:xfrm>
          <a:prstGeom prst="rect">
            <a:avLst/>
          </a:prstGeom>
          <a:solidFill>
            <a:srgbClr val="16877D"/>
          </a:solidFill>
          <a:ln w="12700">
            <a:solidFill>
              <a:srgbClr val="16877D">
                <a:alpha val="0"/>
              </a:srgbClr>
            </a:solidFill>
            <a:prstDash val="solid"/>
          </a:ln>
        </p:spPr>
      </p:sp>
      <p:sp>
        <p:nvSpPr>
          <p:cNvPr id="3" name="Text 1"/>
          <p:cNvSpPr txBox="1"/>
          <p:nvPr/>
        </p:nvSpPr>
        <p:spPr>
          <a:xfrm>
            <a:off x="713232" y="333756"/>
            <a:ext cx="3200400" cy="219456"/>
          </a:xfrm>
          <a:prstGeom prst="rect">
            <a:avLst/>
          </a:prstGeom>
          <a:noFill/>
          <a:ln/>
        </p:spPr>
        <p:txBody>
          <a:bodyPr wrap="square" lIns="0" tIns="0" rIns="0" bIns="0" rtlCol="0" anchor="ctr">
            <a:normAutofit/>
          </a:bodyPr>
          <a:lstStyle/>
          <a:p>
            <a:pPr algn="l" indent="0" marL="0">
              <a:buNone/>
            </a:pPr>
            <a:r>
              <a:rPr lang="en-US" sz="810" b="1" spc="180" kern="0" dirty="0">
                <a:solidFill>
                  <a:srgbClr val="16877D"/>
                </a:solidFill>
                <a:latin typeface="Inter" pitchFamily="34" charset="0"/>
                <a:ea typeface="Inter" pitchFamily="34" charset="-122"/>
                <a:cs typeface="Inter" pitchFamily="34" charset="-120"/>
              </a:rPr>
              <a:t>WORKFLOW</a:t>
            </a:r>
            <a:endParaRPr lang="en-US" sz="810" dirty="0"/>
          </a:p>
        </p:txBody>
      </p:sp>
      <p:sp>
        <p:nvSpPr>
          <p:cNvPr id="4" name="Text 2"/>
          <p:cNvSpPr txBox="1"/>
          <p:nvPr/>
        </p:nvSpPr>
        <p:spPr>
          <a:xfrm>
            <a:off x="566928" y="658368"/>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2263A"/>
                </a:solidFill>
                <a:latin typeface="Inter" pitchFamily="34" charset="0"/>
                <a:ea typeface="Inter" pitchFamily="34" charset="-122"/>
                <a:cs typeface="Inter" pitchFamily="34" charset="-120"/>
              </a:rPr>
              <a:t>Borrowing a book: validate first, then commit the state</a:t>
            </a:r>
            <a:endParaRPr lang="en-US" sz="2700" dirty="0"/>
          </a:p>
        </p:txBody>
      </p:sp>
      <p:sp>
        <p:nvSpPr>
          <p:cNvPr id="5" name="Text 3"/>
          <p:cNvSpPr txBox="1"/>
          <p:nvPr/>
        </p:nvSpPr>
        <p:spPr>
          <a:xfrm>
            <a:off x="585216" y="1115568"/>
            <a:ext cx="10972800" cy="274320"/>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The order matters because storage failure should not leave memory pretending a loan succeeded.</a:t>
            </a:r>
            <a:endParaRPr lang="en-US" sz="1070" dirty="0"/>
          </a:p>
        </p:txBody>
      </p:sp>
      <p:sp>
        <p:nvSpPr>
          <p:cNvPr id="6" name="Shape 4"/>
          <p:cNvSpPr/>
          <p:nvPr/>
        </p:nvSpPr>
        <p:spPr>
          <a:xfrm>
            <a:off x="566928" y="6510528"/>
            <a:ext cx="11119104" cy="0"/>
          </a:xfrm>
          <a:prstGeom prst="line">
            <a:avLst/>
          </a:prstGeom>
          <a:noFill/>
          <a:ln w="10160">
            <a:solidFill>
              <a:srgbClr val="E0E7EB"/>
            </a:solidFill>
            <a:prstDash val="solid"/>
          </a:ln>
        </p:spPr>
      </p:sp>
      <p:sp>
        <p:nvSpPr>
          <p:cNvPr id="7" name="Text 5"/>
          <p:cNvSpPr txBox="1"/>
          <p:nvPr/>
        </p:nvSpPr>
        <p:spPr>
          <a:xfrm>
            <a:off x="566928" y="6565392"/>
            <a:ext cx="5303520" cy="146304"/>
          </a:xfrm>
          <a:prstGeom prst="rect">
            <a:avLst/>
          </a:prstGeom>
          <a:noFill/>
          <a:ln/>
        </p:spPr>
        <p:txBody>
          <a:bodyPr wrap="square" lIns="0" tIns="0" rIns="0" bIns="0" rtlCol="0" anchor="ctr">
            <a:normAutofit/>
          </a:bodyPr>
          <a:lstStyle/>
          <a:p>
            <a:pPr algn="l" indent="0" marL="0">
              <a:buNone/>
            </a:pPr>
            <a:r>
              <a:rPr lang="en-US" sz="750" spc="110" kern="0" dirty="0">
                <a:solidFill>
                  <a:srgbClr val="6B7A88"/>
                </a:solidFill>
                <a:latin typeface="Inter" pitchFamily="34" charset="0"/>
                <a:ea typeface="Inter" pitchFamily="34" charset="-122"/>
                <a:cs typeface="Inter" pitchFamily="34" charset="-120"/>
              </a:rPr>
              <a:t>TITANS  /  LIBRARY MANAGEMENT SYSTEM</a:t>
            </a:r>
            <a:endParaRPr lang="en-US" sz="750" dirty="0"/>
          </a:p>
        </p:txBody>
      </p:sp>
      <p:sp>
        <p:nvSpPr>
          <p:cNvPr id="8" name="Text 6"/>
          <p:cNvSpPr txBox="1"/>
          <p:nvPr/>
        </p:nvSpPr>
        <p:spPr>
          <a:xfrm>
            <a:off x="11109960" y="6556248"/>
            <a:ext cx="502920" cy="164592"/>
          </a:xfrm>
          <a:prstGeom prst="rect">
            <a:avLst/>
          </a:prstGeom>
          <a:noFill/>
          <a:ln/>
        </p:spPr>
        <p:txBody>
          <a:bodyPr wrap="square" lIns="0" tIns="0" rIns="0" bIns="0" rtlCol="0" anchor="ctr">
            <a:normAutofit/>
          </a:bodyPr>
          <a:lstStyle/>
          <a:p>
            <a:pPr algn="r" indent="0" marL="0">
              <a:buNone/>
            </a:pPr>
            <a:r>
              <a:rPr lang="en-US" sz="800" dirty="0">
                <a:solidFill>
                  <a:srgbClr val="6B7A88"/>
                </a:solidFill>
                <a:latin typeface="Inter" pitchFamily="34" charset="0"/>
                <a:ea typeface="Inter" pitchFamily="34" charset="-122"/>
                <a:cs typeface="Inter" pitchFamily="34" charset="-120"/>
              </a:rPr>
              <a:t>11</a:t>
            </a:r>
            <a:endParaRPr lang="en-US" sz="800" dirty="0"/>
          </a:p>
        </p:txBody>
      </p:sp>
      <p:sp>
        <p:nvSpPr>
          <p:cNvPr id="9" name="Shape 7"/>
          <p:cNvSpPr/>
          <p:nvPr/>
        </p:nvSpPr>
        <p:spPr>
          <a:xfrm>
            <a:off x="658368" y="1938528"/>
            <a:ext cx="1984248" cy="1938528"/>
          </a:xfrm>
          <a:prstGeom prst="roundRect">
            <a:avLst>
              <a:gd name="adj" fmla="val 5660"/>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0" name="Shape 8"/>
          <p:cNvSpPr/>
          <p:nvPr/>
        </p:nvSpPr>
        <p:spPr>
          <a:xfrm>
            <a:off x="822960" y="2103120"/>
            <a:ext cx="329184" cy="329184"/>
          </a:xfrm>
          <a:prstGeom prst="ellipse">
            <a:avLst/>
          </a:prstGeom>
          <a:solidFill>
            <a:srgbClr val="16877D"/>
          </a:solidFill>
          <a:ln w="12700">
            <a:solidFill>
              <a:srgbClr val="16877D">
                <a:alpha val="0"/>
              </a:srgbClr>
            </a:solidFill>
            <a:prstDash val="solid"/>
          </a:ln>
        </p:spPr>
      </p:sp>
      <p:sp>
        <p:nvSpPr>
          <p:cNvPr id="11" name="Text 9"/>
          <p:cNvSpPr txBox="1"/>
          <p:nvPr/>
        </p:nvSpPr>
        <p:spPr>
          <a:xfrm>
            <a:off x="822960" y="2107692"/>
            <a:ext cx="329184" cy="31089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1</a:t>
            </a:r>
            <a:endParaRPr lang="en-US" sz="1000" dirty="0"/>
          </a:p>
        </p:txBody>
      </p:sp>
      <p:sp>
        <p:nvSpPr>
          <p:cNvPr id="12" name="Text 10"/>
          <p:cNvSpPr txBox="1"/>
          <p:nvPr/>
        </p:nvSpPr>
        <p:spPr>
          <a:xfrm>
            <a:off x="822960" y="2569464"/>
            <a:ext cx="1655064" cy="329184"/>
          </a:xfrm>
          <a:prstGeom prst="rect">
            <a:avLst/>
          </a:prstGeom>
          <a:noFill/>
          <a:ln/>
        </p:spPr>
        <p:txBody>
          <a:bodyPr wrap="square" lIns="0" tIns="0" rIns="0" bIns="0" rtlCol="0" anchor="ctr">
            <a:normAutofit/>
          </a:bodyPr>
          <a:lstStyle/>
          <a:p>
            <a:pPr algn="l" indent="0" marL="0">
              <a:buNone/>
            </a:pPr>
            <a:r>
              <a:rPr lang="en-US" sz="1500" b="1" dirty="0">
                <a:solidFill>
                  <a:srgbClr val="12263A"/>
                </a:solidFill>
                <a:latin typeface="Inter" pitchFamily="34" charset="0"/>
                <a:ea typeface="Inter" pitchFamily="34" charset="-122"/>
                <a:cs typeface="Inter" pitchFamily="34" charset="-120"/>
              </a:rPr>
              <a:t>Read input</a:t>
            </a:r>
            <a:endParaRPr lang="en-US" sz="1500" dirty="0"/>
          </a:p>
        </p:txBody>
      </p:sp>
      <p:sp>
        <p:nvSpPr>
          <p:cNvPr id="13" name="Text 11"/>
          <p:cNvSpPr txBox="1"/>
          <p:nvPr/>
        </p:nvSpPr>
        <p:spPr>
          <a:xfrm>
            <a:off x="822960" y="3026664"/>
            <a:ext cx="1655064" cy="539496"/>
          </a:xfrm>
          <a:prstGeom prst="rect">
            <a:avLst/>
          </a:prstGeom>
          <a:noFill/>
          <a:ln/>
        </p:spPr>
        <p:txBody>
          <a:bodyPr wrap="square" lIns="0" tIns="0" rIns="0" bIns="0" rtlCol="0" anchor="t">
            <a:normAutofit/>
          </a:bodyPr>
          <a:lstStyle/>
          <a:p>
            <a:pPr algn="l" indent="0" marL="0">
              <a:buNone/>
            </a:pPr>
            <a:r>
              <a:rPr lang="en-US" sz="1020" dirty="0">
                <a:solidFill>
                  <a:srgbClr val="657585"/>
                </a:solidFill>
                <a:latin typeface="Inter" pitchFamily="34" charset="0"/>
                <a:ea typeface="Inter" pitchFamily="34" charset="-122"/>
                <a:cs typeface="Inter" pitchFamily="34" charset="-120"/>
              </a:rPr>
              <a:t>UI gets ISBN + member ID</a:t>
            </a:r>
            <a:endParaRPr lang="en-US" sz="1020" dirty="0"/>
          </a:p>
          <a:p>
            <a:pPr algn="l" indent="0" marL="0">
              <a:buNone/>
            </a:pPr>
            <a:r>
              <a:rPr lang="en-US" sz="1020" dirty="0">
                <a:solidFill>
                  <a:srgbClr val="657585"/>
                </a:solidFill>
                <a:latin typeface="Inter" pitchFamily="34" charset="0"/>
                <a:ea typeface="Inter" pitchFamily="34" charset="-122"/>
                <a:cs typeface="Inter" pitchFamily="34" charset="-120"/>
              </a:rPr>
              <a:t>InputReader parses values</a:t>
            </a:r>
            <a:endParaRPr lang="en-US" sz="1020" dirty="0"/>
          </a:p>
        </p:txBody>
      </p:sp>
      <p:sp>
        <p:nvSpPr>
          <p:cNvPr id="14" name="Shape 12"/>
          <p:cNvSpPr/>
          <p:nvPr/>
        </p:nvSpPr>
        <p:spPr>
          <a:xfrm>
            <a:off x="2660904" y="2834640"/>
            <a:ext cx="82296" cy="0"/>
          </a:xfrm>
          <a:prstGeom prst="line">
            <a:avLst/>
          </a:prstGeom>
          <a:noFill/>
          <a:ln w="17780">
            <a:solidFill>
              <a:srgbClr val="16877D"/>
            </a:solidFill>
            <a:prstDash val="solid"/>
            <a:tailEnd type="triangle"/>
          </a:ln>
        </p:spPr>
      </p:sp>
      <p:sp>
        <p:nvSpPr>
          <p:cNvPr id="15" name="Shape 13"/>
          <p:cNvSpPr/>
          <p:nvPr/>
        </p:nvSpPr>
        <p:spPr>
          <a:xfrm>
            <a:off x="2807208" y="1938528"/>
            <a:ext cx="1984248" cy="1938528"/>
          </a:xfrm>
          <a:prstGeom prst="roundRect">
            <a:avLst>
              <a:gd name="adj" fmla="val 5660"/>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6" name="Shape 14"/>
          <p:cNvSpPr/>
          <p:nvPr/>
        </p:nvSpPr>
        <p:spPr>
          <a:xfrm>
            <a:off x="2971800" y="2103120"/>
            <a:ext cx="329184" cy="329184"/>
          </a:xfrm>
          <a:prstGeom prst="ellipse">
            <a:avLst/>
          </a:prstGeom>
          <a:solidFill>
            <a:srgbClr val="16877D"/>
          </a:solidFill>
          <a:ln w="12700">
            <a:solidFill>
              <a:srgbClr val="16877D">
                <a:alpha val="0"/>
              </a:srgbClr>
            </a:solidFill>
            <a:prstDash val="solid"/>
          </a:ln>
        </p:spPr>
      </p:sp>
      <p:sp>
        <p:nvSpPr>
          <p:cNvPr id="17" name="Text 15"/>
          <p:cNvSpPr txBox="1"/>
          <p:nvPr/>
        </p:nvSpPr>
        <p:spPr>
          <a:xfrm>
            <a:off x="2971800" y="2107692"/>
            <a:ext cx="329184" cy="31089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2</a:t>
            </a:r>
            <a:endParaRPr lang="en-US" sz="1000" dirty="0"/>
          </a:p>
        </p:txBody>
      </p:sp>
      <p:sp>
        <p:nvSpPr>
          <p:cNvPr id="18" name="Text 16"/>
          <p:cNvSpPr txBox="1"/>
          <p:nvPr/>
        </p:nvSpPr>
        <p:spPr>
          <a:xfrm>
            <a:off x="2971800" y="2569464"/>
            <a:ext cx="1655064" cy="329184"/>
          </a:xfrm>
          <a:prstGeom prst="rect">
            <a:avLst/>
          </a:prstGeom>
          <a:noFill/>
          <a:ln/>
        </p:spPr>
        <p:txBody>
          <a:bodyPr wrap="square" lIns="0" tIns="0" rIns="0" bIns="0" rtlCol="0" anchor="ctr">
            <a:normAutofit/>
          </a:bodyPr>
          <a:lstStyle/>
          <a:p>
            <a:pPr algn="l" indent="0" marL="0">
              <a:buNone/>
            </a:pPr>
            <a:r>
              <a:rPr lang="en-US" sz="1500" b="1" dirty="0">
                <a:solidFill>
                  <a:srgbClr val="12263A"/>
                </a:solidFill>
                <a:latin typeface="Inter" pitchFamily="34" charset="0"/>
                <a:ea typeface="Inter" pitchFamily="34" charset="-122"/>
                <a:cs typeface="Inter" pitchFamily="34" charset="-120"/>
              </a:rPr>
              <a:t>Resolve entities</a:t>
            </a:r>
            <a:endParaRPr lang="en-US" sz="1500" dirty="0"/>
          </a:p>
        </p:txBody>
      </p:sp>
      <p:sp>
        <p:nvSpPr>
          <p:cNvPr id="19" name="Text 17"/>
          <p:cNvSpPr txBox="1"/>
          <p:nvPr/>
        </p:nvSpPr>
        <p:spPr>
          <a:xfrm>
            <a:off x="2971800" y="3026664"/>
            <a:ext cx="1655064" cy="539496"/>
          </a:xfrm>
          <a:prstGeom prst="rect">
            <a:avLst/>
          </a:prstGeom>
          <a:noFill/>
          <a:ln/>
        </p:spPr>
        <p:txBody>
          <a:bodyPr wrap="square" lIns="0" tIns="0" rIns="0" bIns="0" rtlCol="0" anchor="t">
            <a:normAutofit/>
          </a:bodyPr>
          <a:lstStyle/>
          <a:p>
            <a:pPr algn="l" indent="0" marL="0">
              <a:buNone/>
            </a:pPr>
            <a:r>
              <a:rPr lang="en-US" sz="1020" dirty="0">
                <a:solidFill>
                  <a:srgbClr val="657585"/>
                </a:solidFill>
                <a:latin typeface="Inter" pitchFamily="34" charset="0"/>
                <a:ea typeface="Inter" pitchFamily="34" charset="-122"/>
                <a:cs typeface="Inter" pitchFamily="34" charset="-120"/>
              </a:rPr>
              <a:t>Normalize ISBN</a:t>
            </a:r>
            <a:endParaRPr lang="en-US" sz="1020" dirty="0"/>
          </a:p>
          <a:p>
            <a:pPr algn="l" indent="0" marL="0">
              <a:buNone/>
            </a:pPr>
            <a:r>
              <a:rPr lang="en-US" sz="1020" dirty="0">
                <a:solidFill>
                  <a:srgbClr val="657585"/>
                </a:solidFill>
                <a:latin typeface="Inter" pitchFamily="34" charset="0"/>
                <a:ea typeface="Inter" pitchFamily="34" charset="-122"/>
                <a:cs typeface="Inter" pitchFamily="34" charset="-120"/>
              </a:rPr>
              <a:t>Find member and book</a:t>
            </a:r>
            <a:endParaRPr lang="en-US" sz="1020" dirty="0"/>
          </a:p>
        </p:txBody>
      </p:sp>
      <p:sp>
        <p:nvSpPr>
          <p:cNvPr id="20" name="Shape 18"/>
          <p:cNvSpPr/>
          <p:nvPr/>
        </p:nvSpPr>
        <p:spPr>
          <a:xfrm>
            <a:off x="4809744" y="2834640"/>
            <a:ext cx="82296" cy="0"/>
          </a:xfrm>
          <a:prstGeom prst="line">
            <a:avLst/>
          </a:prstGeom>
          <a:noFill/>
          <a:ln w="17780">
            <a:solidFill>
              <a:srgbClr val="16877D"/>
            </a:solidFill>
            <a:prstDash val="solid"/>
            <a:tailEnd type="triangle"/>
          </a:ln>
        </p:spPr>
      </p:sp>
      <p:sp>
        <p:nvSpPr>
          <p:cNvPr id="21" name="Shape 19"/>
          <p:cNvSpPr/>
          <p:nvPr/>
        </p:nvSpPr>
        <p:spPr>
          <a:xfrm>
            <a:off x="4956048" y="1938528"/>
            <a:ext cx="1984248" cy="1938528"/>
          </a:xfrm>
          <a:prstGeom prst="roundRect">
            <a:avLst>
              <a:gd name="adj" fmla="val 5660"/>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22" name="Shape 20"/>
          <p:cNvSpPr/>
          <p:nvPr/>
        </p:nvSpPr>
        <p:spPr>
          <a:xfrm>
            <a:off x="5120640" y="2103120"/>
            <a:ext cx="329184" cy="329184"/>
          </a:xfrm>
          <a:prstGeom prst="ellipse">
            <a:avLst/>
          </a:prstGeom>
          <a:solidFill>
            <a:srgbClr val="E3A34F"/>
          </a:solidFill>
          <a:ln w="12700">
            <a:solidFill>
              <a:srgbClr val="E3A34F">
                <a:alpha val="0"/>
              </a:srgbClr>
            </a:solidFill>
            <a:prstDash val="solid"/>
          </a:ln>
        </p:spPr>
      </p:sp>
      <p:sp>
        <p:nvSpPr>
          <p:cNvPr id="23" name="Text 21"/>
          <p:cNvSpPr txBox="1"/>
          <p:nvPr/>
        </p:nvSpPr>
        <p:spPr>
          <a:xfrm>
            <a:off x="5120640" y="2107692"/>
            <a:ext cx="329184" cy="31089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3</a:t>
            </a:r>
            <a:endParaRPr lang="en-US" sz="1000" dirty="0"/>
          </a:p>
        </p:txBody>
      </p:sp>
      <p:sp>
        <p:nvSpPr>
          <p:cNvPr id="24" name="Text 22"/>
          <p:cNvSpPr txBox="1"/>
          <p:nvPr/>
        </p:nvSpPr>
        <p:spPr>
          <a:xfrm>
            <a:off x="5120640" y="2569464"/>
            <a:ext cx="1655064" cy="329184"/>
          </a:xfrm>
          <a:prstGeom prst="rect">
            <a:avLst/>
          </a:prstGeom>
          <a:noFill/>
          <a:ln/>
        </p:spPr>
        <p:txBody>
          <a:bodyPr wrap="square" lIns="0" tIns="0" rIns="0" bIns="0" rtlCol="0" anchor="ctr">
            <a:normAutofit/>
          </a:bodyPr>
          <a:lstStyle/>
          <a:p>
            <a:pPr algn="l" indent="0" marL="0">
              <a:buNone/>
            </a:pPr>
            <a:r>
              <a:rPr lang="en-US" sz="1500" b="1" dirty="0">
                <a:solidFill>
                  <a:srgbClr val="12263A"/>
                </a:solidFill>
                <a:latin typeface="Inter" pitchFamily="34" charset="0"/>
                <a:ea typeface="Inter" pitchFamily="34" charset="-122"/>
                <a:cs typeface="Inter" pitchFamily="34" charset="-120"/>
              </a:rPr>
              <a:t>Check rules</a:t>
            </a:r>
            <a:endParaRPr lang="en-US" sz="1500" dirty="0"/>
          </a:p>
        </p:txBody>
      </p:sp>
      <p:sp>
        <p:nvSpPr>
          <p:cNvPr id="25" name="Text 23"/>
          <p:cNvSpPr txBox="1"/>
          <p:nvPr/>
        </p:nvSpPr>
        <p:spPr>
          <a:xfrm>
            <a:off x="5120640" y="3026664"/>
            <a:ext cx="1655064" cy="539496"/>
          </a:xfrm>
          <a:prstGeom prst="rect">
            <a:avLst/>
          </a:prstGeom>
          <a:noFill/>
          <a:ln/>
        </p:spPr>
        <p:txBody>
          <a:bodyPr wrap="square" lIns="0" tIns="0" rIns="0" bIns="0" rtlCol="0" anchor="t">
            <a:normAutofit/>
          </a:bodyPr>
          <a:lstStyle/>
          <a:p>
            <a:pPr algn="l" indent="0" marL="0">
              <a:buNone/>
            </a:pPr>
            <a:r>
              <a:rPr lang="en-US" sz="1020" dirty="0">
                <a:solidFill>
                  <a:srgbClr val="657585"/>
                </a:solidFill>
                <a:latin typeface="Inter" pitchFamily="34" charset="0"/>
                <a:ea typeface="Inter" pitchFamily="34" charset="-122"/>
                <a:cs typeface="Inter" pitchFamily="34" charset="-120"/>
              </a:rPr>
              <a:t>Book is available</a:t>
            </a:r>
            <a:endParaRPr lang="en-US" sz="1020" dirty="0"/>
          </a:p>
          <a:p>
            <a:pPr algn="l" indent="0" marL="0">
              <a:buNone/>
            </a:pPr>
            <a:r>
              <a:rPr lang="en-US" sz="1020" dirty="0">
                <a:solidFill>
                  <a:srgbClr val="657585"/>
                </a:solidFill>
                <a:latin typeface="Inter" pitchFamily="34" charset="0"/>
                <a:ea typeface="Inter" pitchFamily="34" charset="-122"/>
                <a:cs typeface="Inter" pitchFamily="34" charset="-120"/>
              </a:rPr>
              <a:t>Member has capacity</a:t>
            </a:r>
            <a:endParaRPr lang="en-US" sz="1020" dirty="0"/>
          </a:p>
        </p:txBody>
      </p:sp>
      <p:sp>
        <p:nvSpPr>
          <p:cNvPr id="26" name="Shape 24"/>
          <p:cNvSpPr/>
          <p:nvPr/>
        </p:nvSpPr>
        <p:spPr>
          <a:xfrm>
            <a:off x="6958584" y="2834640"/>
            <a:ext cx="82296" cy="0"/>
          </a:xfrm>
          <a:prstGeom prst="line">
            <a:avLst/>
          </a:prstGeom>
          <a:noFill/>
          <a:ln w="17780">
            <a:solidFill>
              <a:srgbClr val="16877D"/>
            </a:solidFill>
            <a:prstDash val="solid"/>
            <a:tailEnd type="triangle"/>
          </a:ln>
        </p:spPr>
      </p:sp>
      <p:sp>
        <p:nvSpPr>
          <p:cNvPr id="27" name="Shape 25"/>
          <p:cNvSpPr/>
          <p:nvPr/>
        </p:nvSpPr>
        <p:spPr>
          <a:xfrm>
            <a:off x="7104888" y="1938528"/>
            <a:ext cx="1984248" cy="1938528"/>
          </a:xfrm>
          <a:prstGeom prst="roundRect">
            <a:avLst>
              <a:gd name="adj" fmla="val 5660"/>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28" name="Shape 26"/>
          <p:cNvSpPr/>
          <p:nvPr/>
        </p:nvSpPr>
        <p:spPr>
          <a:xfrm>
            <a:off x="7269480" y="2103120"/>
            <a:ext cx="329184" cy="329184"/>
          </a:xfrm>
          <a:prstGeom prst="ellipse">
            <a:avLst/>
          </a:prstGeom>
          <a:solidFill>
            <a:srgbClr val="16877D"/>
          </a:solidFill>
          <a:ln w="12700">
            <a:solidFill>
              <a:srgbClr val="16877D">
                <a:alpha val="0"/>
              </a:srgbClr>
            </a:solidFill>
            <a:prstDash val="solid"/>
          </a:ln>
        </p:spPr>
      </p:sp>
      <p:sp>
        <p:nvSpPr>
          <p:cNvPr id="29" name="Text 27"/>
          <p:cNvSpPr txBox="1"/>
          <p:nvPr/>
        </p:nvSpPr>
        <p:spPr>
          <a:xfrm>
            <a:off x="7269480" y="2107692"/>
            <a:ext cx="329184" cy="31089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4</a:t>
            </a:r>
            <a:endParaRPr lang="en-US" sz="1000" dirty="0"/>
          </a:p>
        </p:txBody>
      </p:sp>
      <p:sp>
        <p:nvSpPr>
          <p:cNvPr id="30" name="Text 28"/>
          <p:cNvSpPr txBox="1"/>
          <p:nvPr/>
        </p:nvSpPr>
        <p:spPr>
          <a:xfrm>
            <a:off x="7269480" y="2569464"/>
            <a:ext cx="1655064" cy="329184"/>
          </a:xfrm>
          <a:prstGeom prst="rect">
            <a:avLst/>
          </a:prstGeom>
          <a:noFill/>
          <a:ln/>
        </p:spPr>
        <p:txBody>
          <a:bodyPr wrap="square" lIns="0" tIns="0" rIns="0" bIns="0" rtlCol="0" anchor="ctr">
            <a:normAutofit/>
          </a:bodyPr>
          <a:lstStyle/>
          <a:p>
            <a:pPr algn="l" indent="0" marL="0">
              <a:buNone/>
            </a:pPr>
            <a:r>
              <a:rPr lang="en-US" sz="1500" b="1" dirty="0">
                <a:solidFill>
                  <a:srgbClr val="12263A"/>
                </a:solidFill>
                <a:latin typeface="Inter" pitchFamily="34" charset="0"/>
                <a:ea typeface="Inter" pitchFamily="34" charset="-122"/>
                <a:cs typeface="Inter" pitchFamily="34" charset="-120"/>
              </a:rPr>
              <a:t>Persist loan</a:t>
            </a:r>
            <a:endParaRPr lang="en-US" sz="1500" dirty="0"/>
          </a:p>
        </p:txBody>
      </p:sp>
      <p:sp>
        <p:nvSpPr>
          <p:cNvPr id="31" name="Text 29"/>
          <p:cNvSpPr txBox="1"/>
          <p:nvPr/>
        </p:nvSpPr>
        <p:spPr>
          <a:xfrm>
            <a:off x="7269480" y="3026664"/>
            <a:ext cx="1655064" cy="539496"/>
          </a:xfrm>
          <a:prstGeom prst="rect">
            <a:avLst/>
          </a:prstGeom>
          <a:noFill/>
          <a:ln/>
        </p:spPr>
        <p:txBody>
          <a:bodyPr wrap="square" lIns="0" tIns="0" rIns="0" bIns="0" rtlCol="0" anchor="t">
            <a:normAutofit/>
          </a:bodyPr>
          <a:lstStyle/>
          <a:p>
            <a:pPr algn="l" indent="0" marL="0">
              <a:buNone/>
            </a:pPr>
            <a:r>
              <a:rPr lang="en-US" sz="1020" dirty="0">
                <a:solidFill>
                  <a:srgbClr val="657585"/>
                </a:solidFill>
                <a:latin typeface="Inter" pitchFamily="34" charset="0"/>
                <a:ea typeface="Inter" pitchFamily="34" charset="-122"/>
                <a:cs typeface="Inter" pitchFamily="34" charset="-120"/>
              </a:rPr>
              <a:t>Repository records</a:t>
            </a:r>
            <a:endParaRPr lang="en-US" sz="1020" dirty="0"/>
          </a:p>
          <a:p>
            <a:pPr algn="l" indent="0" marL="0">
              <a:buNone/>
            </a:pPr>
            <a:r>
              <a:rPr lang="en-US" sz="1020" dirty="0">
                <a:solidFill>
                  <a:srgbClr val="657585"/>
                </a:solidFill>
                <a:latin typeface="Inter" pitchFamily="34" charset="0"/>
                <a:ea typeface="Inter" pitchFamily="34" charset="-122"/>
                <a:cs typeface="Inter" pitchFamily="34" charset="-120"/>
              </a:rPr>
              <a:t>the open loan in SQLite</a:t>
            </a:r>
            <a:endParaRPr lang="en-US" sz="1020" dirty="0"/>
          </a:p>
        </p:txBody>
      </p:sp>
      <p:sp>
        <p:nvSpPr>
          <p:cNvPr id="32" name="Shape 30"/>
          <p:cNvSpPr/>
          <p:nvPr/>
        </p:nvSpPr>
        <p:spPr>
          <a:xfrm>
            <a:off x="9107424" y="2834640"/>
            <a:ext cx="82296" cy="0"/>
          </a:xfrm>
          <a:prstGeom prst="line">
            <a:avLst/>
          </a:prstGeom>
          <a:noFill/>
          <a:ln w="17780">
            <a:solidFill>
              <a:srgbClr val="16877D"/>
            </a:solidFill>
            <a:prstDash val="solid"/>
            <a:tailEnd type="triangle"/>
          </a:ln>
        </p:spPr>
      </p:sp>
      <p:sp>
        <p:nvSpPr>
          <p:cNvPr id="33" name="Shape 31"/>
          <p:cNvSpPr/>
          <p:nvPr/>
        </p:nvSpPr>
        <p:spPr>
          <a:xfrm>
            <a:off x="9253728" y="1938528"/>
            <a:ext cx="2231136" cy="1938528"/>
          </a:xfrm>
          <a:prstGeom prst="roundRect">
            <a:avLst>
              <a:gd name="adj" fmla="val 5660"/>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34" name="Shape 32"/>
          <p:cNvSpPr/>
          <p:nvPr/>
        </p:nvSpPr>
        <p:spPr>
          <a:xfrm>
            <a:off x="9418320" y="2103120"/>
            <a:ext cx="329184" cy="329184"/>
          </a:xfrm>
          <a:prstGeom prst="ellipse">
            <a:avLst/>
          </a:prstGeom>
          <a:solidFill>
            <a:srgbClr val="16877D"/>
          </a:solidFill>
          <a:ln w="12700">
            <a:solidFill>
              <a:srgbClr val="16877D">
                <a:alpha val="0"/>
              </a:srgbClr>
            </a:solidFill>
            <a:prstDash val="solid"/>
          </a:ln>
        </p:spPr>
      </p:sp>
      <p:sp>
        <p:nvSpPr>
          <p:cNvPr id="35" name="Text 33"/>
          <p:cNvSpPr txBox="1"/>
          <p:nvPr/>
        </p:nvSpPr>
        <p:spPr>
          <a:xfrm>
            <a:off x="9418320" y="2107692"/>
            <a:ext cx="329184" cy="31089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5</a:t>
            </a:r>
            <a:endParaRPr lang="en-US" sz="1000" dirty="0"/>
          </a:p>
        </p:txBody>
      </p:sp>
      <p:sp>
        <p:nvSpPr>
          <p:cNvPr id="36" name="Text 34"/>
          <p:cNvSpPr txBox="1"/>
          <p:nvPr/>
        </p:nvSpPr>
        <p:spPr>
          <a:xfrm>
            <a:off x="9418320" y="2569464"/>
            <a:ext cx="1901952" cy="329184"/>
          </a:xfrm>
          <a:prstGeom prst="rect">
            <a:avLst/>
          </a:prstGeom>
          <a:noFill/>
          <a:ln/>
        </p:spPr>
        <p:txBody>
          <a:bodyPr wrap="square" lIns="0" tIns="0" rIns="0" bIns="0" rtlCol="0" anchor="ctr">
            <a:normAutofit/>
          </a:bodyPr>
          <a:lstStyle/>
          <a:p>
            <a:pPr algn="l" indent="0" marL="0">
              <a:buNone/>
            </a:pPr>
            <a:r>
              <a:rPr lang="en-US" sz="1500" b="1" dirty="0">
                <a:solidFill>
                  <a:srgbClr val="12263A"/>
                </a:solidFill>
                <a:latin typeface="Inter" pitchFamily="34" charset="0"/>
                <a:ea typeface="Inter" pitchFamily="34" charset="-122"/>
                <a:cs typeface="Inter" pitchFamily="34" charset="-120"/>
              </a:rPr>
              <a:t>Apply in memory</a:t>
            </a:r>
            <a:endParaRPr lang="en-US" sz="1500" dirty="0"/>
          </a:p>
        </p:txBody>
      </p:sp>
      <p:sp>
        <p:nvSpPr>
          <p:cNvPr id="37" name="Text 35"/>
          <p:cNvSpPr txBox="1"/>
          <p:nvPr/>
        </p:nvSpPr>
        <p:spPr>
          <a:xfrm>
            <a:off x="9418320" y="3026664"/>
            <a:ext cx="1901952" cy="539496"/>
          </a:xfrm>
          <a:prstGeom prst="rect">
            <a:avLst/>
          </a:prstGeom>
          <a:noFill/>
          <a:ln/>
        </p:spPr>
        <p:txBody>
          <a:bodyPr wrap="square" lIns="0" tIns="0" rIns="0" bIns="0" rtlCol="0" anchor="t">
            <a:normAutofit/>
          </a:bodyPr>
          <a:lstStyle/>
          <a:p>
            <a:pPr algn="l" indent="0" marL="0">
              <a:buNone/>
            </a:pPr>
            <a:r>
              <a:rPr lang="en-US" sz="1020" dirty="0">
                <a:solidFill>
                  <a:srgbClr val="657585"/>
                </a:solidFill>
                <a:latin typeface="Inter" pitchFamily="34" charset="0"/>
                <a:ea typeface="Inter" pitchFamily="34" charset="-122"/>
                <a:cs typeface="Inter" pitchFamily="34" charset="-120"/>
              </a:rPr>
              <a:t>Member stores ISBN</a:t>
            </a:r>
            <a:endParaRPr lang="en-US" sz="1020" dirty="0"/>
          </a:p>
          <a:p>
            <a:pPr algn="l" indent="0" marL="0">
              <a:buNone/>
            </a:pPr>
            <a:r>
              <a:rPr lang="en-US" sz="1020" dirty="0">
                <a:solidFill>
                  <a:srgbClr val="657585"/>
                </a:solidFill>
                <a:latin typeface="Inter" pitchFamily="34" charset="0"/>
                <a:ea typeface="Inter" pitchFamily="34" charset="-122"/>
                <a:cs typeface="Inter" pitchFamily="34" charset="-120"/>
              </a:rPr>
              <a:t>Book becomes borrowed</a:t>
            </a:r>
            <a:endParaRPr lang="en-US" sz="1020" dirty="0"/>
          </a:p>
        </p:txBody>
      </p:sp>
      <p:sp>
        <p:nvSpPr>
          <p:cNvPr id="38" name="Shape 36"/>
          <p:cNvSpPr/>
          <p:nvPr/>
        </p:nvSpPr>
        <p:spPr>
          <a:xfrm>
            <a:off x="658368" y="4334256"/>
            <a:ext cx="6583680" cy="1188720"/>
          </a:xfrm>
          <a:prstGeom prst="roundRect">
            <a:avLst>
              <a:gd name="adj" fmla="val 9231"/>
            </a:avLst>
          </a:prstGeom>
          <a:solidFill>
            <a:srgbClr val="E1F3F0"/>
          </a:solidFill>
          <a:ln w="11430">
            <a:solidFill>
              <a:srgbClr val="B9E2DC"/>
            </a:solidFill>
            <a:prstDash val="solid"/>
          </a:ln>
        </p:spPr>
      </p:sp>
      <p:sp>
        <p:nvSpPr>
          <p:cNvPr id="39" name="Text 37"/>
          <p:cNvSpPr txBox="1"/>
          <p:nvPr/>
        </p:nvSpPr>
        <p:spPr>
          <a:xfrm>
            <a:off x="896112" y="4535424"/>
            <a:ext cx="1234440" cy="182880"/>
          </a:xfrm>
          <a:prstGeom prst="rect">
            <a:avLst/>
          </a:prstGeom>
          <a:noFill/>
          <a:ln/>
        </p:spPr>
        <p:txBody>
          <a:bodyPr wrap="square" lIns="0" tIns="0" rIns="0" bIns="0" rtlCol="0" anchor="ctr">
            <a:normAutofit/>
          </a:bodyPr>
          <a:lstStyle/>
          <a:p>
            <a:pPr algn="l" indent="0" marL="0">
              <a:buNone/>
            </a:pPr>
            <a:r>
              <a:rPr lang="en-US" sz="820" b="1" spc="100" kern="0" dirty="0">
                <a:solidFill>
                  <a:srgbClr val="16877D"/>
                </a:solidFill>
                <a:latin typeface="Inter" pitchFamily="34" charset="0"/>
                <a:ea typeface="Inter" pitchFamily="34" charset="-122"/>
                <a:cs typeface="Inter" pitchFamily="34" charset="-120"/>
              </a:rPr>
              <a:t>SUCCESS PATH</a:t>
            </a:r>
            <a:endParaRPr lang="en-US" sz="820" dirty="0"/>
          </a:p>
        </p:txBody>
      </p:sp>
      <p:sp>
        <p:nvSpPr>
          <p:cNvPr id="40" name="Text 38"/>
          <p:cNvSpPr txBox="1"/>
          <p:nvPr/>
        </p:nvSpPr>
        <p:spPr>
          <a:xfrm>
            <a:off x="896112" y="4855464"/>
            <a:ext cx="5852160" cy="292608"/>
          </a:xfrm>
          <a:prstGeom prst="rect">
            <a:avLst/>
          </a:prstGeom>
          <a:noFill/>
          <a:ln/>
        </p:spPr>
        <p:txBody>
          <a:bodyPr wrap="square" lIns="0" tIns="0" rIns="0" bIns="0" rtlCol="0" anchor="ctr">
            <a:normAutofit/>
          </a:bodyPr>
          <a:lstStyle/>
          <a:p>
            <a:pPr algn="l" indent="0" marL="0">
              <a:buNone/>
            </a:pPr>
            <a:r>
              <a:rPr lang="en-US" sz="1200" b="1" dirty="0">
                <a:solidFill>
                  <a:srgbClr val="12263A"/>
                </a:solidFill>
                <a:latin typeface="Inter" pitchFamily="34" charset="0"/>
                <a:ea typeface="Inter" pitchFamily="34" charset="-122"/>
                <a:cs typeface="Inter" pitchFamily="34" charset="-120"/>
              </a:rPr>
              <a:t>Only after repository success, the service updates Member and Book.</a:t>
            </a:r>
            <a:endParaRPr lang="en-US" sz="1200" dirty="0"/>
          </a:p>
        </p:txBody>
      </p:sp>
      <p:sp>
        <p:nvSpPr>
          <p:cNvPr id="41" name="Shape 39"/>
          <p:cNvSpPr/>
          <p:nvPr/>
        </p:nvSpPr>
        <p:spPr>
          <a:xfrm>
            <a:off x="7498080" y="4334256"/>
            <a:ext cx="3986784" cy="1188720"/>
          </a:xfrm>
          <a:prstGeom prst="roundRect">
            <a:avLst>
              <a:gd name="adj" fmla="val 9231"/>
            </a:avLst>
          </a:prstGeom>
          <a:solidFill>
            <a:srgbClr val="F9EAE8"/>
          </a:solidFill>
          <a:ln w="11430">
            <a:solidFill>
              <a:srgbClr val="EBC8C5"/>
            </a:solidFill>
            <a:prstDash val="solid"/>
          </a:ln>
        </p:spPr>
      </p:sp>
      <p:sp>
        <p:nvSpPr>
          <p:cNvPr id="42" name="Text 40"/>
          <p:cNvSpPr txBox="1"/>
          <p:nvPr/>
        </p:nvSpPr>
        <p:spPr>
          <a:xfrm>
            <a:off x="7735824" y="4535424"/>
            <a:ext cx="1325880" cy="182880"/>
          </a:xfrm>
          <a:prstGeom prst="rect">
            <a:avLst/>
          </a:prstGeom>
          <a:noFill/>
          <a:ln/>
        </p:spPr>
        <p:txBody>
          <a:bodyPr wrap="square" lIns="0" tIns="0" rIns="0" bIns="0" rtlCol="0" anchor="ctr">
            <a:normAutofit/>
          </a:bodyPr>
          <a:lstStyle/>
          <a:p>
            <a:pPr algn="l" indent="0" marL="0">
              <a:buNone/>
            </a:pPr>
            <a:r>
              <a:rPr lang="en-US" sz="820" b="1" spc="100" kern="0" dirty="0">
                <a:solidFill>
                  <a:srgbClr val="B9625D"/>
                </a:solidFill>
                <a:latin typeface="Inter" pitchFamily="34" charset="0"/>
                <a:ea typeface="Inter" pitchFamily="34" charset="-122"/>
                <a:cs typeface="Inter" pitchFamily="34" charset="-120"/>
              </a:rPr>
              <a:t>REJECT / FAIL</a:t>
            </a:r>
            <a:endParaRPr lang="en-US" sz="820" dirty="0"/>
          </a:p>
        </p:txBody>
      </p:sp>
      <p:sp>
        <p:nvSpPr>
          <p:cNvPr id="43" name="Text 41"/>
          <p:cNvSpPr txBox="1"/>
          <p:nvPr/>
        </p:nvSpPr>
        <p:spPr>
          <a:xfrm>
            <a:off x="7735824" y="4818888"/>
            <a:ext cx="3465576" cy="512064"/>
          </a:xfrm>
          <a:prstGeom prst="rect">
            <a:avLst/>
          </a:prstGeom>
          <a:noFill/>
          <a:ln/>
        </p:spPr>
        <p:txBody>
          <a:bodyPr wrap="square" lIns="0" tIns="0" rIns="0" bIns="0" rtlCol="0" anchor="t">
            <a:normAutofit/>
          </a:bodyPr>
          <a:lstStyle/>
          <a:p>
            <a:pPr algn="l" indent="0" marL="0">
              <a:buNone/>
            </a:pPr>
            <a:r>
              <a:rPr lang="en-US" sz="1030" dirty="0">
                <a:solidFill>
                  <a:srgbClr val="203345"/>
                </a:solidFill>
                <a:latin typeface="Inter" pitchFamily="34" charset="0"/>
                <a:ea typeface="Inter" pitchFamily="34" charset="-122"/>
                <a:cs typeface="Inter" pitchFamily="34" charset="-120"/>
              </a:rPr>
              <a:t>Missing entity, rule violation or DB error → report error; do not mark the loan successful.</a:t>
            </a:r>
            <a:endParaRPr lang="en-US" sz="1030" dirty="0"/>
          </a:p>
        </p:txBody>
      </p:sp>
      <p:sp>
        <p:nvSpPr>
          <p:cNvPr id="44" name="Text 42"/>
          <p:cNvSpPr txBox="1"/>
          <p:nvPr/>
        </p:nvSpPr>
        <p:spPr>
          <a:xfrm>
            <a:off x="749808" y="5870448"/>
            <a:ext cx="4572000" cy="201168"/>
          </a:xfrm>
          <a:prstGeom prst="rect">
            <a:avLst/>
          </a:prstGeom>
          <a:noFill/>
          <a:ln/>
        </p:spPr>
        <p:txBody>
          <a:bodyPr wrap="square" lIns="0" tIns="0" rIns="0" bIns="0" rtlCol="0" anchor="ctr">
            <a:normAutofit/>
          </a:bodyPr>
          <a:lstStyle/>
          <a:p>
            <a:pPr algn="l" indent="0" marL="0">
              <a:buNone/>
            </a:pPr>
            <a:r>
              <a:rPr lang="en-US" sz="1000" i="1" dirty="0">
                <a:solidFill>
                  <a:srgbClr val="657585"/>
                </a:solidFill>
                <a:latin typeface="Inter" pitchFamily="34" charset="0"/>
                <a:ea typeface="Inter" pitchFamily="34" charset="-122"/>
                <a:cs typeface="Inter" pitchFamily="34" charset="-120"/>
              </a:rPr>
              <a:t>A member may hold at most 5 books at once.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66928" y="347472"/>
            <a:ext cx="50292" cy="210312"/>
          </a:xfrm>
          <a:prstGeom prst="rect">
            <a:avLst/>
          </a:prstGeom>
          <a:solidFill>
            <a:srgbClr val="16877D"/>
          </a:solidFill>
          <a:ln w="12700">
            <a:solidFill>
              <a:srgbClr val="16877D">
                <a:alpha val="0"/>
              </a:srgbClr>
            </a:solidFill>
            <a:prstDash val="solid"/>
          </a:ln>
        </p:spPr>
      </p:sp>
      <p:sp>
        <p:nvSpPr>
          <p:cNvPr id="3" name="Text 1"/>
          <p:cNvSpPr txBox="1"/>
          <p:nvPr/>
        </p:nvSpPr>
        <p:spPr>
          <a:xfrm>
            <a:off x="713232" y="333756"/>
            <a:ext cx="3200400" cy="219456"/>
          </a:xfrm>
          <a:prstGeom prst="rect">
            <a:avLst/>
          </a:prstGeom>
          <a:noFill/>
          <a:ln/>
        </p:spPr>
        <p:txBody>
          <a:bodyPr wrap="square" lIns="0" tIns="0" rIns="0" bIns="0" rtlCol="0" anchor="ctr">
            <a:normAutofit/>
          </a:bodyPr>
          <a:lstStyle/>
          <a:p>
            <a:pPr algn="l" indent="0" marL="0">
              <a:buNone/>
            </a:pPr>
            <a:r>
              <a:rPr lang="en-US" sz="810" b="1" spc="180" kern="0" dirty="0">
                <a:solidFill>
                  <a:srgbClr val="16877D"/>
                </a:solidFill>
                <a:latin typeface="Inter" pitchFamily="34" charset="0"/>
                <a:ea typeface="Inter" pitchFamily="34" charset="-122"/>
                <a:cs typeface="Inter" pitchFamily="34" charset="-120"/>
              </a:rPr>
              <a:t>VERIFICATION</a:t>
            </a:r>
            <a:endParaRPr lang="en-US" sz="810" dirty="0"/>
          </a:p>
        </p:txBody>
      </p:sp>
      <p:sp>
        <p:nvSpPr>
          <p:cNvPr id="4" name="Text 2"/>
          <p:cNvSpPr txBox="1"/>
          <p:nvPr/>
        </p:nvSpPr>
        <p:spPr>
          <a:xfrm>
            <a:off x="566928" y="658368"/>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2263A"/>
                </a:solidFill>
                <a:latin typeface="Inter" pitchFamily="34" charset="0"/>
                <a:ea typeface="Inter" pitchFamily="34" charset="-122"/>
                <a:cs typeface="Inter" pitchFamily="34" charset="-120"/>
              </a:rPr>
              <a:t>Reliability is supported by tests at several levels</a:t>
            </a:r>
            <a:endParaRPr lang="en-US" sz="2700" dirty="0"/>
          </a:p>
        </p:txBody>
      </p:sp>
      <p:sp>
        <p:nvSpPr>
          <p:cNvPr id="5" name="Text 3"/>
          <p:cNvSpPr txBox="1"/>
          <p:nvPr/>
        </p:nvSpPr>
        <p:spPr>
          <a:xfrm>
            <a:off x="585216" y="1115568"/>
            <a:ext cx="10972800" cy="274320"/>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The repository documents a large assertion suite plus randomized workflow testing.</a:t>
            </a:r>
            <a:endParaRPr lang="en-US" sz="1070" dirty="0"/>
          </a:p>
        </p:txBody>
      </p:sp>
      <p:sp>
        <p:nvSpPr>
          <p:cNvPr id="6" name="Shape 4"/>
          <p:cNvSpPr/>
          <p:nvPr/>
        </p:nvSpPr>
        <p:spPr>
          <a:xfrm>
            <a:off x="566928" y="6510528"/>
            <a:ext cx="11119104" cy="0"/>
          </a:xfrm>
          <a:prstGeom prst="line">
            <a:avLst/>
          </a:prstGeom>
          <a:noFill/>
          <a:ln w="10160">
            <a:solidFill>
              <a:srgbClr val="E0E7EB"/>
            </a:solidFill>
            <a:prstDash val="solid"/>
          </a:ln>
        </p:spPr>
      </p:sp>
      <p:sp>
        <p:nvSpPr>
          <p:cNvPr id="7" name="Text 5"/>
          <p:cNvSpPr txBox="1"/>
          <p:nvPr/>
        </p:nvSpPr>
        <p:spPr>
          <a:xfrm>
            <a:off x="566928" y="6565392"/>
            <a:ext cx="5303520" cy="146304"/>
          </a:xfrm>
          <a:prstGeom prst="rect">
            <a:avLst/>
          </a:prstGeom>
          <a:noFill/>
          <a:ln/>
        </p:spPr>
        <p:txBody>
          <a:bodyPr wrap="square" lIns="0" tIns="0" rIns="0" bIns="0" rtlCol="0" anchor="ctr">
            <a:normAutofit/>
          </a:bodyPr>
          <a:lstStyle/>
          <a:p>
            <a:pPr algn="l" indent="0" marL="0">
              <a:buNone/>
            </a:pPr>
            <a:r>
              <a:rPr lang="en-US" sz="750" spc="110" kern="0" dirty="0">
                <a:solidFill>
                  <a:srgbClr val="6B7A88"/>
                </a:solidFill>
                <a:latin typeface="Inter" pitchFamily="34" charset="0"/>
                <a:ea typeface="Inter" pitchFamily="34" charset="-122"/>
                <a:cs typeface="Inter" pitchFamily="34" charset="-120"/>
              </a:rPr>
              <a:t>TITANS  /  LIBRARY MANAGEMENT SYSTEM</a:t>
            </a:r>
            <a:endParaRPr lang="en-US" sz="750" dirty="0"/>
          </a:p>
        </p:txBody>
      </p:sp>
      <p:sp>
        <p:nvSpPr>
          <p:cNvPr id="8" name="Text 6"/>
          <p:cNvSpPr txBox="1"/>
          <p:nvPr/>
        </p:nvSpPr>
        <p:spPr>
          <a:xfrm>
            <a:off x="11109960" y="6556248"/>
            <a:ext cx="502920" cy="164592"/>
          </a:xfrm>
          <a:prstGeom prst="rect">
            <a:avLst/>
          </a:prstGeom>
          <a:noFill/>
          <a:ln/>
        </p:spPr>
        <p:txBody>
          <a:bodyPr wrap="square" lIns="0" tIns="0" rIns="0" bIns="0" rtlCol="0" anchor="ctr">
            <a:normAutofit/>
          </a:bodyPr>
          <a:lstStyle/>
          <a:p>
            <a:pPr algn="r" indent="0" marL="0">
              <a:buNone/>
            </a:pPr>
            <a:r>
              <a:rPr lang="en-US" sz="800" dirty="0">
                <a:solidFill>
                  <a:srgbClr val="6B7A88"/>
                </a:solidFill>
                <a:latin typeface="Inter" pitchFamily="34" charset="0"/>
                <a:ea typeface="Inter" pitchFamily="34" charset="-122"/>
                <a:cs typeface="Inter" pitchFamily="34" charset="-120"/>
              </a:rPr>
              <a:t>12</a:t>
            </a:r>
            <a:endParaRPr lang="en-US" sz="800" dirty="0"/>
          </a:p>
        </p:txBody>
      </p:sp>
      <p:sp>
        <p:nvSpPr>
          <p:cNvPr id="9" name="Shape 7"/>
          <p:cNvSpPr/>
          <p:nvPr/>
        </p:nvSpPr>
        <p:spPr>
          <a:xfrm>
            <a:off x="658368" y="1773936"/>
            <a:ext cx="2560320" cy="1298448"/>
          </a:xfrm>
          <a:prstGeom prst="roundRect">
            <a:avLst>
              <a:gd name="adj" fmla="val 8451"/>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0" name="Shape 8"/>
          <p:cNvSpPr/>
          <p:nvPr/>
        </p:nvSpPr>
        <p:spPr>
          <a:xfrm>
            <a:off x="822960" y="1938528"/>
            <a:ext cx="2231136" cy="274320"/>
          </a:xfrm>
          <a:prstGeom prst="roundRect">
            <a:avLst>
              <a:gd name="adj" fmla="val 33333"/>
            </a:avLst>
          </a:prstGeom>
          <a:solidFill>
            <a:srgbClr val="E1F3F0"/>
          </a:solidFill>
          <a:ln w="12700">
            <a:solidFill>
              <a:srgbClr val="E1F3F0">
                <a:alpha val="0"/>
              </a:srgbClr>
            </a:solidFill>
            <a:prstDash val="solid"/>
          </a:ln>
        </p:spPr>
      </p:sp>
      <p:sp>
        <p:nvSpPr>
          <p:cNvPr id="11" name="Text 9"/>
          <p:cNvSpPr txBox="1"/>
          <p:nvPr/>
        </p:nvSpPr>
        <p:spPr>
          <a:xfrm>
            <a:off x="877824" y="1952244"/>
            <a:ext cx="2121408" cy="242316"/>
          </a:xfrm>
          <a:prstGeom prst="rect">
            <a:avLst/>
          </a:prstGeom>
          <a:noFill/>
          <a:ln/>
        </p:spPr>
        <p:txBody>
          <a:bodyPr wrap="square" lIns="0" tIns="0" rIns="0" bIns="0" rtlCol="0" anchor="ctr">
            <a:normAutofit/>
          </a:bodyPr>
          <a:lstStyle/>
          <a:p>
            <a:pPr algn="ctr" indent="0" marL="0">
              <a:buNone/>
            </a:pPr>
            <a:r>
              <a:rPr lang="en-US" sz="780" b="1" spc="30" kern="0" dirty="0">
                <a:solidFill>
                  <a:srgbClr val="16877D"/>
                </a:solidFill>
                <a:latin typeface="Inter" pitchFamily="34" charset="0"/>
                <a:ea typeface="Inter" pitchFamily="34" charset="-122"/>
                <a:cs typeface="Inter" pitchFamily="34" charset="-120"/>
              </a:rPr>
              <a:t>TEST CASES</a:t>
            </a:r>
            <a:endParaRPr lang="en-US" sz="780" dirty="0"/>
          </a:p>
        </p:txBody>
      </p:sp>
      <p:sp>
        <p:nvSpPr>
          <p:cNvPr id="12" name="Text 10"/>
          <p:cNvSpPr txBox="1"/>
          <p:nvPr/>
        </p:nvSpPr>
        <p:spPr>
          <a:xfrm>
            <a:off x="822960" y="2304288"/>
            <a:ext cx="2231136" cy="475488"/>
          </a:xfrm>
          <a:prstGeom prst="rect">
            <a:avLst/>
          </a:prstGeom>
          <a:noFill/>
          <a:ln/>
        </p:spPr>
        <p:txBody>
          <a:bodyPr wrap="square" lIns="0" tIns="0" rIns="0" bIns="0" rtlCol="0" anchor="ctr">
            <a:normAutofit/>
          </a:bodyPr>
          <a:lstStyle/>
          <a:p>
            <a:pPr algn="ctr" indent="0" marL="0">
              <a:buNone/>
            </a:pPr>
            <a:r>
              <a:rPr lang="en-US" sz="2800" b="1" dirty="0">
                <a:solidFill>
                  <a:srgbClr val="12263A"/>
                </a:solidFill>
                <a:latin typeface="Inter" pitchFamily="34" charset="0"/>
                <a:ea typeface="Inter" pitchFamily="34" charset="-122"/>
                <a:cs typeface="Inter" pitchFamily="34" charset="-120"/>
              </a:rPr>
              <a:t>189</a:t>
            </a:r>
            <a:endParaRPr lang="en-US" sz="2800" dirty="0"/>
          </a:p>
        </p:txBody>
      </p:sp>
      <p:sp>
        <p:nvSpPr>
          <p:cNvPr id="13" name="Shape 11"/>
          <p:cNvSpPr/>
          <p:nvPr/>
        </p:nvSpPr>
        <p:spPr>
          <a:xfrm>
            <a:off x="3383280" y="1773936"/>
            <a:ext cx="2880360" cy="1298448"/>
          </a:xfrm>
          <a:prstGeom prst="roundRect">
            <a:avLst>
              <a:gd name="adj" fmla="val 8451"/>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4" name="Shape 12"/>
          <p:cNvSpPr/>
          <p:nvPr/>
        </p:nvSpPr>
        <p:spPr>
          <a:xfrm>
            <a:off x="3547872" y="1938528"/>
            <a:ext cx="2551176" cy="274320"/>
          </a:xfrm>
          <a:prstGeom prst="roundRect">
            <a:avLst>
              <a:gd name="adj" fmla="val 33333"/>
            </a:avLst>
          </a:prstGeom>
          <a:solidFill>
            <a:srgbClr val="E9F0F6"/>
          </a:solidFill>
          <a:ln w="12700">
            <a:solidFill>
              <a:srgbClr val="E9F0F6">
                <a:alpha val="0"/>
              </a:srgbClr>
            </a:solidFill>
            <a:prstDash val="solid"/>
          </a:ln>
        </p:spPr>
      </p:sp>
      <p:sp>
        <p:nvSpPr>
          <p:cNvPr id="15" name="Text 13"/>
          <p:cNvSpPr txBox="1"/>
          <p:nvPr/>
        </p:nvSpPr>
        <p:spPr>
          <a:xfrm>
            <a:off x="3602736" y="1952244"/>
            <a:ext cx="2441448" cy="242316"/>
          </a:xfrm>
          <a:prstGeom prst="rect">
            <a:avLst/>
          </a:prstGeom>
          <a:noFill/>
          <a:ln/>
        </p:spPr>
        <p:txBody>
          <a:bodyPr wrap="square" lIns="0" tIns="0" rIns="0" bIns="0" rtlCol="0" anchor="ctr">
            <a:normAutofit/>
          </a:bodyPr>
          <a:lstStyle/>
          <a:p>
            <a:pPr algn="ctr" indent="0" marL="0">
              <a:buNone/>
            </a:pPr>
            <a:r>
              <a:rPr lang="en-US" sz="780" b="1" spc="30" kern="0" dirty="0">
                <a:solidFill>
                  <a:srgbClr val="16877D"/>
                </a:solidFill>
                <a:latin typeface="Inter" pitchFamily="34" charset="0"/>
                <a:ea typeface="Inter" pitchFamily="34" charset="-122"/>
                <a:cs typeface="Inter" pitchFamily="34" charset="-120"/>
              </a:rPr>
              <a:t>ASSERTIONS</a:t>
            </a:r>
            <a:endParaRPr lang="en-US" sz="780" dirty="0"/>
          </a:p>
        </p:txBody>
      </p:sp>
      <p:sp>
        <p:nvSpPr>
          <p:cNvPr id="16" name="Text 14"/>
          <p:cNvSpPr txBox="1"/>
          <p:nvPr/>
        </p:nvSpPr>
        <p:spPr>
          <a:xfrm>
            <a:off x="3547872" y="2304288"/>
            <a:ext cx="2551176" cy="475488"/>
          </a:xfrm>
          <a:prstGeom prst="rect">
            <a:avLst/>
          </a:prstGeom>
          <a:noFill/>
          <a:ln/>
        </p:spPr>
        <p:txBody>
          <a:bodyPr wrap="square" lIns="0" tIns="0" rIns="0" bIns="0" rtlCol="0" anchor="ctr">
            <a:normAutofit/>
          </a:bodyPr>
          <a:lstStyle/>
          <a:p>
            <a:pPr algn="ctr" indent="0" marL="0">
              <a:buNone/>
            </a:pPr>
            <a:r>
              <a:rPr lang="en-US" sz="2400" b="1" dirty="0">
                <a:solidFill>
                  <a:srgbClr val="12263A"/>
                </a:solidFill>
                <a:latin typeface="Inter" pitchFamily="34" charset="0"/>
                <a:ea typeface="Inter" pitchFamily="34" charset="-122"/>
                <a:cs typeface="Inter" pitchFamily="34" charset="-120"/>
              </a:rPr>
              <a:t>209,475</a:t>
            </a:r>
            <a:endParaRPr lang="en-US" sz="2400" dirty="0"/>
          </a:p>
        </p:txBody>
      </p:sp>
      <p:sp>
        <p:nvSpPr>
          <p:cNvPr id="17" name="Shape 15"/>
          <p:cNvSpPr/>
          <p:nvPr/>
        </p:nvSpPr>
        <p:spPr>
          <a:xfrm>
            <a:off x="6437376" y="1773936"/>
            <a:ext cx="2331720" cy="1298448"/>
          </a:xfrm>
          <a:prstGeom prst="roundRect">
            <a:avLst>
              <a:gd name="adj" fmla="val 8451"/>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8" name="Shape 16"/>
          <p:cNvSpPr/>
          <p:nvPr/>
        </p:nvSpPr>
        <p:spPr>
          <a:xfrm>
            <a:off x="6601968" y="1938528"/>
            <a:ext cx="2002536" cy="274320"/>
          </a:xfrm>
          <a:prstGeom prst="roundRect">
            <a:avLst>
              <a:gd name="adj" fmla="val 33333"/>
            </a:avLst>
          </a:prstGeom>
          <a:solidFill>
            <a:srgbClr val="FFF2DE"/>
          </a:solidFill>
          <a:ln w="12700">
            <a:solidFill>
              <a:srgbClr val="FFF2DE">
                <a:alpha val="0"/>
              </a:srgbClr>
            </a:solidFill>
            <a:prstDash val="solid"/>
          </a:ln>
        </p:spPr>
      </p:sp>
      <p:sp>
        <p:nvSpPr>
          <p:cNvPr id="19" name="Text 17"/>
          <p:cNvSpPr txBox="1"/>
          <p:nvPr/>
        </p:nvSpPr>
        <p:spPr>
          <a:xfrm>
            <a:off x="6656832" y="1952244"/>
            <a:ext cx="1892808" cy="242316"/>
          </a:xfrm>
          <a:prstGeom prst="rect">
            <a:avLst/>
          </a:prstGeom>
          <a:noFill/>
          <a:ln/>
        </p:spPr>
        <p:txBody>
          <a:bodyPr wrap="square" lIns="0" tIns="0" rIns="0" bIns="0" rtlCol="0" anchor="ctr">
            <a:normAutofit/>
          </a:bodyPr>
          <a:lstStyle/>
          <a:p>
            <a:pPr algn="ctr" indent="0" marL="0">
              <a:buNone/>
            </a:pPr>
            <a:r>
              <a:rPr lang="en-US" sz="780" b="1" spc="30" kern="0" dirty="0">
                <a:solidFill>
                  <a:srgbClr val="16877D"/>
                </a:solidFill>
                <a:latin typeface="Inter" pitchFamily="34" charset="0"/>
                <a:ea typeface="Inter" pitchFamily="34" charset="-122"/>
                <a:cs typeface="Inter" pitchFamily="34" charset="-120"/>
              </a:rPr>
              <a:t>FAILURES</a:t>
            </a:r>
            <a:endParaRPr lang="en-US" sz="780" dirty="0"/>
          </a:p>
        </p:txBody>
      </p:sp>
      <p:sp>
        <p:nvSpPr>
          <p:cNvPr id="20" name="Text 18"/>
          <p:cNvSpPr txBox="1"/>
          <p:nvPr/>
        </p:nvSpPr>
        <p:spPr>
          <a:xfrm>
            <a:off x="6601968" y="2304288"/>
            <a:ext cx="2002536" cy="475488"/>
          </a:xfrm>
          <a:prstGeom prst="rect">
            <a:avLst/>
          </a:prstGeom>
          <a:noFill/>
          <a:ln/>
        </p:spPr>
        <p:txBody>
          <a:bodyPr wrap="square" lIns="0" tIns="0" rIns="0" bIns="0" rtlCol="0" anchor="ctr">
            <a:normAutofit/>
          </a:bodyPr>
          <a:lstStyle/>
          <a:p>
            <a:pPr algn="ctr" indent="0" marL="0">
              <a:buNone/>
            </a:pPr>
            <a:r>
              <a:rPr lang="en-US" sz="2800" b="1" dirty="0">
                <a:solidFill>
                  <a:srgbClr val="12263A"/>
                </a:solidFill>
                <a:latin typeface="Inter" pitchFamily="34" charset="0"/>
                <a:ea typeface="Inter" pitchFamily="34" charset="-122"/>
                <a:cs typeface="Inter" pitchFamily="34" charset="-120"/>
              </a:rPr>
              <a:t>0</a:t>
            </a:r>
            <a:endParaRPr lang="en-US" sz="2800" dirty="0"/>
          </a:p>
        </p:txBody>
      </p:sp>
      <p:sp>
        <p:nvSpPr>
          <p:cNvPr id="21" name="Shape 19"/>
          <p:cNvSpPr/>
          <p:nvPr/>
        </p:nvSpPr>
        <p:spPr>
          <a:xfrm>
            <a:off x="8942832" y="1773936"/>
            <a:ext cx="2532888" cy="1298448"/>
          </a:xfrm>
          <a:prstGeom prst="roundRect">
            <a:avLst>
              <a:gd name="adj" fmla="val 8451"/>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22" name="Shape 20"/>
          <p:cNvSpPr/>
          <p:nvPr/>
        </p:nvSpPr>
        <p:spPr>
          <a:xfrm>
            <a:off x="9107424" y="1938528"/>
            <a:ext cx="2203704" cy="274320"/>
          </a:xfrm>
          <a:prstGeom prst="roundRect">
            <a:avLst>
              <a:gd name="adj" fmla="val 33333"/>
            </a:avLst>
          </a:prstGeom>
          <a:solidFill>
            <a:srgbClr val="F0F3F6"/>
          </a:solidFill>
          <a:ln w="12700">
            <a:solidFill>
              <a:srgbClr val="F0F3F6">
                <a:alpha val="0"/>
              </a:srgbClr>
            </a:solidFill>
            <a:prstDash val="solid"/>
          </a:ln>
        </p:spPr>
      </p:sp>
      <p:sp>
        <p:nvSpPr>
          <p:cNvPr id="23" name="Text 21"/>
          <p:cNvSpPr txBox="1"/>
          <p:nvPr/>
        </p:nvSpPr>
        <p:spPr>
          <a:xfrm>
            <a:off x="9162288" y="1952244"/>
            <a:ext cx="2093976" cy="242316"/>
          </a:xfrm>
          <a:prstGeom prst="rect">
            <a:avLst/>
          </a:prstGeom>
          <a:noFill/>
          <a:ln/>
        </p:spPr>
        <p:txBody>
          <a:bodyPr wrap="square" lIns="0" tIns="0" rIns="0" bIns="0" rtlCol="0" anchor="ctr">
            <a:normAutofit/>
          </a:bodyPr>
          <a:lstStyle/>
          <a:p>
            <a:pPr algn="ctr" indent="0" marL="0">
              <a:buNone/>
            </a:pPr>
            <a:r>
              <a:rPr lang="en-US" sz="780" b="1" spc="30" kern="0" dirty="0">
                <a:solidFill>
                  <a:srgbClr val="16877D"/>
                </a:solidFill>
                <a:latin typeface="Inter" pitchFamily="34" charset="0"/>
                <a:ea typeface="Inter" pitchFamily="34" charset="-122"/>
                <a:cs typeface="Inter" pitchFamily="34" charset="-120"/>
              </a:rPr>
              <a:t>RANDOMIZED OPS</a:t>
            </a:r>
            <a:endParaRPr lang="en-US" sz="780" dirty="0"/>
          </a:p>
        </p:txBody>
      </p:sp>
      <p:sp>
        <p:nvSpPr>
          <p:cNvPr id="24" name="Text 22"/>
          <p:cNvSpPr txBox="1"/>
          <p:nvPr/>
        </p:nvSpPr>
        <p:spPr>
          <a:xfrm>
            <a:off x="9107424" y="2304288"/>
            <a:ext cx="2203704" cy="475488"/>
          </a:xfrm>
          <a:prstGeom prst="rect">
            <a:avLst/>
          </a:prstGeom>
          <a:noFill/>
          <a:ln/>
        </p:spPr>
        <p:txBody>
          <a:bodyPr wrap="square" lIns="0" tIns="0" rIns="0" bIns="0" rtlCol="0" anchor="ctr">
            <a:normAutofit/>
          </a:bodyPr>
          <a:lstStyle/>
          <a:p>
            <a:pPr algn="ctr" indent="0" marL="0">
              <a:buNone/>
            </a:pPr>
            <a:r>
              <a:rPr lang="en-US" sz="2800" b="1" dirty="0">
                <a:solidFill>
                  <a:srgbClr val="12263A"/>
                </a:solidFill>
                <a:latin typeface="Inter" pitchFamily="34" charset="0"/>
                <a:ea typeface="Inter" pitchFamily="34" charset="-122"/>
                <a:cs typeface="Inter" pitchFamily="34" charset="-120"/>
              </a:rPr>
              <a:t>3,000</a:t>
            </a:r>
            <a:endParaRPr lang="en-US" sz="2800" dirty="0"/>
          </a:p>
        </p:txBody>
      </p:sp>
      <p:sp>
        <p:nvSpPr>
          <p:cNvPr id="25" name="Text 23"/>
          <p:cNvSpPr txBox="1"/>
          <p:nvPr/>
        </p:nvSpPr>
        <p:spPr>
          <a:xfrm>
            <a:off x="731520" y="3456432"/>
            <a:ext cx="1874520" cy="201168"/>
          </a:xfrm>
          <a:prstGeom prst="rect">
            <a:avLst/>
          </a:prstGeom>
          <a:noFill/>
          <a:ln/>
        </p:spPr>
        <p:txBody>
          <a:bodyPr wrap="square" lIns="0" tIns="0" rIns="0" bIns="0" rtlCol="0" anchor="ctr">
            <a:normAutofit/>
          </a:bodyPr>
          <a:lstStyle/>
          <a:p>
            <a:pPr algn="l" indent="0" marL="0">
              <a:buNone/>
            </a:pPr>
            <a:r>
              <a:rPr lang="en-US" sz="840" b="1" spc="140" kern="0" dirty="0">
                <a:solidFill>
                  <a:srgbClr val="16877D"/>
                </a:solidFill>
                <a:latin typeface="Inter" pitchFamily="34" charset="0"/>
                <a:ea typeface="Inter" pitchFamily="34" charset="-122"/>
                <a:cs typeface="Inter" pitchFamily="34" charset="-120"/>
              </a:rPr>
              <a:t>TEST COVERAGE</a:t>
            </a:r>
            <a:endParaRPr lang="en-US" sz="840" dirty="0"/>
          </a:p>
        </p:txBody>
      </p:sp>
      <p:sp>
        <p:nvSpPr>
          <p:cNvPr id="26" name="Shape 24"/>
          <p:cNvSpPr/>
          <p:nvPr/>
        </p:nvSpPr>
        <p:spPr>
          <a:xfrm>
            <a:off x="658368" y="3794760"/>
            <a:ext cx="3456432" cy="1042416"/>
          </a:xfrm>
          <a:prstGeom prst="roundRect">
            <a:avLst>
              <a:gd name="adj" fmla="val 10526"/>
            </a:avLst>
          </a:prstGeom>
          <a:solidFill>
            <a:srgbClr val="FFFFFF"/>
          </a:solidFill>
          <a:ln w="11430">
            <a:solidFill>
              <a:srgbClr val="DCE5EA"/>
            </a:solidFill>
            <a:prstDash val="solid"/>
          </a:ln>
        </p:spPr>
      </p:sp>
      <p:sp>
        <p:nvSpPr>
          <p:cNvPr id="27" name="Shape 25"/>
          <p:cNvSpPr/>
          <p:nvPr/>
        </p:nvSpPr>
        <p:spPr>
          <a:xfrm>
            <a:off x="841248" y="3995928"/>
            <a:ext cx="219456" cy="219456"/>
          </a:xfrm>
          <a:prstGeom prst="ellipse">
            <a:avLst/>
          </a:prstGeom>
          <a:solidFill>
            <a:srgbClr val="16877D"/>
          </a:solidFill>
          <a:ln w="12700">
            <a:solidFill>
              <a:srgbClr val="16877D">
                <a:alpha val="0"/>
              </a:srgbClr>
            </a:solidFill>
            <a:prstDash val="solid"/>
          </a:ln>
        </p:spPr>
      </p:sp>
      <p:sp>
        <p:nvSpPr>
          <p:cNvPr id="28" name="Text 26"/>
          <p:cNvSpPr txBox="1"/>
          <p:nvPr/>
        </p:nvSpPr>
        <p:spPr>
          <a:xfrm>
            <a:off x="841248" y="3995928"/>
            <a:ext cx="219456" cy="21031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Inter" pitchFamily="34" charset="0"/>
                <a:ea typeface="Inter" pitchFamily="34" charset="-122"/>
                <a:cs typeface="Inter" pitchFamily="34" charset="-120"/>
              </a:rPr>
              <a:t>01</a:t>
            </a:r>
            <a:endParaRPr lang="en-US" sz="740" dirty="0"/>
          </a:p>
        </p:txBody>
      </p:sp>
      <p:sp>
        <p:nvSpPr>
          <p:cNvPr id="29" name="Text 27"/>
          <p:cNvSpPr txBox="1"/>
          <p:nvPr/>
        </p:nvSpPr>
        <p:spPr>
          <a:xfrm>
            <a:off x="1188720" y="3959352"/>
            <a:ext cx="2743200" cy="228600"/>
          </a:xfrm>
          <a:prstGeom prst="rect">
            <a:avLst/>
          </a:prstGeom>
          <a:noFill/>
          <a:ln/>
        </p:spPr>
        <p:txBody>
          <a:bodyPr wrap="square" lIns="0" tIns="0" rIns="0" bIns="0" rtlCol="0" anchor="ctr">
            <a:normAutofit/>
          </a:bodyPr>
          <a:lstStyle/>
          <a:p>
            <a:pPr algn="l" indent="0" marL="0">
              <a:buNone/>
            </a:pPr>
            <a:r>
              <a:rPr lang="en-US" sz="1200" b="1" dirty="0">
                <a:solidFill>
                  <a:srgbClr val="12263A"/>
                </a:solidFill>
                <a:latin typeface="Inter" pitchFamily="34" charset="0"/>
                <a:ea typeface="Inter" pitchFamily="34" charset="-122"/>
                <a:cs typeface="Inter" pitchFamily="34" charset="-120"/>
              </a:rPr>
              <a:t>Core algorithms</a:t>
            </a:r>
            <a:endParaRPr lang="en-US" sz="1200" dirty="0"/>
          </a:p>
        </p:txBody>
      </p:sp>
      <p:sp>
        <p:nvSpPr>
          <p:cNvPr id="30" name="Text 28"/>
          <p:cNvSpPr txBox="1"/>
          <p:nvPr/>
        </p:nvSpPr>
        <p:spPr>
          <a:xfrm>
            <a:off x="1188720" y="4279392"/>
            <a:ext cx="2743200" cy="365760"/>
          </a:xfrm>
          <a:prstGeom prst="rect">
            <a:avLst/>
          </a:prstGeom>
          <a:noFill/>
          <a:ln/>
        </p:spPr>
        <p:txBody>
          <a:bodyPr wrap="square" lIns="0" tIns="0" rIns="0" bIns="0" rtlCol="0" anchor="t">
            <a:normAutofit/>
          </a:bodyPr>
          <a:lstStyle/>
          <a:p>
            <a:pPr algn="l" indent="0" marL="0">
              <a:buNone/>
            </a:pPr>
            <a:r>
              <a:rPr lang="en-US" sz="970" dirty="0">
                <a:solidFill>
                  <a:srgbClr val="657585"/>
                </a:solidFill>
                <a:latin typeface="Inter" pitchFamily="34" charset="0"/>
                <a:ea typeface="Inter" pitchFamily="34" charset="-122"/>
                <a:cs typeface="Inter" pitchFamily="34" charset="-120"/>
              </a:rPr>
              <a:t>Container, iterators, search and sort edge cases</a:t>
            </a:r>
            <a:endParaRPr lang="en-US" sz="970" dirty="0"/>
          </a:p>
        </p:txBody>
      </p:sp>
      <p:sp>
        <p:nvSpPr>
          <p:cNvPr id="31" name="Shape 29"/>
          <p:cNvSpPr/>
          <p:nvPr/>
        </p:nvSpPr>
        <p:spPr>
          <a:xfrm>
            <a:off x="4361688" y="3794760"/>
            <a:ext cx="3456432" cy="1042416"/>
          </a:xfrm>
          <a:prstGeom prst="roundRect">
            <a:avLst>
              <a:gd name="adj" fmla="val 10526"/>
            </a:avLst>
          </a:prstGeom>
          <a:solidFill>
            <a:srgbClr val="FFFFFF"/>
          </a:solidFill>
          <a:ln w="11430">
            <a:solidFill>
              <a:srgbClr val="DCE5EA"/>
            </a:solidFill>
            <a:prstDash val="solid"/>
          </a:ln>
        </p:spPr>
      </p:sp>
      <p:sp>
        <p:nvSpPr>
          <p:cNvPr id="32" name="Shape 30"/>
          <p:cNvSpPr/>
          <p:nvPr/>
        </p:nvSpPr>
        <p:spPr>
          <a:xfrm>
            <a:off x="4544568" y="3995928"/>
            <a:ext cx="219456" cy="219456"/>
          </a:xfrm>
          <a:prstGeom prst="ellipse">
            <a:avLst/>
          </a:prstGeom>
          <a:solidFill>
            <a:srgbClr val="E3A34F"/>
          </a:solidFill>
          <a:ln w="12700">
            <a:solidFill>
              <a:srgbClr val="E3A34F">
                <a:alpha val="0"/>
              </a:srgbClr>
            </a:solidFill>
            <a:prstDash val="solid"/>
          </a:ln>
        </p:spPr>
      </p:sp>
      <p:sp>
        <p:nvSpPr>
          <p:cNvPr id="33" name="Text 31"/>
          <p:cNvSpPr txBox="1"/>
          <p:nvPr/>
        </p:nvSpPr>
        <p:spPr>
          <a:xfrm>
            <a:off x="4544568" y="3995928"/>
            <a:ext cx="219456" cy="21031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Inter" pitchFamily="34" charset="0"/>
                <a:ea typeface="Inter" pitchFamily="34" charset="-122"/>
                <a:cs typeface="Inter" pitchFamily="34" charset="-120"/>
              </a:rPr>
              <a:t>02</a:t>
            </a:r>
            <a:endParaRPr lang="en-US" sz="740" dirty="0"/>
          </a:p>
        </p:txBody>
      </p:sp>
      <p:sp>
        <p:nvSpPr>
          <p:cNvPr id="34" name="Text 32"/>
          <p:cNvSpPr txBox="1"/>
          <p:nvPr/>
        </p:nvSpPr>
        <p:spPr>
          <a:xfrm>
            <a:off x="4892040" y="3959352"/>
            <a:ext cx="2743200" cy="228600"/>
          </a:xfrm>
          <a:prstGeom prst="rect">
            <a:avLst/>
          </a:prstGeom>
          <a:noFill/>
          <a:ln/>
        </p:spPr>
        <p:txBody>
          <a:bodyPr wrap="square" lIns="0" tIns="0" rIns="0" bIns="0" rtlCol="0" anchor="ctr">
            <a:normAutofit/>
          </a:bodyPr>
          <a:lstStyle/>
          <a:p>
            <a:pPr algn="l" indent="0" marL="0">
              <a:buNone/>
            </a:pPr>
            <a:r>
              <a:rPr lang="en-US" sz="1200" b="1" dirty="0">
                <a:solidFill>
                  <a:srgbClr val="12263A"/>
                </a:solidFill>
                <a:latin typeface="Inter" pitchFamily="34" charset="0"/>
                <a:ea typeface="Inter" pitchFamily="34" charset="-122"/>
                <a:cs typeface="Inter" pitchFamily="34" charset="-120"/>
              </a:rPr>
              <a:t>Domain + service</a:t>
            </a:r>
            <a:endParaRPr lang="en-US" sz="1200" dirty="0"/>
          </a:p>
        </p:txBody>
      </p:sp>
      <p:sp>
        <p:nvSpPr>
          <p:cNvPr id="35" name="Text 33"/>
          <p:cNvSpPr txBox="1"/>
          <p:nvPr/>
        </p:nvSpPr>
        <p:spPr>
          <a:xfrm>
            <a:off x="4892040" y="4279392"/>
            <a:ext cx="2743200" cy="365760"/>
          </a:xfrm>
          <a:prstGeom prst="rect">
            <a:avLst/>
          </a:prstGeom>
          <a:noFill/>
          <a:ln/>
        </p:spPr>
        <p:txBody>
          <a:bodyPr wrap="square" lIns="0" tIns="0" rIns="0" bIns="0" rtlCol="0" anchor="t">
            <a:normAutofit/>
          </a:bodyPr>
          <a:lstStyle/>
          <a:p>
            <a:pPr algn="l" indent="0" marL="0">
              <a:buNone/>
            </a:pPr>
            <a:r>
              <a:rPr lang="en-US" sz="970" dirty="0">
                <a:solidFill>
                  <a:srgbClr val="657585"/>
                </a:solidFill>
                <a:latin typeface="Inter" pitchFamily="34" charset="0"/>
                <a:ea typeface="Inter" pitchFamily="34" charset="-122"/>
                <a:cs typeface="Inter" pitchFamily="34" charset="-120"/>
              </a:rPr>
              <a:t>Uniqueness, borrow limits, lifecycle rules</a:t>
            </a:r>
            <a:endParaRPr lang="en-US" sz="970" dirty="0"/>
          </a:p>
        </p:txBody>
      </p:sp>
      <p:sp>
        <p:nvSpPr>
          <p:cNvPr id="36" name="Shape 34"/>
          <p:cNvSpPr/>
          <p:nvPr/>
        </p:nvSpPr>
        <p:spPr>
          <a:xfrm>
            <a:off x="8065008" y="3794760"/>
            <a:ext cx="3456432" cy="1042416"/>
          </a:xfrm>
          <a:prstGeom prst="roundRect">
            <a:avLst>
              <a:gd name="adj" fmla="val 10526"/>
            </a:avLst>
          </a:prstGeom>
          <a:solidFill>
            <a:srgbClr val="FFFFFF"/>
          </a:solidFill>
          <a:ln w="11430">
            <a:solidFill>
              <a:srgbClr val="DCE5EA"/>
            </a:solidFill>
            <a:prstDash val="solid"/>
          </a:ln>
        </p:spPr>
      </p:sp>
      <p:sp>
        <p:nvSpPr>
          <p:cNvPr id="37" name="Shape 35"/>
          <p:cNvSpPr/>
          <p:nvPr/>
        </p:nvSpPr>
        <p:spPr>
          <a:xfrm>
            <a:off x="8247888" y="3995928"/>
            <a:ext cx="219456" cy="219456"/>
          </a:xfrm>
          <a:prstGeom prst="ellipse">
            <a:avLst/>
          </a:prstGeom>
          <a:solidFill>
            <a:srgbClr val="16877D"/>
          </a:solidFill>
          <a:ln w="12700">
            <a:solidFill>
              <a:srgbClr val="16877D">
                <a:alpha val="0"/>
              </a:srgbClr>
            </a:solidFill>
            <a:prstDash val="solid"/>
          </a:ln>
        </p:spPr>
      </p:sp>
      <p:sp>
        <p:nvSpPr>
          <p:cNvPr id="38" name="Text 36"/>
          <p:cNvSpPr txBox="1"/>
          <p:nvPr/>
        </p:nvSpPr>
        <p:spPr>
          <a:xfrm>
            <a:off x="8247888" y="3995928"/>
            <a:ext cx="219456" cy="21031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Inter" pitchFamily="34" charset="0"/>
                <a:ea typeface="Inter" pitchFamily="34" charset="-122"/>
                <a:cs typeface="Inter" pitchFamily="34" charset="-120"/>
              </a:rPr>
              <a:t>03</a:t>
            </a:r>
            <a:endParaRPr lang="en-US" sz="740" dirty="0"/>
          </a:p>
        </p:txBody>
      </p:sp>
      <p:sp>
        <p:nvSpPr>
          <p:cNvPr id="39" name="Text 37"/>
          <p:cNvSpPr txBox="1"/>
          <p:nvPr/>
        </p:nvSpPr>
        <p:spPr>
          <a:xfrm>
            <a:off x="8595360" y="3959352"/>
            <a:ext cx="2743200" cy="228600"/>
          </a:xfrm>
          <a:prstGeom prst="rect">
            <a:avLst/>
          </a:prstGeom>
          <a:noFill/>
          <a:ln/>
        </p:spPr>
        <p:txBody>
          <a:bodyPr wrap="square" lIns="0" tIns="0" rIns="0" bIns="0" rtlCol="0" anchor="ctr">
            <a:normAutofit/>
          </a:bodyPr>
          <a:lstStyle/>
          <a:p>
            <a:pPr algn="l" indent="0" marL="0">
              <a:buNone/>
            </a:pPr>
            <a:r>
              <a:rPr lang="en-US" sz="1200" b="1" dirty="0">
                <a:solidFill>
                  <a:srgbClr val="12263A"/>
                </a:solidFill>
                <a:latin typeface="Inter" pitchFamily="34" charset="0"/>
                <a:ea typeface="Inter" pitchFamily="34" charset="-122"/>
                <a:cs typeface="Inter" pitchFamily="34" charset="-120"/>
              </a:rPr>
              <a:t>Integration paths</a:t>
            </a:r>
            <a:endParaRPr lang="en-US" sz="1200" dirty="0"/>
          </a:p>
        </p:txBody>
      </p:sp>
      <p:sp>
        <p:nvSpPr>
          <p:cNvPr id="40" name="Text 38"/>
          <p:cNvSpPr txBox="1"/>
          <p:nvPr/>
        </p:nvSpPr>
        <p:spPr>
          <a:xfrm>
            <a:off x="8595360" y="4279392"/>
            <a:ext cx="2743200" cy="365760"/>
          </a:xfrm>
          <a:prstGeom prst="rect">
            <a:avLst/>
          </a:prstGeom>
          <a:noFill/>
          <a:ln/>
        </p:spPr>
        <p:txBody>
          <a:bodyPr wrap="square" lIns="0" tIns="0" rIns="0" bIns="0" rtlCol="0" anchor="t">
            <a:normAutofit/>
          </a:bodyPr>
          <a:lstStyle/>
          <a:p>
            <a:pPr algn="l" indent="0" marL="0">
              <a:buNone/>
            </a:pPr>
            <a:r>
              <a:rPr lang="en-US" sz="970" dirty="0">
                <a:solidFill>
                  <a:srgbClr val="657585"/>
                </a:solidFill>
                <a:latin typeface="Inter" pitchFamily="34" charset="0"/>
                <a:ea typeface="Inter" pitchFamily="34" charset="-122"/>
                <a:cs typeface="Inter" pitchFamily="34" charset="-120"/>
              </a:rPr>
              <a:t>SQLite, persistence reloads, UI and input flows</a:t>
            </a:r>
            <a:endParaRPr lang="en-US" sz="970" dirty="0"/>
          </a:p>
        </p:txBody>
      </p:sp>
      <p:sp>
        <p:nvSpPr>
          <p:cNvPr id="41" name="Shape 39"/>
          <p:cNvSpPr/>
          <p:nvPr/>
        </p:nvSpPr>
        <p:spPr>
          <a:xfrm>
            <a:off x="658368" y="5166360"/>
            <a:ext cx="10863072" cy="576072"/>
          </a:xfrm>
          <a:prstGeom prst="roundRect">
            <a:avLst>
              <a:gd name="adj" fmla="val 19048"/>
            </a:avLst>
          </a:prstGeom>
          <a:solidFill>
            <a:srgbClr val="12263A"/>
          </a:solidFill>
          <a:ln w="11430">
            <a:solidFill>
              <a:srgbClr val="12263A"/>
            </a:solidFill>
            <a:prstDash val="solid"/>
          </a:ln>
        </p:spPr>
      </p:sp>
      <p:sp>
        <p:nvSpPr>
          <p:cNvPr id="42" name="Text 40"/>
          <p:cNvSpPr txBox="1"/>
          <p:nvPr/>
        </p:nvSpPr>
        <p:spPr>
          <a:xfrm>
            <a:off x="896112" y="5330952"/>
            <a:ext cx="3703320" cy="182880"/>
          </a:xfrm>
          <a:prstGeom prst="rect">
            <a:avLst/>
          </a:prstGeom>
          <a:noFill/>
          <a:ln/>
        </p:spPr>
        <p:txBody>
          <a:bodyPr wrap="square" lIns="0" tIns="0" rIns="0" bIns="0" rtlCol="0" anchor="ctr">
            <a:normAutofit/>
          </a:bodyPr>
          <a:lstStyle/>
          <a:p>
            <a:pPr algn="l" indent="0" marL="0">
              <a:buNone/>
            </a:pPr>
            <a:r>
              <a:rPr lang="en-US" sz="1020" b="1" dirty="0">
                <a:solidFill>
                  <a:srgbClr val="FFFFFF"/>
                </a:solidFill>
                <a:latin typeface="Inter" pitchFamily="34" charset="0"/>
                <a:ea typeface="Inter" pitchFamily="34" charset="-122"/>
                <a:cs typeface="Inter" pitchFamily="34" charset="-120"/>
              </a:rPr>
              <a:t>AddressSanitizer + UndefinedBehaviorSanitizer</a:t>
            </a:r>
            <a:endParaRPr lang="en-US" sz="1020" dirty="0"/>
          </a:p>
        </p:txBody>
      </p:sp>
      <p:sp>
        <p:nvSpPr>
          <p:cNvPr id="43" name="Text 41"/>
          <p:cNvSpPr txBox="1"/>
          <p:nvPr/>
        </p:nvSpPr>
        <p:spPr>
          <a:xfrm>
            <a:off x="4681728" y="5330952"/>
            <a:ext cx="6473952" cy="182880"/>
          </a:xfrm>
          <a:prstGeom prst="rect">
            <a:avLst/>
          </a:prstGeom>
          <a:noFill/>
          <a:ln/>
        </p:spPr>
        <p:txBody>
          <a:bodyPr wrap="square" lIns="0" tIns="0" rIns="0" bIns="0" rtlCol="0" anchor="ctr">
            <a:normAutofit/>
          </a:bodyPr>
          <a:lstStyle/>
          <a:p>
            <a:pPr algn="r" indent="0" marL="0">
              <a:buNone/>
            </a:pPr>
            <a:r>
              <a:rPr lang="en-US" sz="950" dirty="0">
                <a:solidFill>
                  <a:srgbClr val="C6D7E1"/>
                </a:solidFill>
                <a:latin typeface="Inter" pitchFamily="34" charset="0"/>
                <a:ea typeface="Inter" pitchFamily="34" charset="-122"/>
                <a:cs typeface="Inter" pitchFamily="34" charset="-120"/>
              </a:rPr>
              <a:t>Enabled by default for GCC / Clang on Linux and macOS; exercised in Linux CI.</a:t>
            </a:r>
            <a:endParaRPr lang="en-US" sz="950" dirty="0"/>
          </a:p>
        </p:txBody>
      </p:sp>
      <p:sp>
        <p:nvSpPr>
          <p:cNvPr id="44" name="Text 42"/>
          <p:cNvSpPr txBox="1"/>
          <p:nvPr/>
        </p:nvSpPr>
        <p:spPr>
          <a:xfrm>
            <a:off x="731520" y="5943600"/>
            <a:ext cx="7040880" cy="164592"/>
          </a:xfrm>
          <a:prstGeom prst="rect">
            <a:avLst/>
          </a:prstGeom>
          <a:noFill/>
          <a:ln/>
        </p:spPr>
        <p:txBody>
          <a:bodyPr wrap="square" lIns="0" tIns="0" rIns="0" bIns="0" rtlCol="0" anchor="ctr">
            <a:normAutofit/>
          </a:bodyPr>
          <a:lstStyle/>
          <a:p>
            <a:pPr algn="l" indent="0" marL="0">
              <a:buNone/>
            </a:pPr>
            <a:r>
              <a:rPr lang="en-US" sz="850" i="1" dirty="0">
                <a:solidFill>
                  <a:srgbClr val="657585"/>
                </a:solidFill>
                <a:latin typeface="Inter" pitchFamily="34" charset="0"/>
                <a:ea typeface="Inter" pitchFamily="34" charset="-122"/>
                <a:cs typeface="Inter" pitchFamily="34" charset="-120"/>
              </a:rPr>
              <a:t>Figures reflect the test summary documented in the repository README.</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66928" y="347472"/>
            <a:ext cx="50292" cy="210312"/>
          </a:xfrm>
          <a:prstGeom prst="rect">
            <a:avLst/>
          </a:prstGeom>
          <a:solidFill>
            <a:srgbClr val="16877D"/>
          </a:solidFill>
          <a:ln w="12700">
            <a:solidFill>
              <a:srgbClr val="16877D">
                <a:alpha val="0"/>
              </a:srgbClr>
            </a:solidFill>
            <a:prstDash val="solid"/>
          </a:ln>
        </p:spPr>
      </p:sp>
      <p:sp>
        <p:nvSpPr>
          <p:cNvPr id="3" name="Text 1"/>
          <p:cNvSpPr txBox="1"/>
          <p:nvPr/>
        </p:nvSpPr>
        <p:spPr>
          <a:xfrm>
            <a:off x="713232" y="333756"/>
            <a:ext cx="3200400" cy="219456"/>
          </a:xfrm>
          <a:prstGeom prst="rect">
            <a:avLst/>
          </a:prstGeom>
          <a:noFill/>
          <a:ln/>
        </p:spPr>
        <p:txBody>
          <a:bodyPr wrap="square" lIns="0" tIns="0" rIns="0" bIns="0" rtlCol="0" anchor="ctr">
            <a:normAutofit/>
          </a:bodyPr>
          <a:lstStyle/>
          <a:p>
            <a:pPr algn="l" indent="0" marL="0">
              <a:buNone/>
            </a:pPr>
            <a:r>
              <a:rPr lang="en-US" sz="810" b="1" spc="180" kern="0" dirty="0">
                <a:solidFill>
                  <a:srgbClr val="16877D"/>
                </a:solidFill>
                <a:latin typeface="Inter" pitchFamily="34" charset="0"/>
                <a:ea typeface="Inter" pitchFamily="34" charset="-122"/>
                <a:cs typeface="Inter" pitchFamily="34" charset="-120"/>
              </a:rPr>
              <a:t>ENGINEERING TRADE-OFFS</a:t>
            </a:r>
            <a:endParaRPr lang="en-US" sz="810" dirty="0"/>
          </a:p>
        </p:txBody>
      </p:sp>
      <p:sp>
        <p:nvSpPr>
          <p:cNvPr id="4" name="Text 2"/>
          <p:cNvSpPr txBox="1"/>
          <p:nvPr/>
        </p:nvSpPr>
        <p:spPr>
          <a:xfrm>
            <a:off x="566928" y="658368"/>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2263A"/>
                </a:solidFill>
                <a:latin typeface="Inter" pitchFamily="34" charset="0"/>
                <a:ea typeface="Inter" pitchFamily="34" charset="-122"/>
                <a:cs typeface="Inter" pitchFamily="34" charset="-120"/>
              </a:rPr>
              <a:t>The hard part was preserving correctness across boundaries</a:t>
            </a:r>
            <a:endParaRPr lang="en-US" sz="2700" dirty="0"/>
          </a:p>
        </p:txBody>
      </p:sp>
      <p:sp>
        <p:nvSpPr>
          <p:cNvPr id="5" name="Text 3"/>
          <p:cNvSpPr txBox="1"/>
          <p:nvPr/>
        </p:nvSpPr>
        <p:spPr>
          <a:xfrm>
            <a:off x="585216" y="1115568"/>
            <a:ext cx="10972800" cy="274320"/>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Each challenge led to a concrete implementation choice.</a:t>
            </a:r>
            <a:endParaRPr lang="en-US" sz="1070" dirty="0"/>
          </a:p>
        </p:txBody>
      </p:sp>
      <p:sp>
        <p:nvSpPr>
          <p:cNvPr id="6" name="Shape 4"/>
          <p:cNvSpPr/>
          <p:nvPr/>
        </p:nvSpPr>
        <p:spPr>
          <a:xfrm>
            <a:off x="566928" y="6510528"/>
            <a:ext cx="11119104" cy="0"/>
          </a:xfrm>
          <a:prstGeom prst="line">
            <a:avLst/>
          </a:prstGeom>
          <a:noFill/>
          <a:ln w="10160">
            <a:solidFill>
              <a:srgbClr val="E0E7EB"/>
            </a:solidFill>
            <a:prstDash val="solid"/>
          </a:ln>
        </p:spPr>
      </p:sp>
      <p:sp>
        <p:nvSpPr>
          <p:cNvPr id="7" name="Text 5"/>
          <p:cNvSpPr txBox="1"/>
          <p:nvPr/>
        </p:nvSpPr>
        <p:spPr>
          <a:xfrm>
            <a:off x="566928" y="6565392"/>
            <a:ext cx="5303520" cy="146304"/>
          </a:xfrm>
          <a:prstGeom prst="rect">
            <a:avLst/>
          </a:prstGeom>
          <a:noFill/>
          <a:ln/>
        </p:spPr>
        <p:txBody>
          <a:bodyPr wrap="square" lIns="0" tIns="0" rIns="0" bIns="0" rtlCol="0" anchor="ctr">
            <a:normAutofit/>
          </a:bodyPr>
          <a:lstStyle/>
          <a:p>
            <a:pPr algn="l" indent="0" marL="0">
              <a:buNone/>
            </a:pPr>
            <a:r>
              <a:rPr lang="en-US" sz="750" spc="110" kern="0" dirty="0">
                <a:solidFill>
                  <a:srgbClr val="6B7A88"/>
                </a:solidFill>
                <a:latin typeface="Inter" pitchFamily="34" charset="0"/>
                <a:ea typeface="Inter" pitchFamily="34" charset="-122"/>
                <a:cs typeface="Inter" pitchFamily="34" charset="-120"/>
              </a:rPr>
              <a:t>TITANS  /  LIBRARY MANAGEMENT SYSTEM</a:t>
            </a:r>
            <a:endParaRPr lang="en-US" sz="750" dirty="0"/>
          </a:p>
        </p:txBody>
      </p:sp>
      <p:sp>
        <p:nvSpPr>
          <p:cNvPr id="8" name="Text 6"/>
          <p:cNvSpPr txBox="1"/>
          <p:nvPr/>
        </p:nvSpPr>
        <p:spPr>
          <a:xfrm>
            <a:off x="11109960" y="6556248"/>
            <a:ext cx="502920" cy="164592"/>
          </a:xfrm>
          <a:prstGeom prst="rect">
            <a:avLst/>
          </a:prstGeom>
          <a:noFill/>
          <a:ln/>
        </p:spPr>
        <p:txBody>
          <a:bodyPr wrap="square" lIns="0" tIns="0" rIns="0" bIns="0" rtlCol="0" anchor="ctr">
            <a:normAutofit/>
          </a:bodyPr>
          <a:lstStyle/>
          <a:p>
            <a:pPr algn="r" indent="0" marL="0">
              <a:buNone/>
            </a:pPr>
            <a:r>
              <a:rPr lang="en-US" sz="800" dirty="0">
                <a:solidFill>
                  <a:srgbClr val="6B7A88"/>
                </a:solidFill>
                <a:latin typeface="Inter" pitchFamily="34" charset="0"/>
                <a:ea typeface="Inter" pitchFamily="34" charset="-122"/>
                <a:cs typeface="Inter" pitchFamily="34" charset="-120"/>
              </a:rPr>
              <a:t>13</a:t>
            </a:r>
            <a:endParaRPr lang="en-US" sz="800" dirty="0"/>
          </a:p>
        </p:txBody>
      </p:sp>
      <p:sp>
        <p:nvSpPr>
          <p:cNvPr id="9" name="Shape 7"/>
          <p:cNvSpPr/>
          <p:nvPr/>
        </p:nvSpPr>
        <p:spPr>
          <a:xfrm>
            <a:off x="658368" y="1664208"/>
            <a:ext cx="10863072" cy="877824"/>
          </a:xfrm>
          <a:prstGeom prst="roundRect">
            <a:avLst>
              <a:gd name="adj" fmla="val 12500"/>
            </a:avLst>
          </a:prstGeom>
          <a:solidFill>
            <a:srgbClr val="FFFFFF"/>
          </a:solidFill>
          <a:ln w="11430">
            <a:solidFill>
              <a:srgbClr val="DCE5EA"/>
            </a:solidFill>
            <a:prstDash val="solid"/>
          </a:ln>
        </p:spPr>
      </p:sp>
      <p:sp>
        <p:nvSpPr>
          <p:cNvPr id="10" name="Shape 8"/>
          <p:cNvSpPr/>
          <p:nvPr/>
        </p:nvSpPr>
        <p:spPr>
          <a:xfrm>
            <a:off x="859536" y="1892808"/>
            <a:ext cx="329184" cy="329184"/>
          </a:xfrm>
          <a:prstGeom prst="ellipse">
            <a:avLst/>
          </a:prstGeom>
          <a:solidFill>
            <a:srgbClr val="16877D"/>
          </a:solidFill>
          <a:ln w="12700">
            <a:solidFill>
              <a:srgbClr val="16877D">
                <a:alpha val="0"/>
              </a:srgbClr>
            </a:solidFill>
            <a:prstDash val="solid"/>
          </a:ln>
        </p:spPr>
      </p:sp>
      <p:sp>
        <p:nvSpPr>
          <p:cNvPr id="11" name="Text 9"/>
          <p:cNvSpPr txBox="1"/>
          <p:nvPr/>
        </p:nvSpPr>
        <p:spPr>
          <a:xfrm>
            <a:off x="859536" y="1897380"/>
            <a:ext cx="329184" cy="31089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01</a:t>
            </a:r>
            <a:endParaRPr lang="en-US" sz="1000" dirty="0"/>
          </a:p>
        </p:txBody>
      </p:sp>
      <p:sp>
        <p:nvSpPr>
          <p:cNvPr id="12" name="Text 10"/>
          <p:cNvSpPr txBox="1"/>
          <p:nvPr/>
        </p:nvSpPr>
        <p:spPr>
          <a:xfrm>
            <a:off x="1371600" y="1810512"/>
            <a:ext cx="2423160" cy="246888"/>
          </a:xfrm>
          <a:prstGeom prst="rect">
            <a:avLst/>
          </a:prstGeom>
          <a:noFill/>
          <a:ln/>
        </p:spPr>
        <p:txBody>
          <a:bodyPr wrap="square" lIns="0" tIns="0" rIns="0" bIns="0" rtlCol="0" anchor="ctr">
            <a:normAutofit/>
          </a:bodyPr>
          <a:lstStyle/>
          <a:p>
            <a:pPr algn="l" indent="0" marL="0">
              <a:buNone/>
            </a:pPr>
            <a:r>
              <a:rPr lang="en-US" sz="1200" b="1" dirty="0">
                <a:solidFill>
                  <a:srgbClr val="12263A"/>
                </a:solidFill>
                <a:latin typeface="Inter" pitchFamily="34" charset="0"/>
                <a:ea typeface="Inter" pitchFamily="34" charset="-122"/>
                <a:cs typeface="Inter" pitchFamily="34" charset="-120"/>
              </a:rPr>
              <a:t>Data consistency</a:t>
            </a:r>
            <a:endParaRPr lang="en-US" sz="1200" dirty="0"/>
          </a:p>
        </p:txBody>
      </p:sp>
      <p:sp>
        <p:nvSpPr>
          <p:cNvPr id="13" name="Text 11"/>
          <p:cNvSpPr txBox="1"/>
          <p:nvPr/>
        </p:nvSpPr>
        <p:spPr>
          <a:xfrm>
            <a:off x="3822192" y="1783080"/>
            <a:ext cx="5504688" cy="493776"/>
          </a:xfrm>
          <a:prstGeom prst="rect">
            <a:avLst/>
          </a:prstGeom>
          <a:noFill/>
          <a:ln/>
        </p:spPr>
        <p:txBody>
          <a:bodyPr wrap="square" lIns="0" tIns="0" rIns="0" bIns="0" rtlCol="0" anchor="t">
            <a:normAutofit/>
          </a:bodyPr>
          <a:lstStyle/>
          <a:p>
            <a:pPr algn="l" indent="0" marL="0">
              <a:buNone/>
            </a:pPr>
            <a:r>
              <a:rPr lang="en-US" sz="1040" dirty="0">
                <a:solidFill>
                  <a:srgbClr val="203345"/>
                </a:solidFill>
                <a:latin typeface="Inter" pitchFamily="34" charset="0"/>
                <a:ea typeface="Inter" pitchFamily="34" charset="-122"/>
                <a:cs typeface="Inter" pitchFamily="34" charset="-120"/>
              </a:rPr>
              <a:t>Centralize invariants in LibraryService; persist before changing in-memory state.</a:t>
            </a:r>
            <a:endParaRPr lang="en-US" sz="1040" dirty="0"/>
          </a:p>
        </p:txBody>
      </p:sp>
      <p:sp>
        <p:nvSpPr>
          <p:cNvPr id="14" name="Shape 12"/>
          <p:cNvSpPr/>
          <p:nvPr/>
        </p:nvSpPr>
        <p:spPr>
          <a:xfrm>
            <a:off x="9582912" y="1929384"/>
            <a:ext cx="1700784" cy="274320"/>
          </a:xfrm>
          <a:prstGeom prst="roundRect">
            <a:avLst>
              <a:gd name="adj" fmla="val 33333"/>
            </a:avLst>
          </a:prstGeom>
          <a:solidFill>
            <a:srgbClr val="E1F3F0"/>
          </a:solidFill>
          <a:ln w="12700">
            <a:solidFill>
              <a:srgbClr val="E1F3F0">
                <a:alpha val="0"/>
              </a:srgbClr>
            </a:solidFill>
            <a:prstDash val="solid"/>
          </a:ln>
        </p:spPr>
      </p:sp>
      <p:sp>
        <p:nvSpPr>
          <p:cNvPr id="15" name="Text 13"/>
          <p:cNvSpPr txBox="1"/>
          <p:nvPr/>
        </p:nvSpPr>
        <p:spPr>
          <a:xfrm>
            <a:off x="9637776" y="1943100"/>
            <a:ext cx="1591056" cy="242316"/>
          </a:xfrm>
          <a:prstGeom prst="rect">
            <a:avLst/>
          </a:prstGeom>
          <a:noFill/>
          <a:ln/>
        </p:spPr>
        <p:txBody>
          <a:bodyPr wrap="square" lIns="0" tIns="0" rIns="0" bIns="0" rtlCol="0" anchor="ctr">
            <a:normAutofit/>
          </a:bodyPr>
          <a:lstStyle/>
          <a:p>
            <a:pPr algn="ctr" indent="0" marL="0">
              <a:buNone/>
            </a:pPr>
            <a:r>
              <a:rPr lang="en-US" sz="740" b="1" spc="30" kern="0" dirty="0">
                <a:solidFill>
                  <a:srgbClr val="16877D"/>
                </a:solidFill>
                <a:latin typeface="Inter" pitchFamily="34" charset="0"/>
                <a:ea typeface="Inter" pitchFamily="34" charset="-122"/>
                <a:cs typeface="Inter" pitchFamily="34" charset="-120"/>
              </a:rPr>
              <a:t>SERVICE + REPOSITORY</a:t>
            </a:r>
            <a:endParaRPr lang="en-US" sz="740" dirty="0"/>
          </a:p>
        </p:txBody>
      </p:sp>
      <p:sp>
        <p:nvSpPr>
          <p:cNvPr id="16" name="Shape 14"/>
          <p:cNvSpPr/>
          <p:nvPr/>
        </p:nvSpPr>
        <p:spPr>
          <a:xfrm>
            <a:off x="658368" y="2688336"/>
            <a:ext cx="10863072" cy="877824"/>
          </a:xfrm>
          <a:prstGeom prst="roundRect">
            <a:avLst>
              <a:gd name="adj" fmla="val 12500"/>
            </a:avLst>
          </a:prstGeom>
          <a:solidFill>
            <a:srgbClr val="FFFFFF"/>
          </a:solidFill>
          <a:ln w="11430">
            <a:solidFill>
              <a:srgbClr val="DCE5EA"/>
            </a:solidFill>
            <a:prstDash val="solid"/>
          </a:ln>
        </p:spPr>
      </p:sp>
      <p:sp>
        <p:nvSpPr>
          <p:cNvPr id="17" name="Shape 15"/>
          <p:cNvSpPr/>
          <p:nvPr/>
        </p:nvSpPr>
        <p:spPr>
          <a:xfrm>
            <a:off x="859536" y="2916936"/>
            <a:ext cx="329184" cy="329184"/>
          </a:xfrm>
          <a:prstGeom prst="ellipse">
            <a:avLst/>
          </a:prstGeom>
          <a:solidFill>
            <a:srgbClr val="E3A34F"/>
          </a:solidFill>
          <a:ln w="12700">
            <a:solidFill>
              <a:srgbClr val="E3A34F">
                <a:alpha val="0"/>
              </a:srgbClr>
            </a:solidFill>
            <a:prstDash val="solid"/>
          </a:ln>
        </p:spPr>
      </p:sp>
      <p:sp>
        <p:nvSpPr>
          <p:cNvPr id="18" name="Text 16"/>
          <p:cNvSpPr txBox="1"/>
          <p:nvPr/>
        </p:nvSpPr>
        <p:spPr>
          <a:xfrm>
            <a:off x="859536" y="2921508"/>
            <a:ext cx="329184" cy="31089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02</a:t>
            </a:r>
            <a:endParaRPr lang="en-US" sz="1000" dirty="0"/>
          </a:p>
        </p:txBody>
      </p:sp>
      <p:sp>
        <p:nvSpPr>
          <p:cNvPr id="19" name="Text 17"/>
          <p:cNvSpPr txBox="1"/>
          <p:nvPr/>
        </p:nvSpPr>
        <p:spPr>
          <a:xfrm>
            <a:off x="1371600" y="2834640"/>
            <a:ext cx="2423160" cy="246888"/>
          </a:xfrm>
          <a:prstGeom prst="rect">
            <a:avLst/>
          </a:prstGeom>
          <a:noFill/>
          <a:ln/>
        </p:spPr>
        <p:txBody>
          <a:bodyPr wrap="square" lIns="0" tIns="0" rIns="0" bIns="0" rtlCol="0" anchor="ctr">
            <a:normAutofit/>
          </a:bodyPr>
          <a:lstStyle/>
          <a:p>
            <a:pPr algn="l" indent="0" marL="0">
              <a:buNone/>
            </a:pPr>
            <a:r>
              <a:rPr lang="en-US" sz="1200" b="1" dirty="0">
                <a:solidFill>
                  <a:srgbClr val="12263A"/>
                </a:solidFill>
                <a:latin typeface="Inter" pitchFamily="34" charset="0"/>
                <a:ea typeface="Inter" pitchFamily="34" charset="-122"/>
                <a:cs typeface="Inter" pitchFamily="34" charset="-120"/>
              </a:rPr>
              <a:t>Reusable custom container</a:t>
            </a:r>
            <a:endParaRPr lang="en-US" sz="1200" dirty="0"/>
          </a:p>
        </p:txBody>
      </p:sp>
      <p:sp>
        <p:nvSpPr>
          <p:cNvPr id="20" name="Text 18"/>
          <p:cNvSpPr txBox="1"/>
          <p:nvPr/>
        </p:nvSpPr>
        <p:spPr>
          <a:xfrm>
            <a:off x="3822192" y="2807208"/>
            <a:ext cx="5504688" cy="493776"/>
          </a:xfrm>
          <a:prstGeom prst="rect">
            <a:avLst/>
          </a:prstGeom>
          <a:noFill/>
          <a:ln/>
        </p:spPr>
        <p:txBody>
          <a:bodyPr wrap="square" lIns="0" tIns="0" rIns="0" bIns="0" rtlCol="0" anchor="t">
            <a:normAutofit/>
          </a:bodyPr>
          <a:lstStyle/>
          <a:p>
            <a:pPr algn="l" indent="0" marL="0">
              <a:buNone/>
            </a:pPr>
            <a:r>
              <a:rPr lang="en-US" sz="1040" dirty="0">
                <a:solidFill>
                  <a:srgbClr val="203345"/>
                </a:solidFill>
                <a:latin typeface="Inter" pitchFamily="34" charset="0"/>
                <a:ea typeface="Inter" pitchFamily="34" charset="-122"/>
                <a:cs typeface="Inter" pitchFamily="34" charset="-120"/>
              </a:rPr>
              <a:t>Template the node structure; keep link changes in shared helpers; test iterators and edge cases.</a:t>
            </a:r>
            <a:endParaRPr lang="en-US" sz="1040" dirty="0"/>
          </a:p>
        </p:txBody>
      </p:sp>
      <p:sp>
        <p:nvSpPr>
          <p:cNvPr id="21" name="Shape 19"/>
          <p:cNvSpPr/>
          <p:nvPr/>
        </p:nvSpPr>
        <p:spPr>
          <a:xfrm>
            <a:off x="9582912" y="2953512"/>
            <a:ext cx="1700784" cy="274320"/>
          </a:xfrm>
          <a:prstGeom prst="roundRect">
            <a:avLst>
              <a:gd name="adj" fmla="val 33333"/>
            </a:avLst>
          </a:prstGeom>
          <a:solidFill>
            <a:srgbClr val="FFF2DE"/>
          </a:solidFill>
          <a:ln w="12700">
            <a:solidFill>
              <a:srgbClr val="FFF2DE">
                <a:alpha val="0"/>
              </a:srgbClr>
            </a:solidFill>
            <a:prstDash val="solid"/>
          </a:ln>
        </p:spPr>
      </p:sp>
      <p:sp>
        <p:nvSpPr>
          <p:cNvPr id="22" name="Text 20"/>
          <p:cNvSpPr txBox="1"/>
          <p:nvPr/>
        </p:nvSpPr>
        <p:spPr>
          <a:xfrm>
            <a:off x="9637776" y="2967228"/>
            <a:ext cx="1591056" cy="242316"/>
          </a:xfrm>
          <a:prstGeom prst="rect">
            <a:avLst/>
          </a:prstGeom>
          <a:noFill/>
          <a:ln/>
        </p:spPr>
        <p:txBody>
          <a:bodyPr wrap="square" lIns="0" tIns="0" rIns="0" bIns="0" rtlCol="0" anchor="ctr">
            <a:normAutofit/>
          </a:bodyPr>
          <a:lstStyle/>
          <a:p>
            <a:pPr algn="ctr" indent="0" marL="0">
              <a:buNone/>
            </a:pPr>
            <a:r>
              <a:rPr lang="en-US" sz="740" b="1" spc="30" kern="0" dirty="0">
                <a:solidFill>
                  <a:srgbClr val="94621D"/>
                </a:solidFill>
                <a:latin typeface="Inter" pitchFamily="34" charset="0"/>
                <a:ea typeface="Inter" pitchFamily="34" charset="-122"/>
                <a:cs typeface="Inter" pitchFamily="34" charset="-120"/>
              </a:rPr>
              <a:t>CORE</a:t>
            </a:r>
            <a:endParaRPr lang="en-US" sz="740" dirty="0"/>
          </a:p>
        </p:txBody>
      </p:sp>
      <p:sp>
        <p:nvSpPr>
          <p:cNvPr id="23" name="Shape 21"/>
          <p:cNvSpPr/>
          <p:nvPr/>
        </p:nvSpPr>
        <p:spPr>
          <a:xfrm>
            <a:off x="658368" y="3712464"/>
            <a:ext cx="10863072" cy="877824"/>
          </a:xfrm>
          <a:prstGeom prst="roundRect">
            <a:avLst>
              <a:gd name="adj" fmla="val 12500"/>
            </a:avLst>
          </a:prstGeom>
          <a:solidFill>
            <a:srgbClr val="FFFFFF"/>
          </a:solidFill>
          <a:ln w="11430">
            <a:solidFill>
              <a:srgbClr val="DCE5EA"/>
            </a:solidFill>
            <a:prstDash val="solid"/>
          </a:ln>
        </p:spPr>
      </p:sp>
      <p:sp>
        <p:nvSpPr>
          <p:cNvPr id="24" name="Shape 22"/>
          <p:cNvSpPr/>
          <p:nvPr/>
        </p:nvSpPr>
        <p:spPr>
          <a:xfrm>
            <a:off x="859536" y="3941064"/>
            <a:ext cx="329184" cy="329184"/>
          </a:xfrm>
          <a:prstGeom prst="ellipse">
            <a:avLst/>
          </a:prstGeom>
          <a:solidFill>
            <a:srgbClr val="16877D"/>
          </a:solidFill>
          <a:ln w="12700">
            <a:solidFill>
              <a:srgbClr val="16877D">
                <a:alpha val="0"/>
              </a:srgbClr>
            </a:solidFill>
            <a:prstDash val="solid"/>
          </a:ln>
        </p:spPr>
      </p:sp>
      <p:sp>
        <p:nvSpPr>
          <p:cNvPr id="25" name="Text 23"/>
          <p:cNvSpPr txBox="1"/>
          <p:nvPr/>
        </p:nvSpPr>
        <p:spPr>
          <a:xfrm>
            <a:off x="859536" y="3945636"/>
            <a:ext cx="329184" cy="31089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03</a:t>
            </a:r>
            <a:endParaRPr lang="en-US" sz="1000" dirty="0"/>
          </a:p>
        </p:txBody>
      </p:sp>
      <p:sp>
        <p:nvSpPr>
          <p:cNvPr id="26" name="Text 24"/>
          <p:cNvSpPr txBox="1"/>
          <p:nvPr/>
        </p:nvSpPr>
        <p:spPr>
          <a:xfrm>
            <a:off x="1371600" y="3858768"/>
            <a:ext cx="2423160" cy="246888"/>
          </a:xfrm>
          <a:prstGeom prst="rect">
            <a:avLst/>
          </a:prstGeom>
          <a:noFill/>
          <a:ln/>
        </p:spPr>
        <p:txBody>
          <a:bodyPr wrap="square" lIns="0" tIns="0" rIns="0" bIns="0" rtlCol="0" anchor="ctr">
            <a:normAutofit/>
          </a:bodyPr>
          <a:lstStyle/>
          <a:p>
            <a:pPr algn="l" indent="0" marL="0">
              <a:buNone/>
            </a:pPr>
            <a:r>
              <a:rPr lang="en-US" sz="1200" b="1" dirty="0">
                <a:solidFill>
                  <a:srgbClr val="12263A"/>
                </a:solidFill>
                <a:latin typeface="Inter" pitchFamily="34" charset="0"/>
                <a:ea typeface="Inter" pitchFamily="34" charset="-122"/>
                <a:cs typeface="Inter" pitchFamily="34" charset="-120"/>
              </a:rPr>
              <a:t>Flexible search and sort</a:t>
            </a:r>
            <a:endParaRPr lang="en-US" sz="1200" dirty="0"/>
          </a:p>
        </p:txBody>
      </p:sp>
      <p:sp>
        <p:nvSpPr>
          <p:cNvPr id="27" name="Text 25"/>
          <p:cNvSpPr txBox="1"/>
          <p:nvPr/>
        </p:nvSpPr>
        <p:spPr>
          <a:xfrm>
            <a:off x="3822192" y="3831336"/>
            <a:ext cx="5504688" cy="493776"/>
          </a:xfrm>
          <a:prstGeom prst="rect">
            <a:avLst/>
          </a:prstGeom>
          <a:noFill/>
          <a:ln/>
        </p:spPr>
        <p:txBody>
          <a:bodyPr wrap="square" lIns="0" tIns="0" rIns="0" bIns="0" rtlCol="0" anchor="t">
            <a:normAutofit/>
          </a:bodyPr>
          <a:lstStyle/>
          <a:p>
            <a:pPr algn="l" indent="0" marL="0">
              <a:buNone/>
            </a:pPr>
            <a:r>
              <a:rPr lang="en-US" sz="1040" dirty="0">
                <a:solidFill>
                  <a:srgbClr val="203345"/>
                </a:solidFill>
                <a:latin typeface="Inter" pitchFamily="34" charset="0"/>
                <a:ea typeface="Inter" pitchFamily="34" charset="-122"/>
                <a:cs typeface="Inter" pitchFamily="34" charset="-120"/>
              </a:rPr>
              <a:t>Use strategy interfaces and factories so criteria can change without rewriting the service.</a:t>
            </a:r>
            <a:endParaRPr lang="en-US" sz="1040" dirty="0"/>
          </a:p>
        </p:txBody>
      </p:sp>
      <p:sp>
        <p:nvSpPr>
          <p:cNvPr id="28" name="Shape 26"/>
          <p:cNvSpPr/>
          <p:nvPr/>
        </p:nvSpPr>
        <p:spPr>
          <a:xfrm>
            <a:off x="9582912" y="3977640"/>
            <a:ext cx="1700784" cy="274320"/>
          </a:xfrm>
          <a:prstGeom prst="roundRect">
            <a:avLst>
              <a:gd name="adj" fmla="val 33333"/>
            </a:avLst>
          </a:prstGeom>
          <a:solidFill>
            <a:srgbClr val="E9F0F6"/>
          </a:solidFill>
          <a:ln w="12700">
            <a:solidFill>
              <a:srgbClr val="E9F0F6">
                <a:alpha val="0"/>
              </a:srgbClr>
            </a:solidFill>
            <a:prstDash val="solid"/>
          </a:ln>
        </p:spPr>
      </p:sp>
      <p:sp>
        <p:nvSpPr>
          <p:cNvPr id="29" name="Text 27"/>
          <p:cNvSpPr txBox="1"/>
          <p:nvPr/>
        </p:nvSpPr>
        <p:spPr>
          <a:xfrm>
            <a:off x="9637776" y="3991356"/>
            <a:ext cx="1591056" cy="242316"/>
          </a:xfrm>
          <a:prstGeom prst="rect">
            <a:avLst/>
          </a:prstGeom>
          <a:noFill/>
          <a:ln/>
        </p:spPr>
        <p:txBody>
          <a:bodyPr wrap="square" lIns="0" tIns="0" rIns="0" bIns="0" rtlCol="0" anchor="ctr">
            <a:normAutofit/>
          </a:bodyPr>
          <a:lstStyle/>
          <a:p>
            <a:pPr algn="ctr" indent="0" marL="0">
              <a:buNone/>
            </a:pPr>
            <a:r>
              <a:rPr lang="en-US" sz="740" b="1" spc="30" kern="0" dirty="0">
                <a:solidFill>
                  <a:srgbClr val="16877D"/>
                </a:solidFill>
                <a:latin typeface="Inter" pitchFamily="34" charset="0"/>
                <a:ea typeface="Inter" pitchFamily="34" charset="-122"/>
                <a:cs typeface="Inter" pitchFamily="34" charset="-120"/>
              </a:rPr>
              <a:t>STRATEGY</a:t>
            </a:r>
            <a:endParaRPr lang="en-US" sz="740" dirty="0"/>
          </a:p>
        </p:txBody>
      </p:sp>
      <p:sp>
        <p:nvSpPr>
          <p:cNvPr id="30" name="Shape 28"/>
          <p:cNvSpPr/>
          <p:nvPr/>
        </p:nvSpPr>
        <p:spPr>
          <a:xfrm>
            <a:off x="658368" y="4736592"/>
            <a:ext cx="10863072" cy="877824"/>
          </a:xfrm>
          <a:prstGeom prst="roundRect">
            <a:avLst>
              <a:gd name="adj" fmla="val 12500"/>
            </a:avLst>
          </a:prstGeom>
          <a:solidFill>
            <a:srgbClr val="FFFFFF"/>
          </a:solidFill>
          <a:ln w="11430">
            <a:solidFill>
              <a:srgbClr val="DCE5EA"/>
            </a:solidFill>
            <a:prstDash val="solid"/>
          </a:ln>
        </p:spPr>
      </p:sp>
      <p:sp>
        <p:nvSpPr>
          <p:cNvPr id="31" name="Shape 29"/>
          <p:cNvSpPr/>
          <p:nvPr/>
        </p:nvSpPr>
        <p:spPr>
          <a:xfrm>
            <a:off x="859536" y="4965192"/>
            <a:ext cx="329184" cy="329184"/>
          </a:xfrm>
          <a:prstGeom prst="ellipse">
            <a:avLst/>
          </a:prstGeom>
          <a:solidFill>
            <a:srgbClr val="16877D"/>
          </a:solidFill>
          <a:ln w="12700">
            <a:solidFill>
              <a:srgbClr val="16877D">
                <a:alpha val="0"/>
              </a:srgbClr>
            </a:solidFill>
            <a:prstDash val="solid"/>
          </a:ln>
        </p:spPr>
      </p:sp>
      <p:sp>
        <p:nvSpPr>
          <p:cNvPr id="32" name="Text 30"/>
          <p:cNvSpPr txBox="1"/>
          <p:nvPr/>
        </p:nvSpPr>
        <p:spPr>
          <a:xfrm>
            <a:off x="859536" y="4969764"/>
            <a:ext cx="329184" cy="31089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04</a:t>
            </a:r>
            <a:endParaRPr lang="en-US" sz="1000" dirty="0"/>
          </a:p>
        </p:txBody>
      </p:sp>
      <p:sp>
        <p:nvSpPr>
          <p:cNvPr id="33" name="Text 31"/>
          <p:cNvSpPr txBox="1"/>
          <p:nvPr/>
        </p:nvSpPr>
        <p:spPr>
          <a:xfrm>
            <a:off x="1371600" y="4882896"/>
            <a:ext cx="2423160" cy="246888"/>
          </a:xfrm>
          <a:prstGeom prst="rect">
            <a:avLst/>
          </a:prstGeom>
          <a:noFill/>
          <a:ln/>
        </p:spPr>
        <p:txBody>
          <a:bodyPr wrap="square" lIns="0" tIns="0" rIns="0" bIns="0" rtlCol="0" anchor="ctr">
            <a:normAutofit/>
          </a:bodyPr>
          <a:lstStyle/>
          <a:p>
            <a:pPr algn="l" indent="0" marL="0">
              <a:buNone/>
            </a:pPr>
            <a:r>
              <a:rPr lang="en-US" sz="1200" b="1" dirty="0">
                <a:solidFill>
                  <a:srgbClr val="12263A"/>
                </a:solidFill>
                <a:latin typeface="Inter" pitchFamily="34" charset="0"/>
                <a:ea typeface="Inter" pitchFamily="34" charset="-122"/>
                <a:cs typeface="Inter" pitchFamily="34" charset="-120"/>
              </a:rPr>
              <a:t>Failure-safe resources</a:t>
            </a:r>
            <a:endParaRPr lang="en-US" sz="1200" dirty="0"/>
          </a:p>
        </p:txBody>
      </p:sp>
      <p:sp>
        <p:nvSpPr>
          <p:cNvPr id="34" name="Text 32"/>
          <p:cNvSpPr txBox="1"/>
          <p:nvPr/>
        </p:nvSpPr>
        <p:spPr>
          <a:xfrm>
            <a:off x="3822192" y="4855464"/>
            <a:ext cx="5504688" cy="493776"/>
          </a:xfrm>
          <a:prstGeom prst="rect">
            <a:avLst/>
          </a:prstGeom>
          <a:noFill/>
          <a:ln/>
        </p:spPr>
        <p:txBody>
          <a:bodyPr wrap="square" lIns="0" tIns="0" rIns="0" bIns="0" rtlCol="0" anchor="t">
            <a:normAutofit/>
          </a:bodyPr>
          <a:lstStyle/>
          <a:p>
            <a:pPr algn="l" indent="0" marL="0">
              <a:buNone/>
            </a:pPr>
            <a:r>
              <a:rPr lang="en-US" sz="1040" dirty="0">
                <a:solidFill>
                  <a:srgbClr val="203345"/>
                </a:solidFill>
                <a:latin typeface="Inter" pitchFamily="34" charset="0"/>
                <a:ea typeface="Inter" pitchFamily="34" charset="-122"/>
                <a:cs typeface="Inter" pitchFamily="34" charset="-120"/>
              </a:rPr>
              <a:t>Use RAII for SQLite handles/statements and exception-aware mutation / relinking logic.</a:t>
            </a:r>
            <a:endParaRPr lang="en-US" sz="1040" dirty="0"/>
          </a:p>
        </p:txBody>
      </p:sp>
      <p:sp>
        <p:nvSpPr>
          <p:cNvPr id="35" name="Shape 33"/>
          <p:cNvSpPr/>
          <p:nvPr/>
        </p:nvSpPr>
        <p:spPr>
          <a:xfrm>
            <a:off x="9582912" y="5001768"/>
            <a:ext cx="1700784" cy="274320"/>
          </a:xfrm>
          <a:prstGeom prst="roundRect">
            <a:avLst>
              <a:gd name="adj" fmla="val 33333"/>
            </a:avLst>
          </a:prstGeom>
          <a:solidFill>
            <a:srgbClr val="F0F3F6"/>
          </a:solidFill>
          <a:ln w="12700">
            <a:solidFill>
              <a:srgbClr val="F0F3F6">
                <a:alpha val="0"/>
              </a:srgbClr>
            </a:solidFill>
            <a:prstDash val="solid"/>
          </a:ln>
        </p:spPr>
      </p:sp>
      <p:sp>
        <p:nvSpPr>
          <p:cNvPr id="36" name="Text 34"/>
          <p:cNvSpPr txBox="1"/>
          <p:nvPr/>
        </p:nvSpPr>
        <p:spPr>
          <a:xfrm>
            <a:off x="9637776" y="5015484"/>
            <a:ext cx="1591056" cy="242316"/>
          </a:xfrm>
          <a:prstGeom prst="rect">
            <a:avLst/>
          </a:prstGeom>
          <a:noFill/>
          <a:ln/>
        </p:spPr>
        <p:txBody>
          <a:bodyPr wrap="square" lIns="0" tIns="0" rIns="0" bIns="0" rtlCol="0" anchor="ctr">
            <a:normAutofit/>
          </a:bodyPr>
          <a:lstStyle/>
          <a:p>
            <a:pPr algn="ctr" indent="0" marL="0">
              <a:buNone/>
            </a:pPr>
            <a:r>
              <a:rPr lang="en-US" sz="740" b="1" spc="30" kern="0" dirty="0">
                <a:solidFill>
                  <a:srgbClr val="16877D"/>
                </a:solidFill>
                <a:latin typeface="Inter" pitchFamily="34" charset="0"/>
                <a:ea typeface="Inter" pitchFamily="34" charset="-122"/>
                <a:cs typeface="Inter" pitchFamily="34" charset="-120"/>
              </a:rPr>
              <a:t>C++17</a:t>
            </a:r>
            <a:endParaRPr lang="en-US" sz="74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66928" y="347472"/>
            <a:ext cx="50292" cy="210312"/>
          </a:xfrm>
          <a:prstGeom prst="rect">
            <a:avLst/>
          </a:prstGeom>
          <a:solidFill>
            <a:srgbClr val="16877D"/>
          </a:solidFill>
          <a:ln w="12700">
            <a:solidFill>
              <a:srgbClr val="16877D">
                <a:alpha val="0"/>
              </a:srgbClr>
            </a:solidFill>
            <a:prstDash val="solid"/>
          </a:ln>
        </p:spPr>
      </p:sp>
      <p:sp>
        <p:nvSpPr>
          <p:cNvPr id="3" name="Text 1"/>
          <p:cNvSpPr txBox="1"/>
          <p:nvPr/>
        </p:nvSpPr>
        <p:spPr>
          <a:xfrm>
            <a:off x="713232" y="333756"/>
            <a:ext cx="3200400" cy="219456"/>
          </a:xfrm>
          <a:prstGeom prst="rect">
            <a:avLst/>
          </a:prstGeom>
          <a:noFill/>
          <a:ln/>
        </p:spPr>
        <p:txBody>
          <a:bodyPr wrap="square" lIns="0" tIns="0" rIns="0" bIns="0" rtlCol="0" anchor="ctr">
            <a:normAutofit/>
          </a:bodyPr>
          <a:lstStyle/>
          <a:p>
            <a:pPr algn="l" indent="0" marL="0">
              <a:buNone/>
            </a:pPr>
            <a:r>
              <a:rPr lang="en-US" sz="810" b="1" spc="180" kern="0" dirty="0">
                <a:solidFill>
                  <a:srgbClr val="16877D"/>
                </a:solidFill>
                <a:latin typeface="Inter" pitchFamily="34" charset="0"/>
                <a:ea typeface="Inter" pitchFamily="34" charset="-122"/>
                <a:cs typeface="Inter" pitchFamily="34" charset="-120"/>
              </a:rPr>
              <a:t>CONCLUSION</a:t>
            </a:r>
            <a:endParaRPr lang="en-US" sz="810" dirty="0"/>
          </a:p>
        </p:txBody>
      </p:sp>
      <p:sp>
        <p:nvSpPr>
          <p:cNvPr id="4" name="Text 2"/>
          <p:cNvSpPr txBox="1"/>
          <p:nvPr/>
        </p:nvSpPr>
        <p:spPr>
          <a:xfrm>
            <a:off x="566928" y="658368"/>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2263A"/>
                </a:solidFill>
                <a:latin typeface="Inter" pitchFamily="34" charset="0"/>
                <a:ea typeface="Inter" pitchFamily="34" charset="-122"/>
                <a:cs typeface="Inter" pitchFamily="34" charset="-120"/>
              </a:rPr>
              <a:t>A library app that demonstrates software engineering</a:t>
            </a:r>
            <a:endParaRPr lang="en-US" sz="2700" dirty="0"/>
          </a:p>
        </p:txBody>
      </p:sp>
      <p:sp>
        <p:nvSpPr>
          <p:cNvPr id="5" name="Text 3"/>
          <p:cNvSpPr txBox="1"/>
          <p:nvPr/>
        </p:nvSpPr>
        <p:spPr>
          <a:xfrm>
            <a:off x="585216" y="1115568"/>
            <a:ext cx="10972800" cy="274320"/>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The deliverable is a maintainable single-user console system—not just a menu of CRUD operations.</a:t>
            </a:r>
            <a:endParaRPr lang="en-US" sz="1070" dirty="0"/>
          </a:p>
        </p:txBody>
      </p:sp>
      <p:sp>
        <p:nvSpPr>
          <p:cNvPr id="6" name="Shape 4"/>
          <p:cNvSpPr/>
          <p:nvPr/>
        </p:nvSpPr>
        <p:spPr>
          <a:xfrm>
            <a:off x="566928" y="6510528"/>
            <a:ext cx="11119104" cy="0"/>
          </a:xfrm>
          <a:prstGeom prst="line">
            <a:avLst/>
          </a:prstGeom>
          <a:noFill/>
          <a:ln w="10160">
            <a:solidFill>
              <a:srgbClr val="E0E7EB"/>
            </a:solidFill>
            <a:prstDash val="solid"/>
          </a:ln>
        </p:spPr>
      </p:sp>
      <p:sp>
        <p:nvSpPr>
          <p:cNvPr id="7" name="Text 5"/>
          <p:cNvSpPr txBox="1"/>
          <p:nvPr/>
        </p:nvSpPr>
        <p:spPr>
          <a:xfrm>
            <a:off x="566928" y="6565392"/>
            <a:ext cx="5303520" cy="146304"/>
          </a:xfrm>
          <a:prstGeom prst="rect">
            <a:avLst/>
          </a:prstGeom>
          <a:noFill/>
          <a:ln/>
        </p:spPr>
        <p:txBody>
          <a:bodyPr wrap="square" lIns="0" tIns="0" rIns="0" bIns="0" rtlCol="0" anchor="ctr">
            <a:normAutofit/>
          </a:bodyPr>
          <a:lstStyle/>
          <a:p>
            <a:pPr algn="l" indent="0" marL="0">
              <a:buNone/>
            </a:pPr>
            <a:r>
              <a:rPr lang="en-US" sz="750" spc="110" kern="0" dirty="0">
                <a:solidFill>
                  <a:srgbClr val="6B7A88"/>
                </a:solidFill>
                <a:latin typeface="Inter" pitchFamily="34" charset="0"/>
                <a:ea typeface="Inter" pitchFamily="34" charset="-122"/>
                <a:cs typeface="Inter" pitchFamily="34" charset="-120"/>
              </a:rPr>
              <a:t>TITANS  /  LIBRARY MANAGEMENT SYSTEM</a:t>
            </a:r>
            <a:endParaRPr lang="en-US" sz="750" dirty="0"/>
          </a:p>
        </p:txBody>
      </p:sp>
      <p:sp>
        <p:nvSpPr>
          <p:cNvPr id="8" name="Text 6"/>
          <p:cNvSpPr txBox="1"/>
          <p:nvPr/>
        </p:nvSpPr>
        <p:spPr>
          <a:xfrm>
            <a:off x="11109960" y="6556248"/>
            <a:ext cx="502920" cy="164592"/>
          </a:xfrm>
          <a:prstGeom prst="rect">
            <a:avLst/>
          </a:prstGeom>
          <a:noFill/>
          <a:ln/>
        </p:spPr>
        <p:txBody>
          <a:bodyPr wrap="square" lIns="0" tIns="0" rIns="0" bIns="0" rtlCol="0" anchor="ctr">
            <a:normAutofit/>
          </a:bodyPr>
          <a:lstStyle/>
          <a:p>
            <a:pPr algn="r" indent="0" marL="0">
              <a:buNone/>
            </a:pPr>
            <a:r>
              <a:rPr lang="en-US" sz="800" dirty="0">
                <a:solidFill>
                  <a:srgbClr val="6B7A88"/>
                </a:solidFill>
                <a:latin typeface="Inter" pitchFamily="34" charset="0"/>
                <a:ea typeface="Inter" pitchFamily="34" charset="-122"/>
                <a:cs typeface="Inter" pitchFamily="34" charset="-120"/>
              </a:rPr>
              <a:t>14</a:t>
            </a:r>
            <a:endParaRPr lang="en-US" sz="800" dirty="0"/>
          </a:p>
        </p:txBody>
      </p:sp>
      <p:sp>
        <p:nvSpPr>
          <p:cNvPr id="9" name="Shape 7"/>
          <p:cNvSpPr/>
          <p:nvPr/>
        </p:nvSpPr>
        <p:spPr>
          <a:xfrm>
            <a:off x="658368" y="1755648"/>
            <a:ext cx="4645152" cy="3950208"/>
          </a:xfrm>
          <a:prstGeom prst="roundRect">
            <a:avLst>
              <a:gd name="adj" fmla="val 2778"/>
            </a:avLst>
          </a:prstGeom>
          <a:solidFill>
            <a:srgbClr val="12263A"/>
          </a:solidFill>
          <a:ln w="11430">
            <a:solidFill>
              <a:srgbClr val="12263A"/>
            </a:solidFill>
            <a:prstDash val="solid"/>
          </a:ln>
          <a:effectLst>
            <a:outerShdw sx="100000" sy="100000" kx="0" ky="0" algn="bl" rotWithShape="0" blurRad="19050" dist="50800" dir="2700000">
              <a:srgbClr val="203345">
                <a:alpha val="8000"/>
              </a:srgbClr>
            </a:outerShdw>
          </a:effectLst>
        </p:spPr>
      </p:sp>
      <p:sp>
        <p:nvSpPr>
          <p:cNvPr id="10" name="Text 8"/>
          <p:cNvSpPr txBox="1"/>
          <p:nvPr/>
        </p:nvSpPr>
        <p:spPr>
          <a:xfrm>
            <a:off x="932688" y="2084832"/>
            <a:ext cx="3840480" cy="347472"/>
          </a:xfrm>
          <a:prstGeom prst="rect">
            <a:avLst/>
          </a:prstGeom>
          <a:noFill/>
          <a:ln/>
        </p:spPr>
        <p:txBody>
          <a:bodyPr wrap="square" lIns="0" tIns="0" rIns="0" bIns="0" rtlCol="0" anchor="ctr">
            <a:normAutofit/>
          </a:bodyPr>
          <a:lstStyle/>
          <a:p>
            <a:pPr algn="l" indent="0" marL="0">
              <a:buNone/>
            </a:pPr>
            <a:r>
              <a:rPr lang="en-US" sz="2000" b="1" dirty="0">
                <a:solidFill>
                  <a:srgbClr val="FFFFFF"/>
                </a:solidFill>
                <a:latin typeface="Inter" pitchFamily="34" charset="0"/>
                <a:ea typeface="Inter" pitchFamily="34" charset="-122"/>
                <a:cs typeface="Inter" pitchFamily="34" charset="-120"/>
              </a:rPr>
              <a:t>What the project delivers</a:t>
            </a:r>
            <a:endParaRPr lang="en-US" sz="2000" dirty="0"/>
          </a:p>
        </p:txBody>
      </p:sp>
      <p:sp>
        <p:nvSpPr>
          <p:cNvPr id="11" name="Shape 9"/>
          <p:cNvSpPr/>
          <p:nvPr/>
        </p:nvSpPr>
        <p:spPr>
          <a:xfrm>
            <a:off x="932688" y="2834640"/>
            <a:ext cx="77724" cy="77724"/>
          </a:xfrm>
          <a:prstGeom prst="ellipse">
            <a:avLst/>
          </a:prstGeom>
          <a:solidFill>
            <a:srgbClr val="53B4A8"/>
          </a:solidFill>
          <a:ln w="12700">
            <a:solidFill>
              <a:srgbClr val="53B4A8">
                <a:alpha val="0"/>
              </a:srgbClr>
            </a:solidFill>
            <a:prstDash val="solid"/>
          </a:ln>
        </p:spPr>
      </p:sp>
      <p:sp>
        <p:nvSpPr>
          <p:cNvPr id="12" name="Text 10"/>
          <p:cNvSpPr txBox="1"/>
          <p:nvPr/>
        </p:nvSpPr>
        <p:spPr>
          <a:xfrm>
            <a:off x="1106424" y="2743200"/>
            <a:ext cx="3575304" cy="301752"/>
          </a:xfrm>
          <a:prstGeom prst="rect">
            <a:avLst/>
          </a:prstGeom>
          <a:noFill/>
          <a:ln/>
        </p:spPr>
        <p:txBody>
          <a:bodyPr wrap="square" lIns="0" tIns="0" rIns="0" bIns="0" rtlCol="0" anchor="t">
            <a:normAutofit/>
          </a:bodyPr>
          <a:lstStyle/>
          <a:p>
            <a:pPr algn="l" indent="0" marL="0">
              <a:buNone/>
            </a:pPr>
            <a:r>
              <a:rPr lang="en-US" sz="1140" dirty="0">
                <a:solidFill>
                  <a:srgbClr val="FFFFFF"/>
                </a:solidFill>
                <a:latin typeface="Inter" pitchFamily="34" charset="0"/>
                <a:ea typeface="Inter" pitchFamily="34" charset="-122"/>
                <a:cs typeface="Inter" pitchFamily="34" charset="-120"/>
              </a:rPr>
              <a:t>Book and member lifecycle management</a:t>
            </a:r>
            <a:endParaRPr lang="en-US" sz="1140" dirty="0"/>
          </a:p>
        </p:txBody>
      </p:sp>
      <p:sp>
        <p:nvSpPr>
          <p:cNvPr id="13" name="Shape 11"/>
          <p:cNvSpPr/>
          <p:nvPr/>
        </p:nvSpPr>
        <p:spPr>
          <a:xfrm>
            <a:off x="932688" y="3401568"/>
            <a:ext cx="77724" cy="77724"/>
          </a:xfrm>
          <a:prstGeom prst="ellipse">
            <a:avLst/>
          </a:prstGeom>
          <a:solidFill>
            <a:srgbClr val="53B4A8"/>
          </a:solidFill>
          <a:ln w="12700">
            <a:solidFill>
              <a:srgbClr val="53B4A8">
                <a:alpha val="0"/>
              </a:srgbClr>
            </a:solidFill>
            <a:prstDash val="solid"/>
          </a:ln>
        </p:spPr>
      </p:sp>
      <p:sp>
        <p:nvSpPr>
          <p:cNvPr id="14" name="Text 12"/>
          <p:cNvSpPr txBox="1"/>
          <p:nvPr/>
        </p:nvSpPr>
        <p:spPr>
          <a:xfrm>
            <a:off x="1106424" y="3310128"/>
            <a:ext cx="3575304" cy="301752"/>
          </a:xfrm>
          <a:prstGeom prst="rect">
            <a:avLst/>
          </a:prstGeom>
          <a:noFill/>
          <a:ln/>
        </p:spPr>
        <p:txBody>
          <a:bodyPr wrap="square" lIns="0" tIns="0" rIns="0" bIns="0" rtlCol="0" anchor="t">
            <a:normAutofit/>
          </a:bodyPr>
          <a:lstStyle/>
          <a:p>
            <a:pPr algn="l" indent="0" marL="0">
              <a:buNone/>
            </a:pPr>
            <a:r>
              <a:rPr lang="en-US" sz="1140" dirty="0">
                <a:solidFill>
                  <a:srgbClr val="FFFFFF"/>
                </a:solidFill>
                <a:latin typeface="Inter" pitchFamily="34" charset="0"/>
                <a:ea typeface="Inter" pitchFamily="34" charset="-122"/>
                <a:cs typeface="Inter" pitchFamily="34" charset="-120"/>
              </a:rPr>
              <a:t>Search, sort, statistics and loan history</a:t>
            </a:r>
            <a:endParaRPr lang="en-US" sz="1140" dirty="0"/>
          </a:p>
        </p:txBody>
      </p:sp>
      <p:sp>
        <p:nvSpPr>
          <p:cNvPr id="15" name="Shape 13"/>
          <p:cNvSpPr/>
          <p:nvPr/>
        </p:nvSpPr>
        <p:spPr>
          <a:xfrm>
            <a:off x="932688" y="3968496"/>
            <a:ext cx="77724" cy="77724"/>
          </a:xfrm>
          <a:prstGeom prst="ellipse">
            <a:avLst/>
          </a:prstGeom>
          <a:solidFill>
            <a:srgbClr val="53B4A8"/>
          </a:solidFill>
          <a:ln w="12700">
            <a:solidFill>
              <a:srgbClr val="53B4A8">
                <a:alpha val="0"/>
              </a:srgbClr>
            </a:solidFill>
            <a:prstDash val="solid"/>
          </a:ln>
        </p:spPr>
      </p:sp>
      <p:sp>
        <p:nvSpPr>
          <p:cNvPr id="16" name="Text 14"/>
          <p:cNvSpPr txBox="1"/>
          <p:nvPr/>
        </p:nvSpPr>
        <p:spPr>
          <a:xfrm>
            <a:off x="1106424" y="3877056"/>
            <a:ext cx="3575304" cy="301752"/>
          </a:xfrm>
          <a:prstGeom prst="rect">
            <a:avLst/>
          </a:prstGeom>
          <a:noFill/>
          <a:ln/>
        </p:spPr>
        <p:txBody>
          <a:bodyPr wrap="square" lIns="0" tIns="0" rIns="0" bIns="0" rtlCol="0" anchor="t">
            <a:normAutofit/>
          </a:bodyPr>
          <a:lstStyle/>
          <a:p>
            <a:pPr algn="l" indent="0" marL="0">
              <a:buNone/>
            </a:pPr>
            <a:r>
              <a:rPr lang="en-US" sz="1140" dirty="0">
                <a:solidFill>
                  <a:srgbClr val="FFFFFF"/>
                </a:solidFill>
                <a:latin typeface="Inter" pitchFamily="34" charset="0"/>
                <a:ea typeface="Inter" pitchFamily="34" charset="-122"/>
                <a:cs typeface="Inter" pitchFamily="34" charset="-120"/>
              </a:rPr>
              <a:t>SQLite persistence behind an interface</a:t>
            </a:r>
            <a:endParaRPr lang="en-US" sz="1140" dirty="0"/>
          </a:p>
        </p:txBody>
      </p:sp>
      <p:sp>
        <p:nvSpPr>
          <p:cNvPr id="17" name="Shape 15"/>
          <p:cNvSpPr/>
          <p:nvPr/>
        </p:nvSpPr>
        <p:spPr>
          <a:xfrm>
            <a:off x="932688" y="4535424"/>
            <a:ext cx="77724" cy="77724"/>
          </a:xfrm>
          <a:prstGeom prst="ellipse">
            <a:avLst/>
          </a:prstGeom>
          <a:solidFill>
            <a:srgbClr val="53B4A8"/>
          </a:solidFill>
          <a:ln w="12700">
            <a:solidFill>
              <a:srgbClr val="53B4A8">
                <a:alpha val="0"/>
              </a:srgbClr>
            </a:solidFill>
            <a:prstDash val="solid"/>
          </a:ln>
        </p:spPr>
      </p:sp>
      <p:sp>
        <p:nvSpPr>
          <p:cNvPr id="18" name="Text 16"/>
          <p:cNvSpPr txBox="1"/>
          <p:nvPr/>
        </p:nvSpPr>
        <p:spPr>
          <a:xfrm>
            <a:off x="1106424" y="4443984"/>
            <a:ext cx="3575304" cy="384048"/>
          </a:xfrm>
          <a:prstGeom prst="rect">
            <a:avLst/>
          </a:prstGeom>
          <a:noFill/>
          <a:ln/>
        </p:spPr>
        <p:txBody>
          <a:bodyPr wrap="square" lIns="0" tIns="0" rIns="0" bIns="0" rtlCol="0" anchor="t">
            <a:normAutofit/>
          </a:bodyPr>
          <a:lstStyle/>
          <a:p>
            <a:pPr algn="l" indent="0" marL="0">
              <a:buNone/>
            </a:pPr>
            <a:r>
              <a:rPr lang="en-US" sz="1140" dirty="0">
                <a:solidFill>
                  <a:srgbClr val="FFFFFF"/>
                </a:solidFill>
                <a:latin typeface="Inter" pitchFamily="34" charset="0"/>
                <a:ea typeface="Inter" pitchFamily="34" charset="-122"/>
                <a:cs typeface="Inter" pitchFamily="34" charset="-120"/>
              </a:rPr>
              <a:t>Custom container backed by automated tests</a:t>
            </a:r>
            <a:endParaRPr lang="en-US" sz="1140" dirty="0"/>
          </a:p>
        </p:txBody>
      </p:sp>
      <p:sp>
        <p:nvSpPr>
          <p:cNvPr id="19" name="Text 17"/>
          <p:cNvSpPr txBox="1"/>
          <p:nvPr/>
        </p:nvSpPr>
        <p:spPr>
          <a:xfrm>
            <a:off x="5715000" y="1975104"/>
            <a:ext cx="2103120" cy="274320"/>
          </a:xfrm>
          <a:prstGeom prst="rect">
            <a:avLst/>
          </a:prstGeom>
          <a:noFill/>
          <a:ln/>
        </p:spPr>
        <p:txBody>
          <a:bodyPr wrap="square" lIns="0" tIns="0" rIns="0" bIns="0" rtlCol="0" anchor="ctr">
            <a:normAutofit/>
          </a:bodyPr>
          <a:lstStyle/>
          <a:p>
            <a:pPr algn="l" indent="0" marL="0">
              <a:buNone/>
            </a:pPr>
            <a:r>
              <a:rPr lang="en-US" sz="1420" b="1" dirty="0">
                <a:solidFill>
                  <a:srgbClr val="12263A"/>
                </a:solidFill>
                <a:latin typeface="Inter" pitchFamily="34" charset="0"/>
                <a:ea typeface="Inter" pitchFamily="34" charset="-122"/>
                <a:cs typeface="Inter" pitchFamily="34" charset="-120"/>
              </a:rPr>
              <a:t>Key lessons</a:t>
            </a:r>
            <a:endParaRPr lang="en-US" sz="1420" dirty="0"/>
          </a:p>
        </p:txBody>
      </p:sp>
      <p:sp>
        <p:nvSpPr>
          <p:cNvPr id="20" name="Text 18"/>
          <p:cNvSpPr txBox="1"/>
          <p:nvPr/>
        </p:nvSpPr>
        <p:spPr>
          <a:xfrm>
            <a:off x="5742432" y="2523744"/>
            <a:ext cx="365760" cy="256032"/>
          </a:xfrm>
          <a:prstGeom prst="rect">
            <a:avLst/>
          </a:prstGeom>
          <a:noFill/>
          <a:ln/>
        </p:spPr>
        <p:txBody>
          <a:bodyPr wrap="square" lIns="0" tIns="0" rIns="0" bIns="0" rtlCol="0" anchor="ctr">
            <a:normAutofit/>
          </a:bodyPr>
          <a:lstStyle/>
          <a:p>
            <a:pPr algn="l" indent="0" marL="0">
              <a:buNone/>
            </a:pPr>
            <a:r>
              <a:rPr lang="en-US" sz="920" b="1" dirty="0">
                <a:solidFill>
                  <a:srgbClr val="16877D"/>
                </a:solidFill>
                <a:latin typeface="Inter" pitchFamily="34" charset="0"/>
                <a:ea typeface="Inter" pitchFamily="34" charset="-122"/>
                <a:cs typeface="Inter" pitchFamily="34" charset="-120"/>
              </a:rPr>
              <a:t>01</a:t>
            </a:r>
            <a:endParaRPr lang="en-US" sz="920" dirty="0"/>
          </a:p>
        </p:txBody>
      </p:sp>
      <p:sp>
        <p:nvSpPr>
          <p:cNvPr id="21" name="Text 19"/>
          <p:cNvSpPr txBox="1"/>
          <p:nvPr/>
        </p:nvSpPr>
        <p:spPr>
          <a:xfrm>
            <a:off x="6272784" y="2496312"/>
            <a:ext cx="4663440" cy="310896"/>
          </a:xfrm>
          <a:prstGeom prst="rect">
            <a:avLst/>
          </a:prstGeom>
          <a:noFill/>
          <a:ln/>
        </p:spPr>
        <p:txBody>
          <a:bodyPr wrap="square" lIns="0" tIns="0" rIns="0" bIns="0" rtlCol="0" anchor="ctr">
            <a:normAutofit/>
          </a:bodyPr>
          <a:lstStyle/>
          <a:p>
            <a:pPr algn="l" indent="0" marL="0">
              <a:buNone/>
            </a:pPr>
            <a:r>
              <a:rPr lang="en-US" sz="1200" b="1" dirty="0">
                <a:solidFill>
                  <a:srgbClr val="203345"/>
                </a:solidFill>
                <a:latin typeface="Inter" pitchFamily="34" charset="0"/>
                <a:ea typeface="Inter" pitchFamily="34" charset="-122"/>
                <a:cs typeface="Inter" pitchFamily="34" charset="-120"/>
              </a:rPr>
              <a:t>Put business rules in one place</a:t>
            </a:r>
            <a:endParaRPr lang="en-US" sz="1200" dirty="0"/>
          </a:p>
        </p:txBody>
      </p:sp>
      <p:sp>
        <p:nvSpPr>
          <p:cNvPr id="22" name="Shape 20"/>
          <p:cNvSpPr/>
          <p:nvPr/>
        </p:nvSpPr>
        <p:spPr>
          <a:xfrm>
            <a:off x="6236208" y="2944368"/>
            <a:ext cx="4873752" cy="0"/>
          </a:xfrm>
          <a:prstGeom prst="line">
            <a:avLst/>
          </a:prstGeom>
          <a:noFill/>
          <a:ln w="10160">
            <a:solidFill>
              <a:srgbClr val="DCE5EA"/>
            </a:solidFill>
            <a:prstDash val="solid"/>
          </a:ln>
        </p:spPr>
      </p:sp>
      <p:sp>
        <p:nvSpPr>
          <p:cNvPr id="23" name="Text 21"/>
          <p:cNvSpPr txBox="1"/>
          <p:nvPr/>
        </p:nvSpPr>
        <p:spPr>
          <a:xfrm>
            <a:off x="5742432" y="3236976"/>
            <a:ext cx="365760" cy="256032"/>
          </a:xfrm>
          <a:prstGeom prst="rect">
            <a:avLst/>
          </a:prstGeom>
          <a:noFill/>
          <a:ln/>
        </p:spPr>
        <p:txBody>
          <a:bodyPr wrap="square" lIns="0" tIns="0" rIns="0" bIns="0" rtlCol="0" anchor="ctr">
            <a:normAutofit/>
          </a:bodyPr>
          <a:lstStyle/>
          <a:p>
            <a:pPr algn="l" indent="0" marL="0">
              <a:buNone/>
            </a:pPr>
            <a:r>
              <a:rPr lang="en-US" sz="920" b="1" dirty="0">
                <a:solidFill>
                  <a:srgbClr val="16877D"/>
                </a:solidFill>
                <a:latin typeface="Inter" pitchFamily="34" charset="0"/>
                <a:ea typeface="Inter" pitchFamily="34" charset="-122"/>
                <a:cs typeface="Inter" pitchFamily="34" charset="-120"/>
              </a:rPr>
              <a:t>02</a:t>
            </a:r>
            <a:endParaRPr lang="en-US" sz="920" dirty="0"/>
          </a:p>
        </p:txBody>
      </p:sp>
      <p:sp>
        <p:nvSpPr>
          <p:cNvPr id="24" name="Text 22"/>
          <p:cNvSpPr txBox="1"/>
          <p:nvPr/>
        </p:nvSpPr>
        <p:spPr>
          <a:xfrm>
            <a:off x="6272784" y="3209544"/>
            <a:ext cx="4663440" cy="310896"/>
          </a:xfrm>
          <a:prstGeom prst="rect">
            <a:avLst/>
          </a:prstGeom>
          <a:noFill/>
          <a:ln/>
        </p:spPr>
        <p:txBody>
          <a:bodyPr wrap="square" lIns="0" tIns="0" rIns="0" bIns="0" rtlCol="0" anchor="ctr">
            <a:normAutofit/>
          </a:bodyPr>
          <a:lstStyle/>
          <a:p>
            <a:pPr algn="l" indent="0" marL="0">
              <a:buNone/>
            </a:pPr>
            <a:r>
              <a:rPr lang="en-US" sz="1200" b="1" dirty="0">
                <a:solidFill>
                  <a:srgbClr val="203345"/>
                </a:solidFill>
                <a:latin typeface="Inter" pitchFamily="34" charset="0"/>
                <a:ea typeface="Inter" pitchFamily="34" charset="-122"/>
                <a:cs typeface="Inter" pitchFamily="34" charset="-120"/>
              </a:rPr>
              <a:t>Model invariants explicitly</a:t>
            </a:r>
            <a:endParaRPr lang="en-US" sz="1200" dirty="0"/>
          </a:p>
        </p:txBody>
      </p:sp>
      <p:sp>
        <p:nvSpPr>
          <p:cNvPr id="25" name="Shape 23"/>
          <p:cNvSpPr/>
          <p:nvPr/>
        </p:nvSpPr>
        <p:spPr>
          <a:xfrm>
            <a:off x="6236208" y="3657600"/>
            <a:ext cx="4873752" cy="0"/>
          </a:xfrm>
          <a:prstGeom prst="line">
            <a:avLst/>
          </a:prstGeom>
          <a:noFill/>
          <a:ln w="10160">
            <a:solidFill>
              <a:srgbClr val="DCE5EA"/>
            </a:solidFill>
            <a:prstDash val="solid"/>
          </a:ln>
        </p:spPr>
      </p:sp>
      <p:sp>
        <p:nvSpPr>
          <p:cNvPr id="26" name="Text 24"/>
          <p:cNvSpPr txBox="1"/>
          <p:nvPr/>
        </p:nvSpPr>
        <p:spPr>
          <a:xfrm>
            <a:off x="5742432" y="3950208"/>
            <a:ext cx="365760" cy="256032"/>
          </a:xfrm>
          <a:prstGeom prst="rect">
            <a:avLst/>
          </a:prstGeom>
          <a:noFill/>
          <a:ln/>
        </p:spPr>
        <p:txBody>
          <a:bodyPr wrap="square" lIns="0" tIns="0" rIns="0" bIns="0" rtlCol="0" anchor="ctr">
            <a:normAutofit/>
          </a:bodyPr>
          <a:lstStyle/>
          <a:p>
            <a:pPr algn="l" indent="0" marL="0">
              <a:buNone/>
            </a:pPr>
            <a:r>
              <a:rPr lang="en-US" sz="920" b="1" dirty="0">
                <a:solidFill>
                  <a:srgbClr val="16877D"/>
                </a:solidFill>
                <a:latin typeface="Inter" pitchFamily="34" charset="0"/>
                <a:ea typeface="Inter" pitchFamily="34" charset="-122"/>
                <a:cs typeface="Inter" pitchFamily="34" charset="-120"/>
              </a:rPr>
              <a:t>03</a:t>
            </a:r>
            <a:endParaRPr lang="en-US" sz="920" dirty="0"/>
          </a:p>
        </p:txBody>
      </p:sp>
      <p:sp>
        <p:nvSpPr>
          <p:cNvPr id="27" name="Text 25"/>
          <p:cNvSpPr txBox="1"/>
          <p:nvPr/>
        </p:nvSpPr>
        <p:spPr>
          <a:xfrm>
            <a:off x="6272784" y="3922776"/>
            <a:ext cx="4663440" cy="310896"/>
          </a:xfrm>
          <a:prstGeom prst="rect">
            <a:avLst/>
          </a:prstGeom>
          <a:noFill/>
          <a:ln/>
        </p:spPr>
        <p:txBody>
          <a:bodyPr wrap="square" lIns="0" tIns="0" rIns="0" bIns="0" rtlCol="0" anchor="ctr">
            <a:normAutofit/>
          </a:bodyPr>
          <a:lstStyle/>
          <a:p>
            <a:pPr algn="l" indent="0" marL="0">
              <a:buNone/>
            </a:pPr>
            <a:r>
              <a:rPr lang="en-US" sz="1200" b="1" dirty="0">
                <a:solidFill>
                  <a:srgbClr val="203345"/>
                </a:solidFill>
                <a:latin typeface="Inter" pitchFamily="34" charset="0"/>
                <a:ea typeface="Inter" pitchFamily="34" charset="-122"/>
                <a:cs typeface="Inter" pitchFamily="34" charset="-120"/>
              </a:rPr>
              <a:t>Test edges, failures and full workflows</a:t>
            </a:r>
            <a:endParaRPr lang="en-US" sz="1200" dirty="0"/>
          </a:p>
        </p:txBody>
      </p:sp>
      <p:sp>
        <p:nvSpPr>
          <p:cNvPr id="28" name="Shape 26"/>
          <p:cNvSpPr/>
          <p:nvPr/>
        </p:nvSpPr>
        <p:spPr>
          <a:xfrm>
            <a:off x="6236208" y="4370832"/>
            <a:ext cx="4873752" cy="0"/>
          </a:xfrm>
          <a:prstGeom prst="line">
            <a:avLst/>
          </a:prstGeom>
          <a:noFill/>
          <a:ln w="10160">
            <a:solidFill>
              <a:srgbClr val="DCE5EA"/>
            </a:solidFill>
            <a:prstDash val="solid"/>
          </a:ln>
        </p:spPr>
      </p:sp>
      <p:sp>
        <p:nvSpPr>
          <p:cNvPr id="29" name="Text 27"/>
          <p:cNvSpPr txBox="1"/>
          <p:nvPr/>
        </p:nvSpPr>
        <p:spPr>
          <a:xfrm>
            <a:off x="5742432" y="4663440"/>
            <a:ext cx="365760" cy="256032"/>
          </a:xfrm>
          <a:prstGeom prst="rect">
            <a:avLst/>
          </a:prstGeom>
          <a:noFill/>
          <a:ln/>
        </p:spPr>
        <p:txBody>
          <a:bodyPr wrap="square" lIns="0" tIns="0" rIns="0" bIns="0" rtlCol="0" anchor="ctr">
            <a:normAutofit/>
          </a:bodyPr>
          <a:lstStyle/>
          <a:p>
            <a:pPr algn="l" indent="0" marL="0">
              <a:buNone/>
            </a:pPr>
            <a:r>
              <a:rPr lang="en-US" sz="920" b="1" dirty="0">
                <a:solidFill>
                  <a:srgbClr val="16877D"/>
                </a:solidFill>
                <a:latin typeface="Inter" pitchFamily="34" charset="0"/>
                <a:ea typeface="Inter" pitchFamily="34" charset="-122"/>
                <a:cs typeface="Inter" pitchFamily="34" charset="-120"/>
              </a:rPr>
              <a:t>04</a:t>
            </a:r>
            <a:endParaRPr lang="en-US" sz="920" dirty="0"/>
          </a:p>
        </p:txBody>
      </p:sp>
      <p:sp>
        <p:nvSpPr>
          <p:cNvPr id="30" name="Text 28"/>
          <p:cNvSpPr txBox="1"/>
          <p:nvPr/>
        </p:nvSpPr>
        <p:spPr>
          <a:xfrm>
            <a:off x="6272784" y="4636008"/>
            <a:ext cx="4663440" cy="310896"/>
          </a:xfrm>
          <a:prstGeom prst="rect">
            <a:avLst/>
          </a:prstGeom>
          <a:noFill/>
          <a:ln/>
        </p:spPr>
        <p:txBody>
          <a:bodyPr wrap="square" lIns="0" tIns="0" rIns="0" bIns="0" rtlCol="0" anchor="ctr">
            <a:normAutofit/>
          </a:bodyPr>
          <a:lstStyle/>
          <a:p>
            <a:pPr algn="l" indent="0" marL="0">
              <a:buNone/>
            </a:pPr>
            <a:r>
              <a:rPr lang="en-US" sz="1200" b="1" dirty="0">
                <a:solidFill>
                  <a:srgbClr val="203345"/>
                </a:solidFill>
                <a:latin typeface="Inter" pitchFamily="34" charset="0"/>
                <a:ea typeface="Inter" pitchFamily="34" charset="-122"/>
                <a:cs typeface="Inter" pitchFamily="34" charset="-120"/>
              </a:rPr>
              <a:t>Choose abstractions to isolate change</a:t>
            </a:r>
            <a:endParaRPr lang="en-US" sz="1200" dirty="0"/>
          </a:p>
        </p:txBody>
      </p:sp>
      <p:sp>
        <p:nvSpPr>
          <p:cNvPr id="31" name="Shape 29"/>
          <p:cNvSpPr/>
          <p:nvPr/>
        </p:nvSpPr>
        <p:spPr>
          <a:xfrm>
            <a:off x="5733288" y="5532120"/>
            <a:ext cx="3328416" cy="274320"/>
          </a:xfrm>
          <a:prstGeom prst="roundRect">
            <a:avLst>
              <a:gd name="adj" fmla="val 33333"/>
            </a:avLst>
          </a:prstGeom>
          <a:solidFill>
            <a:srgbClr val="EEF2F5"/>
          </a:solidFill>
          <a:ln w="12700">
            <a:solidFill>
              <a:srgbClr val="EEF2F5">
                <a:alpha val="0"/>
              </a:srgbClr>
            </a:solidFill>
            <a:prstDash val="solid"/>
          </a:ln>
        </p:spPr>
      </p:sp>
      <p:sp>
        <p:nvSpPr>
          <p:cNvPr id="32" name="Text 30"/>
          <p:cNvSpPr txBox="1"/>
          <p:nvPr/>
        </p:nvSpPr>
        <p:spPr>
          <a:xfrm>
            <a:off x="5788152" y="5545836"/>
            <a:ext cx="3218688" cy="242316"/>
          </a:xfrm>
          <a:prstGeom prst="rect">
            <a:avLst/>
          </a:prstGeom>
          <a:noFill/>
          <a:ln/>
        </p:spPr>
        <p:txBody>
          <a:bodyPr wrap="square" lIns="0" tIns="0" rIns="0" bIns="0" rtlCol="0" anchor="ctr">
            <a:normAutofit/>
          </a:bodyPr>
          <a:lstStyle/>
          <a:p>
            <a:pPr algn="ctr" indent="0" marL="0">
              <a:buNone/>
            </a:pPr>
            <a:r>
              <a:rPr lang="en-US" sz="780" b="1" spc="30" kern="0" dirty="0">
                <a:solidFill>
                  <a:srgbClr val="657585"/>
                </a:solidFill>
                <a:latin typeface="Inter" pitchFamily="34" charset="0"/>
                <a:ea typeface="Inter" pitchFamily="34" charset="-122"/>
                <a:cs typeface="Inter" pitchFamily="34" charset="-120"/>
              </a:rPr>
              <a:t>CURRENT SCOPE: CONSOLE · SINGLE-THREADED</a:t>
            </a:r>
            <a:endParaRPr lang="en-US" sz="7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263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6877D"/>
          </a:solidFill>
          <a:ln w="12700">
            <a:solidFill>
              <a:srgbClr val="16877D">
                <a:alpha val="0"/>
              </a:srgbClr>
            </a:solidFill>
            <a:prstDash val="solid"/>
          </a:ln>
        </p:spPr>
      </p:sp>
      <p:sp>
        <p:nvSpPr>
          <p:cNvPr id="3" name="Shape 1"/>
          <p:cNvSpPr/>
          <p:nvPr/>
        </p:nvSpPr>
        <p:spPr>
          <a:xfrm>
            <a:off x="7863840" y="0"/>
            <a:ext cx="0" cy="6858000"/>
          </a:xfrm>
          <a:prstGeom prst="line">
            <a:avLst/>
          </a:prstGeom>
          <a:noFill/>
          <a:ln w="6350">
            <a:solidFill>
              <a:srgbClr val="294357"/>
            </a:solidFill>
            <a:prstDash val="solid"/>
          </a:ln>
        </p:spPr>
      </p:sp>
      <p:sp>
        <p:nvSpPr>
          <p:cNvPr id="4" name="Shape 2"/>
          <p:cNvSpPr/>
          <p:nvPr/>
        </p:nvSpPr>
        <p:spPr>
          <a:xfrm>
            <a:off x="8449056" y="0"/>
            <a:ext cx="0" cy="6858000"/>
          </a:xfrm>
          <a:prstGeom prst="line">
            <a:avLst/>
          </a:prstGeom>
          <a:noFill/>
          <a:ln w="6350">
            <a:solidFill>
              <a:srgbClr val="294357"/>
            </a:solidFill>
            <a:prstDash val="solid"/>
          </a:ln>
        </p:spPr>
      </p:sp>
      <p:sp>
        <p:nvSpPr>
          <p:cNvPr id="5" name="Shape 3"/>
          <p:cNvSpPr/>
          <p:nvPr/>
        </p:nvSpPr>
        <p:spPr>
          <a:xfrm>
            <a:off x="9034272" y="0"/>
            <a:ext cx="0" cy="6858000"/>
          </a:xfrm>
          <a:prstGeom prst="line">
            <a:avLst/>
          </a:prstGeom>
          <a:noFill/>
          <a:ln w="6350">
            <a:solidFill>
              <a:srgbClr val="294357"/>
            </a:solidFill>
            <a:prstDash val="solid"/>
          </a:ln>
        </p:spPr>
      </p:sp>
      <p:sp>
        <p:nvSpPr>
          <p:cNvPr id="6" name="Shape 4"/>
          <p:cNvSpPr/>
          <p:nvPr/>
        </p:nvSpPr>
        <p:spPr>
          <a:xfrm>
            <a:off x="9619488" y="0"/>
            <a:ext cx="0" cy="6858000"/>
          </a:xfrm>
          <a:prstGeom prst="line">
            <a:avLst/>
          </a:prstGeom>
          <a:noFill/>
          <a:ln w="6350">
            <a:solidFill>
              <a:srgbClr val="294357"/>
            </a:solidFill>
            <a:prstDash val="solid"/>
          </a:ln>
        </p:spPr>
      </p:sp>
      <p:sp>
        <p:nvSpPr>
          <p:cNvPr id="7" name="Shape 5"/>
          <p:cNvSpPr/>
          <p:nvPr/>
        </p:nvSpPr>
        <p:spPr>
          <a:xfrm>
            <a:off x="10204704" y="0"/>
            <a:ext cx="0" cy="6858000"/>
          </a:xfrm>
          <a:prstGeom prst="line">
            <a:avLst/>
          </a:prstGeom>
          <a:noFill/>
          <a:ln w="6350">
            <a:solidFill>
              <a:srgbClr val="294357"/>
            </a:solidFill>
            <a:prstDash val="solid"/>
          </a:ln>
        </p:spPr>
      </p:sp>
      <p:sp>
        <p:nvSpPr>
          <p:cNvPr id="8" name="Shape 6"/>
          <p:cNvSpPr/>
          <p:nvPr/>
        </p:nvSpPr>
        <p:spPr>
          <a:xfrm>
            <a:off x="10789920" y="0"/>
            <a:ext cx="0" cy="6858000"/>
          </a:xfrm>
          <a:prstGeom prst="line">
            <a:avLst/>
          </a:prstGeom>
          <a:noFill/>
          <a:ln w="6350">
            <a:solidFill>
              <a:srgbClr val="294357"/>
            </a:solidFill>
            <a:prstDash val="solid"/>
          </a:ln>
        </p:spPr>
      </p:sp>
      <p:sp>
        <p:nvSpPr>
          <p:cNvPr id="9" name="Shape 7"/>
          <p:cNvSpPr/>
          <p:nvPr/>
        </p:nvSpPr>
        <p:spPr>
          <a:xfrm>
            <a:off x="11375136" y="0"/>
            <a:ext cx="0" cy="6858000"/>
          </a:xfrm>
          <a:prstGeom prst="line">
            <a:avLst/>
          </a:prstGeom>
          <a:noFill/>
          <a:ln w="6350">
            <a:solidFill>
              <a:srgbClr val="294357"/>
            </a:solidFill>
            <a:prstDash val="solid"/>
          </a:ln>
        </p:spPr>
      </p:sp>
      <p:sp>
        <p:nvSpPr>
          <p:cNvPr id="10" name="Shape 8"/>
          <p:cNvSpPr/>
          <p:nvPr/>
        </p:nvSpPr>
        <p:spPr>
          <a:xfrm>
            <a:off x="7726680" y="502920"/>
            <a:ext cx="4462272" cy="0"/>
          </a:xfrm>
          <a:prstGeom prst="line">
            <a:avLst/>
          </a:prstGeom>
          <a:noFill/>
          <a:ln w="6350">
            <a:solidFill>
              <a:srgbClr val="294357"/>
            </a:solidFill>
            <a:prstDash val="solid"/>
          </a:ln>
        </p:spPr>
      </p:sp>
      <p:sp>
        <p:nvSpPr>
          <p:cNvPr id="11" name="Shape 9"/>
          <p:cNvSpPr/>
          <p:nvPr/>
        </p:nvSpPr>
        <p:spPr>
          <a:xfrm>
            <a:off x="7726680" y="1344168"/>
            <a:ext cx="4462272" cy="0"/>
          </a:xfrm>
          <a:prstGeom prst="line">
            <a:avLst/>
          </a:prstGeom>
          <a:noFill/>
          <a:ln w="6350">
            <a:solidFill>
              <a:srgbClr val="294357"/>
            </a:solidFill>
            <a:prstDash val="solid"/>
          </a:ln>
        </p:spPr>
      </p:sp>
      <p:sp>
        <p:nvSpPr>
          <p:cNvPr id="12" name="Shape 10"/>
          <p:cNvSpPr/>
          <p:nvPr/>
        </p:nvSpPr>
        <p:spPr>
          <a:xfrm>
            <a:off x="7726680" y="2185416"/>
            <a:ext cx="4462272" cy="0"/>
          </a:xfrm>
          <a:prstGeom prst="line">
            <a:avLst/>
          </a:prstGeom>
          <a:noFill/>
          <a:ln w="6350">
            <a:solidFill>
              <a:srgbClr val="294357"/>
            </a:solidFill>
            <a:prstDash val="solid"/>
          </a:ln>
        </p:spPr>
      </p:sp>
      <p:sp>
        <p:nvSpPr>
          <p:cNvPr id="13" name="Shape 11"/>
          <p:cNvSpPr/>
          <p:nvPr/>
        </p:nvSpPr>
        <p:spPr>
          <a:xfrm>
            <a:off x="7726680" y="3026664"/>
            <a:ext cx="4462272" cy="0"/>
          </a:xfrm>
          <a:prstGeom prst="line">
            <a:avLst/>
          </a:prstGeom>
          <a:noFill/>
          <a:ln w="6350">
            <a:solidFill>
              <a:srgbClr val="294357"/>
            </a:solidFill>
            <a:prstDash val="solid"/>
          </a:ln>
        </p:spPr>
      </p:sp>
      <p:sp>
        <p:nvSpPr>
          <p:cNvPr id="14" name="Shape 12"/>
          <p:cNvSpPr/>
          <p:nvPr/>
        </p:nvSpPr>
        <p:spPr>
          <a:xfrm>
            <a:off x="7726680" y="3867912"/>
            <a:ext cx="4462272" cy="0"/>
          </a:xfrm>
          <a:prstGeom prst="line">
            <a:avLst/>
          </a:prstGeom>
          <a:noFill/>
          <a:ln w="6350">
            <a:solidFill>
              <a:srgbClr val="294357"/>
            </a:solidFill>
            <a:prstDash val="solid"/>
          </a:ln>
        </p:spPr>
      </p:sp>
      <p:sp>
        <p:nvSpPr>
          <p:cNvPr id="15" name="Shape 13"/>
          <p:cNvSpPr/>
          <p:nvPr/>
        </p:nvSpPr>
        <p:spPr>
          <a:xfrm>
            <a:off x="7726680" y="4709160"/>
            <a:ext cx="4462272" cy="0"/>
          </a:xfrm>
          <a:prstGeom prst="line">
            <a:avLst/>
          </a:prstGeom>
          <a:noFill/>
          <a:ln w="6350">
            <a:solidFill>
              <a:srgbClr val="294357"/>
            </a:solidFill>
            <a:prstDash val="solid"/>
          </a:ln>
        </p:spPr>
      </p:sp>
      <p:sp>
        <p:nvSpPr>
          <p:cNvPr id="16" name="Shape 14"/>
          <p:cNvSpPr/>
          <p:nvPr/>
        </p:nvSpPr>
        <p:spPr>
          <a:xfrm>
            <a:off x="7726680" y="5550408"/>
            <a:ext cx="4462272" cy="0"/>
          </a:xfrm>
          <a:prstGeom prst="line">
            <a:avLst/>
          </a:prstGeom>
          <a:noFill/>
          <a:ln w="6350">
            <a:solidFill>
              <a:srgbClr val="294357"/>
            </a:solidFill>
            <a:prstDash val="solid"/>
          </a:ln>
        </p:spPr>
      </p:sp>
      <p:sp>
        <p:nvSpPr>
          <p:cNvPr id="17" name="Text 15"/>
          <p:cNvSpPr txBox="1"/>
          <p:nvPr/>
        </p:nvSpPr>
        <p:spPr>
          <a:xfrm>
            <a:off x="749808" y="548640"/>
            <a:ext cx="2468880" cy="219456"/>
          </a:xfrm>
          <a:prstGeom prst="rect">
            <a:avLst/>
          </a:prstGeom>
          <a:noFill/>
          <a:ln/>
        </p:spPr>
        <p:txBody>
          <a:bodyPr wrap="square" lIns="0" tIns="0" rIns="0" bIns="0" rtlCol="0" anchor="ctr">
            <a:normAutofit/>
          </a:bodyPr>
          <a:lstStyle/>
          <a:p>
            <a:pPr algn="l" indent="0" marL="0">
              <a:buNone/>
            </a:pPr>
            <a:r>
              <a:rPr lang="en-US" sz="880" b="1" spc="170" kern="0" dirty="0">
                <a:solidFill>
                  <a:srgbClr val="9FE1D8"/>
                </a:solidFill>
                <a:latin typeface="Inter" pitchFamily="34" charset="0"/>
                <a:ea typeface="Inter" pitchFamily="34" charset="-122"/>
                <a:cs typeface="Inter" pitchFamily="34" charset="-120"/>
              </a:rPr>
              <a:t>NEXT ITERATION</a:t>
            </a:r>
            <a:endParaRPr lang="en-US" sz="880" dirty="0"/>
          </a:p>
        </p:txBody>
      </p:sp>
      <p:sp>
        <p:nvSpPr>
          <p:cNvPr id="18" name="Text 16"/>
          <p:cNvSpPr txBox="1"/>
          <p:nvPr/>
        </p:nvSpPr>
        <p:spPr>
          <a:xfrm>
            <a:off x="749808" y="941832"/>
            <a:ext cx="4754880" cy="530352"/>
          </a:xfrm>
          <a:prstGeom prst="rect">
            <a:avLst/>
          </a:prstGeom>
          <a:noFill/>
          <a:ln/>
        </p:spPr>
        <p:txBody>
          <a:bodyPr wrap="square" lIns="0" tIns="0" rIns="0" bIns="0" rtlCol="0" anchor="ctr">
            <a:normAutofit/>
          </a:bodyPr>
          <a:lstStyle/>
          <a:p>
            <a:pPr algn="l" indent="0" marL="0">
              <a:buNone/>
            </a:pPr>
            <a:r>
              <a:rPr lang="en-US" sz="3100" b="1" dirty="0">
                <a:solidFill>
                  <a:srgbClr val="FFFFFF"/>
                </a:solidFill>
                <a:latin typeface="Inter" pitchFamily="34" charset="0"/>
                <a:ea typeface="Inter" pitchFamily="34" charset="-122"/>
                <a:cs typeface="Inter" pitchFamily="34" charset="-120"/>
              </a:rPr>
              <a:t>Future work</a:t>
            </a:r>
            <a:endParaRPr lang="en-US" sz="3100" dirty="0"/>
          </a:p>
        </p:txBody>
      </p:sp>
      <p:sp>
        <p:nvSpPr>
          <p:cNvPr id="19" name="Text 17"/>
          <p:cNvSpPr txBox="1"/>
          <p:nvPr/>
        </p:nvSpPr>
        <p:spPr>
          <a:xfrm>
            <a:off x="768096" y="1600200"/>
            <a:ext cx="5486400" cy="292608"/>
          </a:xfrm>
          <a:prstGeom prst="rect">
            <a:avLst/>
          </a:prstGeom>
          <a:noFill/>
          <a:ln/>
        </p:spPr>
        <p:txBody>
          <a:bodyPr wrap="square" lIns="0" tIns="0" rIns="0" bIns="0" rtlCol="0" anchor="ctr">
            <a:normAutofit/>
          </a:bodyPr>
          <a:lstStyle/>
          <a:p>
            <a:pPr algn="l" indent="0" marL="0">
              <a:buNone/>
            </a:pPr>
            <a:r>
              <a:rPr lang="en-US" sz="1200" dirty="0">
                <a:solidFill>
                  <a:srgbClr val="B7C9D5"/>
                </a:solidFill>
                <a:latin typeface="Inter" pitchFamily="34" charset="0"/>
                <a:ea typeface="Inter" pitchFamily="34" charset="-122"/>
                <a:cs typeface="Inter" pitchFamily="34" charset="-120"/>
              </a:rPr>
              <a:t>Build on the current architecture rather than replacing it.</a:t>
            </a:r>
            <a:endParaRPr lang="en-US" sz="1200" dirty="0"/>
          </a:p>
        </p:txBody>
      </p:sp>
      <p:sp>
        <p:nvSpPr>
          <p:cNvPr id="20" name="Shape 18"/>
          <p:cNvSpPr/>
          <p:nvPr/>
        </p:nvSpPr>
        <p:spPr>
          <a:xfrm>
            <a:off x="749808" y="2240280"/>
            <a:ext cx="4919472" cy="777240"/>
          </a:xfrm>
          <a:prstGeom prst="roundRect">
            <a:avLst>
              <a:gd name="adj" fmla="val 14118"/>
            </a:avLst>
          </a:prstGeom>
          <a:solidFill>
            <a:srgbClr val="1A354C"/>
          </a:solidFill>
          <a:ln w="11430">
            <a:solidFill>
              <a:srgbClr val="34536A"/>
            </a:solidFill>
            <a:prstDash val="solid"/>
          </a:ln>
        </p:spPr>
      </p:sp>
      <p:sp>
        <p:nvSpPr>
          <p:cNvPr id="21" name="Text 19"/>
          <p:cNvSpPr txBox="1"/>
          <p:nvPr/>
        </p:nvSpPr>
        <p:spPr>
          <a:xfrm>
            <a:off x="932688" y="2423160"/>
            <a:ext cx="310896" cy="201168"/>
          </a:xfrm>
          <a:prstGeom prst="rect">
            <a:avLst/>
          </a:prstGeom>
          <a:noFill/>
          <a:ln/>
        </p:spPr>
        <p:txBody>
          <a:bodyPr wrap="square" lIns="0" tIns="0" rIns="0" bIns="0" rtlCol="0" anchor="ctr">
            <a:normAutofit/>
          </a:bodyPr>
          <a:lstStyle/>
          <a:p>
            <a:pPr algn="l" indent="0" marL="0">
              <a:buNone/>
            </a:pPr>
            <a:r>
              <a:rPr lang="en-US" sz="920" b="1" dirty="0">
                <a:solidFill>
                  <a:srgbClr val="7DD0C5"/>
                </a:solidFill>
                <a:latin typeface="Inter" pitchFamily="34" charset="0"/>
                <a:ea typeface="Inter" pitchFamily="34" charset="-122"/>
                <a:cs typeface="Inter" pitchFamily="34" charset="-120"/>
              </a:rPr>
              <a:t>01</a:t>
            </a:r>
            <a:endParaRPr lang="en-US" sz="920" dirty="0"/>
          </a:p>
        </p:txBody>
      </p:sp>
      <p:sp>
        <p:nvSpPr>
          <p:cNvPr id="22" name="Text 20"/>
          <p:cNvSpPr txBox="1"/>
          <p:nvPr/>
        </p:nvSpPr>
        <p:spPr>
          <a:xfrm>
            <a:off x="1371600" y="2350008"/>
            <a:ext cx="4096512" cy="246888"/>
          </a:xfrm>
          <a:prstGeom prst="rect">
            <a:avLst/>
          </a:prstGeom>
          <a:noFill/>
          <a:ln/>
        </p:spPr>
        <p:txBody>
          <a:bodyPr wrap="square" lIns="0" tIns="0" rIns="0" bIns="0" rtlCol="0" anchor="ctr">
            <a:normAutofit/>
          </a:bodyPr>
          <a:lstStyle/>
          <a:p>
            <a:pPr algn="l" indent="0" marL="0">
              <a:buNone/>
            </a:pPr>
            <a:r>
              <a:rPr lang="en-US" sz="1340" b="1" dirty="0">
                <a:solidFill>
                  <a:srgbClr val="FFFFFF"/>
                </a:solidFill>
                <a:latin typeface="Inter" pitchFamily="34" charset="0"/>
                <a:ea typeface="Inter" pitchFamily="34" charset="-122"/>
                <a:cs typeface="Inter" pitchFamily="34" charset="-120"/>
              </a:rPr>
              <a:t>GUI version</a:t>
            </a:r>
            <a:endParaRPr lang="en-US" sz="1340" dirty="0"/>
          </a:p>
        </p:txBody>
      </p:sp>
      <p:sp>
        <p:nvSpPr>
          <p:cNvPr id="23" name="Text 21"/>
          <p:cNvSpPr txBox="1"/>
          <p:nvPr/>
        </p:nvSpPr>
        <p:spPr>
          <a:xfrm>
            <a:off x="1371600" y="2670048"/>
            <a:ext cx="4096512" cy="201168"/>
          </a:xfrm>
          <a:prstGeom prst="rect">
            <a:avLst/>
          </a:prstGeom>
          <a:noFill/>
          <a:ln/>
        </p:spPr>
        <p:txBody>
          <a:bodyPr wrap="square" lIns="0" tIns="0" rIns="0" bIns="0" rtlCol="0" anchor="ctr">
            <a:normAutofit/>
          </a:bodyPr>
          <a:lstStyle/>
          <a:p>
            <a:pPr algn="l" indent="0" marL="0">
              <a:buNone/>
            </a:pPr>
            <a:r>
              <a:rPr lang="en-US" sz="950" dirty="0">
                <a:solidFill>
                  <a:srgbClr val="B7C9D5"/>
                </a:solidFill>
                <a:latin typeface="Inter" pitchFamily="34" charset="0"/>
                <a:ea typeface="Inter" pitchFamily="34" charset="-122"/>
                <a:cs typeface="Inter" pitchFamily="34" charset="-120"/>
              </a:rPr>
              <a:t>Reuse LibraryService; replace console interaction.</a:t>
            </a:r>
            <a:endParaRPr lang="en-US" sz="950" dirty="0"/>
          </a:p>
        </p:txBody>
      </p:sp>
      <p:sp>
        <p:nvSpPr>
          <p:cNvPr id="24" name="Shape 22"/>
          <p:cNvSpPr/>
          <p:nvPr/>
        </p:nvSpPr>
        <p:spPr>
          <a:xfrm>
            <a:off x="5907024" y="2240280"/>
            <a:ext cx="5303520" cy="777240"/>
          </a:xfrm>
          <a:prstGeom prst="roundRect">
            <a:avLst>
              <a:gd name="adj" fmla="val 14118"/>
            </a:avLst>
          </a:prstGeom>
          <a:solidFill>
            <a:srgbClr val="1A354C"/>
          </a:solidFill>
          <a:ln w="11430">
            <a:solidFill>
              <a:srgbClr val="34536A"/>
            </a:solidFill>
            <a:prstDash val="solid"/>
          </a:ln>
        </p:spPr>
      </p:sp>
      <p:sp>
        <p:nvSpPr>
          <p:cNvPr id="25" name="Text 23"/>
          <p:cNvSpPr txBox="1"/>
          <p:nvPr/>
        </p:nvSpPr>
        <p:spPr>
          <a:xfrm>
            <a:off x="6089904" y="2423160"/>
            <a:ext cx="310896" cy="201168"/>
          </a:xfrm>
          <a:prstGeom prst="rect">
            <a:avLst/>
          </a:prstGeom>
          <a:noFill/>
          <a:ln/>
        </p:spPr>
        <p:txBody>
          <a:bodyPr wrap="square" lIns="0" tIns="0" rIns="0" bIns="0" rtlCol="0" anchor="ctr">
            <a:normAutofit/>
          </a:bodyPr>
          <a:lstStyle/>
          <a:p>
            <a:pPr algn="l" indent="0" marL="0">
              <a:buNone/>
            </a:pPr>
            <a:r>
              <a:rPr lang="en-US" sz="920" b="1" dirty="0">
                <a:solidFill>
                  <a:srgbClr val="7DD0C5"/>
                </a:solidFill>
                <a:latin typeface="Inter" pitchFamily="34" charset="0"/>
                <a:ea typeface="Inter" pitchFamily="34" charset="-122"/>
                <a:cs typeface="Inter" pitchFamily="34" charset="-120"/>
              </a:rPr>
              <a:t>02</a:t>
            </a:r>
            <a:endParaRPr lang="en-US" sz="920" dirty="0"/>
          </a:p>
        </p:txBody>
      </p:sp>
      <p:sp>
        <p:nvSpPr>
          <p:cNvPr id="26" name="Text 24"/>
          <p:cNvSpPr txBox="1"/>
          <p:nvPr/>
        </p:nvSpPr>
        <p:spPr>
          <a:xfrm>
            <a:off x="6528816" y="2350008"/>
            <a:ext cx="4480560" cy="246888"/>
          </a:xfrm>
          <a:prstGeom prst="rect">
            <a:avLst/>
          </a:prstGeom>
          <a:noFill/>
          <a:ln/>
        </p:spPr>
        <p:txBody>
          <a:bodyPr wrap="square" lIns="0" tIns="0" rIns="0" bIns="0" rtlCol="0" anchor="ctr">
            <a:normAutofit/>
          </a:bodyPr>
          <a:lstStyle/>
          <a:p>
            <a:pPr algn="l" indent="0" marL="0">
              <a:buNone/>
            </a:pPr>
            <a:r>
              <a:rPr lang="en-US" sz="1340" b="1" dirty="0">
                <a:solidFill>
                  <a:srgbClr val="FFFFFF"/>
                </a:solidFill>
                <a:latin typeface="Inter" pitchFamily="34" charset="0"/>
                <a:ea typeface="Inter" pitchFamily="34" charset="-122"/>
                <a:cs typeface="Inter" pitchFamily="34" charset="-120"/>
              </a:rPr>
              <a:t>Advanced search &amp; reporting</a:t>
            </a:r>
            <a:endParaRPr lang="en-US" sz="1340" dirty="0"/>
          </a:p>
        </p:txBody>
      </p:sp>
      <p:sp>
        <p:nvSpPr>
          <p:cNvPr id="27" name="Text 25"/>
          <p:cNvSpPr txBox="1"/>
          <p:nvPr/>
        </p:nvSpPr>
        <p:spPr>
          <a:xfrm>
            <a:off x="6528816" y="2670048"/>
            <a:ext cx="4480560" cy="201168"/>
          </a:xfrm>
          <a:prstGeom prst="rect">
            <a:avLst/>
          </a:prstGeom>
          <a:noFill/>
          <a:ln/>
        </p:spPr>
        <p:txBody>
          <a:bodyPr wrap="square" lIns="0" tIns="0" rIns="0" bIns="0" rtlCol="0" anchor="ctr">
            <a:normAutofit/>
          </a:bodyPr>
          <a:lstStyle/>
          <a:p>
            <a:pPr algn="l" indent="0" marL="0">
              <a:buNone/>
            </a:pPr>
            <a:r>
              <a:rPr lang="en-US" sz="950" dirty="0">
                <a:solidFill>
                  <a:srgbClr val="B7C9D5"/>
                </a:solidFill>
                <a:latin typeface="Inter" pitchFamily="34" charset="0"/>
                <a:ea typeface="Inter" pitchFamily="34" charset="-122"/>
                <a:cs typeface="Inter" pitchFamily="34" charset="-120"/>
              </a:rPr>
              <a:t>Filters, borrowing trends, exportable summaries.</a:t>
            </a:r>
            <a:endParaRPr lang="en-US" sz="950" dirty="0"/>
          </a:p>
        </p:txBody>
      </p:sp>
      <p:sp>
        <p:nvSpPr>
          <p:cNvPr id="28" name="Shape 26"/>
          <p:cNvSpPr/>
          <p:nvPr/>
        </p:nvSpPr>
        <p:spPr>
          <a:xfrm>
            <a:off x="749808" y="3236976"/>
            <a:ext cx="4919472" cy="777240"/>
          </a:xfrm>
          <a:prstGeom prst="roundRect">
            <a:avLst>
              <a:gd name="adj" fmla="val 14118"/>
            </a:avLst>
          </a:prstGeom>
          <a:solidFill>
            <a:srgbClr val="1A354C"/>
          </a:solidFill>
          <a:ln w="11430">
            <a:solidFill>
              <a:srgbClr val="34536A"/>
            </a:solidFill>
            <a:prstDash val="solid"/>
          </a:ln>
        </p:spPr>
      </p:sp>
      <p:sp>
        <p:nvSpPr>
          <p:cNvPr id="29" name="Text 27"/>
          <p:cNvSpPr txBox="1"/>
          <p:nvPr/>
        </p:nvSpPr>
        <p:spPr>
          <a:xfrm>
            <a:off x="932688" y="3419856"/>
            <a:ext cx="310896" cy="201168"/>
          </a:xfrm>
          <a:prstGeom prst="rect">
            <a:avLst/>
          </a:prstGeom>
          <a:noFill/>
          <a:ln/>
        </p:spPr>
        <p:txBody>
          <a:bodyPr wrap="square" lIns="0" tIns="0" rIns="0" bIns="0" rtlCol="0" anchor="ctr">
            <a:normAutofit/>
          </a:bodyPr>
          <a:lstStyle/>
          <a:p>
            <a:pPr algn="l" indent="0" marL="0">
              <a:buNone/>
            </a:pPr>
            <a:r>
              <a:rPr lang="en-US" sz="920" b="1" dirty="0">
                <a:solidFill>
                  <a:srgbClr val="7DD0C5"/>
                </a:solidFill>
                <a:latin typeface="Inter" pitchFamily="34" charset="0"/>
                <a:ea typeface="Inter" pitchFamily="34" charset="-122"/>
                <a:cs typeface="Inter" pitchFamily="34" charset="-120"/>
              </a:rPr>
              <a:t>03</a:t>
            </a:r>
            <a:endParaRPr lang="en-US" sz="920" dirty="0"/>
          </a:p>
        </p:txBody>
      </p:sp>
      <p:sp>
        <p:nvSpPr>
          <p:cNvPr id="30" name="Text 28"/>
          <p:cNvSpPr txBox="1"/>
          <p:nvPr/>
        </p:nvSpPr>
        <p:spPr>
          <a:xfrm>
            <a:off x="1371600" y="3346704"/>
            <a:ext cx="4096512" cy="246888"/>
          </a:xfrm>
          <a:prstGeom prst="rect">
            <a:avLst/>
          </a:prstGeom>
          <a:noFill/>
          <a:ln/>
        </p:spPr>
        <p:txBody>
          <a:bodyPr wrap="square" lIns="0" tIns="0" rIns="0" bIns="0" rtlCol="0" anchor="ctr">
            <a:normAutofit/>
          </a:bodyPr>
          <a:lstStyle/>
          <a:p>
            <a:pPr algn="l" indent="0" marL="0">
              <a:buNone/>
            </a:pPr>
            <a:r>
              <a:rPr lang="en-US" sz="1340" b="1" dirty="0">
                <a:solidFill>
                  <a:srgbClr val="FFFFFF"/>
                </a:solidFill>
                <a:latin typeface="Inter" pitchFamily="34" charset="0"/>
                <a:ea typeface="Inter" pitchFamily="34" charset="-122"/>
                <a:cs typeface="Inter" pitchFamily="34" charset="-120"/>
              </a:rPr>
              <a:t>Authentication &amp; permissions</a:t>
            </a:r>
            <a:endParaRPr lang="en-US" sz="1340" dirty="0"/>
          </a:p>
        </p:txBody>
      </p:sp>
      <p:sp>
        <p:nvSpPr>
          <p:cNvPr id="31" name="Text 29"/>
          <p:cNvSpPr txBox="1"/>
          <p:nvPr/>
        </p:nvSpPr>
        <p:spPr>
          <a:xfrm>
            <a:off x="1371600" y="3666744"/>
            <a:ext cx="4096512" cy="201168"/>
          </a:xfrm>
          <a:prstGeom prst="rect">
            <a:avLst/>
          </a:prstGeom>
          <a:noFill/>
          <a:ln/>
        </p:spPr>
        <p:txBody>
          <a:bodyPr wrap="square" lIns="0" tIns="0" rIns="0" bIns="0" rtlCol="0" anchor="ctr">
            <a:normAutofit/>
          </a:bodyPr>
          <a:lstStyle/>
          <a:p>
            <a:pPr algn="l" indent="0" marL="0">
              <a:buNone/>
            </a:pPr>
            <a:r>
              <a:rPr lang="en-US" sz="950" dirty="0">
                <a:solidFill>
                  <a:srgbClr val="B7C9D5"/>
                </a:solidFill>
                <a:latin typeface="Inter" pitchFamily="34" charset="0"/>
                <a:ea typeface="Inter" pitchFamily="34" charset="-122"/>
                <a:cs typeface="Inter" pitchFamily="34" charset="-120"/>
              </a:rPr>
              <a:t>Separate librarian and member capabilities.</a:t>
            </a:r>
            <a:endParaRPr lang="en-US" sz="950" dirty="0"/>
          </a:p>
        </p:txBody>
      </p:sp>
      <p:sp>
        <p:nvSpPr>
          <p:cNvPr id="32" name="Shape 30"/>
          <p:cNvSpPr/>
          <p:nvPr/>
        </p:nvSpPr>
        <p:spPr>
          <a:xfrm>
            <a:off x="5907024" y="3236976"/>
            <a:ext cx="5303520" cy="777240"/>
          </a:xfrm>
          <a:prstGeom prst="roundRect">
            <a:avLst>
              <a:gd name="adj" fmla="val 14118"/>
            </a:avLst>
          </a:prstGeom>
          <a:solidFill>
            <a:srgbClr val="1A354C"/>
          </a:solidFill>
          <a:ln w="11430">
            <a:solidFill>
              <a:srgbClr val="34536A"/>
            </a:solidFill>
            <a:prstDash val="solid"/>
          </a:ln>
        </p:spPr>
      </p:sp>
      <p:sp>
        <p:nvSpPr>
          <p:cNvPr id="33" name="Text 31"/>
          <p:cNvSpPr txBox="1"/>
          <p:nvPr/>
        </p:nvSpPr>
        <p:spPr>
          <a:xfrm>
            <a:off x="6089904" y="3419856"/>
            <a:ext cx="310896" cy="201168"/>
          </a:xfrm>
          <a:prstGeom prst="rect">
            <a:avLst/>
          </a:prstGeom>
          <a:noFill/>
          <a:ln/>
        </p:spPr>
        <p:txBody>
          <a:bodyPr wrap="square" lIns="0" tIns="0" rIns="0" bIns="0" rtlCol="0" anchor="ctr">
            <a:normAutofit/>
          </a:bodyPr>
          <a:lstStyle/>
          <a:p>
            <a:pPr algn="l" indent="0" marL="0">
              <a:buNone/>
            </a:pPr>
            <a:r>
              <a:rPr lang="en-US" sz="920" b="1" dirty="0">
                <a:solidFill>
                  <a:srgbClr val="7DD0C5"/>
                </a:solidFill>
                <a:latin typeface="Inter" pitchFamily="34" charset="0"/>
                <a:ea typeface="Inter" pitchFamily="34" charset="-122"/>
                <a:cs typeface="Inter" pitchFamily="34" charset="-120"/>
              </a:rPr>
              <a:t>04</a:t>
            </a:r>
            <a:endParaRPr lang="en-US" sz="920" dirty="0"/>
          </a:p>
        </p:txBody>
      </p:sp>
      <p:sp>
        <p:nvSpPr>
          <p:cNvPr id="34" name="Text 32"/>
          <p:cNvSpPr txBox="1"/>
          <p:nvPr/>
        </p:nvSpPr>
        <p:spPr>
          <a:xfrm>
            <a:off x="6528816" y="3346704"/>
            <a:ext cx="4480560" cy="246888"/>
          </a:xfrm>
          <a:prstGeom prst="rect">
            <a:avLst/>
          </a:prstGeom>
          <a:noFill/>
          <a:ln/>
        </p:spPr>
        <p:txBody>
          <a:bodyPr wrap="square" lIns="0" tIns="0" rIns="0" bIns="0" rtlCol="0" anchor="ctr">
            <a:normAutofit/>
          </a:bodyPr>
          <a:lstStyle/>
          <a:p>
            <a:pPr algn="l" indent="0" marL="0">
              <a:buNone/>
            </a:pPr>
            <a:r>
              <a:rPr lang="en-US" sz="1340" b="1" dirty="0">
                <a:solidFill>
                  <a:srgbClr val="FFFFFF"/>
                </a:solidFill>
                <a:latin typeface="Inter" pitchFamily="34" charset="0"/>
                <a:ea typeface="Inter" pitchFamily="34" charset="-122"/>
                <a:cs typeface="Inter" pitchFamily="34" charset="-120"/>
              </a:rPr>
              <a:t>Richer circulation rules</a:t>
            </a:r>
            <a:endParaRPr lang="en-US" sz="1340" dirty="0"/>
          </a:p>
        </p:txBody>
      </p:sp>
      <p:sp>
        <p:nvSpPr>
          <p:cNvPr id="35" name="Text 33"/>
          <p:cNvSpPr txBox="1"/>
          <p:nvPr/>
        </p:nvSpPr>
        <p:spPr>
          <a:xfrm>
            <a:off x="6528816" y="3666744"/>
            <a:ext cx="4480560" cy="201168"/>
          </a:xfrm>
          <a:prstGeom prst="rect">
            <a:avLst/>
          </a:prstGeom>
          <a:noFill/>
          <a:ln/>
        </p:spPr>
        <p:txBody>
          <a:bodyPr wrap="square" lIns="0" tIns="0" rIns="0" bIns="0" rtlCol="0" anchor="ctr">
            <a:normAutofit/>
          </a:bodyPr>
          <a:lstStyle/>
          <a:p>
            <a:pPr algn="l" indent="0" marL="0">
              <a:buNone/>
            </a:pPr>
            <a:r>
              <a:rPr lang="en-US" sz="950" dirty="0">
                <a:solidFill>
                  <a:srgbClr val="B7C9D5"/>
                </a:solidFill>
                <a:latin typeface="Inter" pitchFamily="34" charset="0"/>
                <a:ea typeface="Inter" pitchFamily="34" charset="-122"/>
                <a:cs typeface="Inter" pitchFamily="34" charset="-120"/>
              </a:rPr>
              <a:t>Due dates, renewals, overdue tracking and fines.</a:t>
            </a:r>
            <a:endParaRPr lang="en-US" sz="950" dirty="0"/>
          </a:p>
        </p:txBody>
      </p:sp>
      <p:sp>
        <p:nvSpPr>
          <p:cNvPr id="36" name="Shape 34"/>
          <p:cNvSpPr/>
          <p:nvPr/>
        </p:nvSpPr>
        <p:spPr>
          <a:xfrm>
            <a:off x="749808" y="4233672"/>
            <a:ext cx="4919472" cy="777240"/>
          </a:xfrm>
          <a:prstGeom prst="roundRect">
            <a:avLst>
              <a:gd name="adj" fmla="val 14118"/>
            </a:avLst>
          </a:prstGeom>
          <a:solidFill>
            <a:srgbClr val="1A354C"/>
          </a:solidFill>
          <a:ln w="11430">
            <a:solidFill>
              <a:srgbClr val="34536A"/>
            </a:solidFill>
            <a:prstDash val="solid"/>
          </a:ln>
        </p:spPr>
      </p:sp>
      <p:sp>
        <p:nvSpPr>
          <p:cNvPr id="37" name="Text 35"/>
          <p:cNvSpPr txBox="1"/>
          <p:nvPr/>
        </p:nvSpPr>
        <p:spPr>
          <a:xfrm>
            <a:off x="932688" y="4416552"/>
            <a:ext cx="310896" cy="201168"/>
          </a:xfrm>
          <a:prstGeom prst="rect">
            <a:avLst/>
          </a:prstGeom>
          <a:noFill/>
          <a:ln/>
        </p:spPr>
        <p:txBody>
          <a:bodyPr wrap="square" lIns="0" tIns="0" rIns="0" bIns="0" rtlCol="0" anchor="ctr">
            <a:normAutofit/>
          </a:bodyPr>
          <a:lstStyle/>
          <a:p>
            <a:pPr algn="l" indent="0" marL="0">
              <a:buNone/>
            </a:pPr>
            <a:r>
              <a:rPr lang="en-US" sz="920" b="1" dirty="0">
                <a:solidFill>
                  <a:srgbClr val="7DD0C5"/>
                </a:solidFill>
                <a:latin typeface="Inter" pitchFamily="34" charset="0"/>
                <a:ea typeface="Inter" pitchFamily="34" charset="-122"/>
                <a:cs typeface="Inter" pitchFamily="34" charset="-120"/>
              </a:rPr>
              <a:t>05</a:t>
            </a:r>
            <a:endParaRPr lang="en-US" sz="920" dirty="0"/>
          </a:p>
        </p:txBody>
      </p:sp>
      <p:sp>
        <p:nvSpPr>
          <p:cNvPr id="38" name="Text 36"/>
          <p:cNvSpPr txBox="1"/>
          <p:nvPr/>
        </p:nvSpPr>
        <p:spPr>
          <a:xfrm>
            <a:off x="1371600" y="4343400"/>
            <a:ext cx="4096512" cy="246888"/>
          </a:xfrm>
          <a:prstGeom prst="rect">
            <a:avLst/>
          </a:prstGeom>
          <a:noFill/>
          <a:ln/>
        </p:spPr>
        <p:txBody>
          <a:bodyPr wrap="square" lIns="0" tIns="0" rIns="0" bIns="0" rtlCol="0" anchor="ctr">
            <a:normAutofit/>
          </a:bodyPr>
          <a:lstStyle/>
          <a:p>
            <a:pPr algn="l" indent="0" marL="0">
              <a:buNone/>
            </a:pPr>
            <a:r>
              <a:rPr lang="en-US" sz="1340" b="1" dirty="0">
                <a:solidFill>
                  <a:srgbClr val="FFFFFF"/>
                </a:solidFill>
                <a:latin typeface="Inter" pitchFamily="34" charset="0"/>
                <a:ea typeface="Inter" pitchFamily="34" charset="-122"/>
                <a:cs typeface="Inter" pitchFamily="34" charset="-120"/>
              </a:rPr>
              <a:t>Database evolution</a:t>
            </a:r>
            <a:endParaRPr lang="en-US" sz="1340" dirty="0"/>
          </a:p>
        </p:txBody>
      </p:sp>
      <p:sp>
        <p:nvSpPr>
          <p:cNvPr id="39" name="Text 37"/>
          <p:cNvSpPr txBox="1"/>
          <p:nvPr/>
        </p:nvSpPr>
        <p:spPr>
          <a:xfrm>
            <a:off x="1371600" y="4663440"/>
            <a:ext cx="4096512" cy="201168"/>
          </a:xfrm>
          <a:prstGeom prst="rect">
            <a:avLst/>
          </a:prstGeom>
          <a:noFill/>
          <a:ln/>
        </p:spPr>
        <p:txBody>
          <a:bodyPr wrap="square" lIns="0" tIns="0" rIns="0" bIns="0" rtlCol="0" anchor="ctr">
            <a:normAutofit/>
          </a:bodyPr>
          <a:lstStyle/>
          <a:p>
            <a:pPr algn="l" indent="0" marL="0">
              <a:buNone/>
            </a:pPr>
            <a:r>
              <a:rPr lang="en-US" sz="950" dirty="0">
                <a:solidFill>
                  <a:srgbClr val="B7C9D5"/>
                </a:solidFill>
                <a:latin typeface="Inter" pitchFamily="34" charset="0"/>
                <a:ea typeface="Inter" pitchFamily="34" charset="-122"/>
                <a:cs typeface="Inter" pitchFamily="34" charset="-120"/>
              </a:rPr>
              <a:t>Schema migrations, backup and recovery workflow.</a:t>
            </a:r>
            <a:endParaRPr lang="en-US" sz="950" dirty="0"/>
          </a:p>
        </p:txBody>
      </p:sp>
      <p:sp>
        <p:nvSpPr>
          <p:cNvPr id="40" name="Shape 38"/>
          <p:cNvSpPr/>
          <p:nvPr/>
        </p:nvSpPr>
        <p:spPr>
          <a:xfrm>
            <a:off x="5907024" y="4233672"/>
            <a:ext cx="5303520" cy="777240"/>
          </a:xfrm>
          <a:prstGeom prst="roundRect">
            <a:avLst>
              <a:gd name="adj" fmla="val 14118"/>
            </a:avLst>
          </a:prstGeom>
          <a:solidFill>
            <a:srgbClr val="1A354C"/>
          </a:solidFill>
          <a:ln w="11430">
            <a:solidFill>
              <a:srgbClr val="34536A"/>
            </a:solidFill>
            <a:prstDash val="solid"/>
          </a:ln>
        </p:spPr>
      </p:sp>
      <p:sp>
        <p:nvSpPr>
          <p:cNvPr id="41" name="Text 39"/>
          <p:cNvSpPr txBox="1"/>
          <p:nvPr/>
        </p:nvSpPr>
        <p:spPr>
          <a:xfrm>
            <a:off x="6089904" y="4416552"/>
            <a:ext cx="310896" cy="201168"/>
          </a:xfrm>
          <a:prstGeom prst="rect">
            <a:avLst/>
          </a:prstGeom>
          <a:noFill/>
          <a:ln/>
        </p:spPr>
        <p:txBody>
          <a:bodyPr wrap="square" lIns="0" tIns="0" rIns="0" bIns="0" rtlCol="0" anchor="ctr">
            <a:normAutofit/>
          </a:bodyPr>
          <a:lstStyle/>
          <a:p>
            <a:pPr algn="l" indent="0" marL="0">
              <a:buNone/>
            </a:pPr>
            <a:r>
              <a:rPr lang="en-US" sz="920" b="1" dirty="0">
                <a:solidFill>
                  <a:srgbClr val="7DD0C5"/>
                </a:solidFill>
                <a:latin typeface="Inter" pitchFamily="34" charset="0"/>
                <a:ea typeface="Inter" pitchFamily="34" charset="-122"/>
                <a:cs typeface="Inter" pitchFamily="34" charset="-120"/>
              </a:rPr>
              <a:t>06</a:t>
            </a:r>
            <a:endParaRPr lang="en-US" sz="920" dirty="0"/>
          </a:p>
        </p:txBody>
      </p:sp>
      <p:sp>
        <p:nvSpPr>
          <p:cNvPr id="42" name="Text 40"/>
          <p:cNvSpPr txBox="1"/>
          <p:nvPr/>
        </p:nvSpPr>
        <p:spPr>
          <a:xfrm>
            <a:off x="6528816" y="4343400"/>
            <a:ext cx="4480560" cy="246888"/>
          </a:xfrm>
          <a:prstGeom prst="rect">
            <a:avLst/>
          </a:prstGeom>
          <a:noFill/>
          <a:ln/>
        </p:spPr>
        <p:txBody>
          <a:bodyPr wrap="square" lIns="0" tIns="0" rIns="0" bIns="0" rtlCol="0" anchor="ctr">
            <a:normAutofit/>
          </a:bodyPr>
          <a:lstStyle/>
          <a:p>
            <a:pPr algn="l" indent="0" marL="0">
              <a:buNone/>
            </a:pPr>
            <a:r>
              <a:rPr lang="en-US" sz="1340" b="1" dirty="0">
                <a:solidFill>
                  <a:srgbClr val="FFFFFF"/>
                </a:solidFill>
                <a:latin typeface="Inter" pitchFamily="34" charset="0"/>
                <a:ea typeface="Inter" pitchFamily="34" charset="-122"/>
                <a:cs typeface="Inter" pitchFamily="34" charset="-120"/>
              </a:rPr>
              <a:t>Multi-user robustness</a:t>
            </a:r>
            <a:endParaRPr lang="en-US" sz="1340" dirty="0"/>
          </a:p>
        </p:txBody>
      </p:sp>
      <p:sp>
        <p:nvSpPr>
          <p:cNvPr id="43" name="Text 41"/>
          <p:cNvSpPr txBox="1"/>
          <p:nvPr/>
        </p:nvSpPr>
        <p:spPr>
          <a:xfrm>
            <a:off x="6528816" y="4663440"/>
            <a:ext cx="4480560" cy="201168"/>
          </a:xfrm>
          <a:prstGeom prst="rect">
            <a:avLst/>
          </a:prstGeom>
          <a:noFill/>
          <a:ln/>
        </p:spPr>
        <p:txBody>
          <a:bodyPr wrap="square" lIns="0" tIns="0" rIns="0" bIns="0" rtlCol="0" anchor="ctr">
            <a:normAutofit/>
          </a:bodyPr>
          <a:lstStyle/>
          <a:p>
            <a:pPr algn="l" indent="0" marL="0">
              <a:buNone/>
            </a:pPr>
            <a:r>
              <a:rPr lang="en-US" sz="950" dirty="0">
                <a:solidFill>
                  <a:srgbClr val="B7C9D5"/>
                </a:solidFill>
                <a:latin typeface="Inter" pitchFamily="34" charset="0"/>
                <a:ea typeface="Inter" pitchFamily="34" charset="-122"/>
                <a:cs typeface="Inter" pitchFamily="34" charset="-120"/>
              </a:rPr>
              <a:t>Concurrency strategy and cross-instance state refresh.</a:t>
            </a:r>
            <a:endParaRPr lang="en-US" sz="950" dirty="0"/>
          </a:p>
        </p:txBody>
      </p:sp>
      <p:sp>
        <p:nvSpPr>
          <p:cNvPr id="44" name="Shape 42"/>
          <p:cNvSpPr/>
          <p:nvPr/>
        </p:nvSpPr>
        <p:spPr>
          <a:xfrm>
            <a:off x="749808" y="5431536"/>
            <a:ext cx="10460736" cy="0"/>
          </a:xfrm>
          <a:prstGeom prst="line">
            <a:avLst/>
          </a:prstGeom>
          <a:noFill/>
          <a:ln w="11430">
            <a:solidFill>
              <a:srgbClr val="456175"/>
            </a:solidFill>
            <a:prstDash val="solid"/>
          </a:ln>
        </p:spPr>
      </p:sp>
      <p:sp>
        <p:nvSpPr>
          <p:cNvPr id="45" name="Text 43"/>
          <p:cNvSpPr txBox="1"/>
          <p:nvPr/>
        </p:nvSpPr>
        <p:spPr>
          <a:xfrm>
            <a:off x="768096" y="5742432"/>
            <a:ext cx="3657600" cy="420624"/>
          </a:xfrm>
          <a:prstGeom prst="rect">
            <a:avLst/>
          </a:prstGeom>
          <a:noFill/>
          <a:ln/>
        </p:spPr>
        <p:txBody>
          <a:bodyPr wrap="square" lIns="0" tIns="0" rIns="0" bIns="0" rtlCol="0" anchor="ctr">
            <a:normAutofit/>
          </a:bodyPr>
          <a:lstStyle/>
          <a:p>
            <a:pPr algn="l" indent="0" marL="0">
              <a:buNone/>
            </a:pPr>
            <a:r>
              <a:rPr lang="en-US" sz="2200" b="1" dirty="0">
                <a:solidFill>
                  <a:srgbClr val="FFFFFF"/>
                </a:solidFill>
                <a:latin typeface="Inter" pitchFamily="34" charset="0"/>
                <a:ea typeface="Inter" pitchFamily="34" charset="-122"/>
                <a:cs typeface="Inter" pitchFamily="34" charset="-120"/>
              </a:rPr>
              <a:t>Questions &amp; discussion</a:t>
            </a:r>
            <a:endParaRPr lang="en-US" sz="2200" dirty="0"/>
          </a:p>
        </p:txBody>
      </p:sp>
      <p:sp>
        <p:nvSpPr>
          <p:cNvPr id="46" name="Text 44"/>
          <p:cNvSpPr txBox="1"/>
          <p:nvPr/>
        </p:nvSpPr>
        <p:spPr>
          <a:xfrm>
            <a:off x="786384" y="6254496"/>
            <a:ext cx="5029200" cy="201168"/>
          </a:xfrm>
          <a:prstGeom prst="rect">
            <a:avLst/>
          </a:prstGeom>
          <a:noFill/>
          <a:ln/>
        </p:spPr>
        <p:txBody>
          <a:bodyPr wrap="square" lIns="0" tIns="0" rIns="0" bIns="0" rtlCol="0" anchor="ctr">
            <a:normAutofit/>
          </a:bodyPr>
          <a:lstStyle/>
          <a:p>
            <a:pPr algn="l" indent="0" marL="0">
              <a:buNone/>
            </a:pPr>
            <a:r>
              <a:rPr lang="en-US" sz="920" dirty="0">
                <a:solidFill>
                  <a:srgbClr val="9BB1C0"/>
                </a:solidFill>
                <a:latin typeface="Inter" pitchFamily="34" charset="0"/>
                <a:ea typeface="Inter" pitchFamily="34" charset="-122"/>
                <a:cs typeface="Inter" pitchFamily="34" charset="-120"/>
              </a:rPr>
              <a:t>Mazen Elsayed  ·  Library Management System</a:t>
            </a:r>
            <a:endParaRPr lang="en-US" sz="9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Zagazig National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Library Management System — Titans</dc:title>
  <dc:subject>University graduation project defense</dc:subject>
  <dc:creator>Mazen Elsayed</dc:creator>
  <cp:lastModifiedBy>Mazen Elsayed</cp:lastModifiedBy>
  <cp:revision>1</cp:revision>
  <dcterms:created xsi:type="dcterms:W3CDTF">2026-10-16T06:03:07Z</dcterms:created>
  <dcterms:modified xsi:type="dcterms:W3CDTF">2026-10-16T06:03:07Z</dcterms:modified>
</cp:coreProperties>
</file>