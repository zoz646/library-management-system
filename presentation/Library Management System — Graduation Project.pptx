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sentence: a library system whose value is in its architecture, not just its features. The five blocks on the right are the layers I will walk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the real-world pain, then show that each problem maps to a design decision later in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1 to 4 are functional. Objective 5 is the engineering goal that shaped every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bottom. Stress that a layer only talks to the one below it, so the UI never touches SQLite.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 not need to read the table. Pick LibraryService as the center and explain how the others connect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 node reference stays valid when other nodes are inserted or removed. That is the main advantage over a plain array.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pattern: where it is, what problem it solved, and what would hurt without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the exact rules to match your code, such as the borrow limit and whether a borrowed book can be removed. Key point: invalid state cannot enter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 is the current backend. The key idea is the interface: services depend on the repository abstraction, not on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tour only. Demo these if you have time, otherwise move on to the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like a story: one request passing through every layer. Point at the layer name in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real numbers if you have them: how many tests, and what the stress test does. Exception safety is the answer to what happens when something fails halfway.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the two challenges you struggled with most and tell the story of how you found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with what you learned, then hand over to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item is easy to add because of the layered design. The GUI only replaces the UI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7112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63030"/>
            <a:ext cx="10566400" cy="4582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7112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63030"/>
            <a:ext cx="10566400" cy="4582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2627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GRADUATION PROJECT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878360"/>
            <a:ext cx="6540500" cy="2265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 Management System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4321721"/>
            <a:ext cx="65405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5C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architecture · custom container · SQLite persistence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16498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Mazen Elsayed — AI &amp; Data Science, Zagazig National University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74000" y="1206500"/>
            <a:ext cx="3505200" cy="622300"/>
          </a:xfrm>
          <a:prstGeom prst="roundRect">
            <a:avLst>
              <a:gd name="adj" fmla="val 14286"/>
            </a:avLst>
          </a:prstGeom>
          <a:solidFill>
            <a:srgbClr val="2A4A8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74000" y="2032000"/>
            <a:ext cx="3505200" cy="622300"/>
          </a:xfrm>
          <a:prstGeom prst="roundRect">
            <a:avLst>
              <a:gd name="adj" fmla="val 14286"/>
            </a:avLst>
          </a:prstGeom>
          <a:solidFill>
            <a:srgbClr val="315BA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74000" y="2857500"/>
            <a:ext cx="3505200" cy="622300"/>
          </a:xfrm>
          <a:prstGeom prst="roundRect">
            <a:avLst>
              <a:gd name="adj" fmla="val 14286"/>
            </a:avLst>
          </a:prstGeom>
          <a:solidFill>
            <a:srgbClr val="3B6CC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74000" y="3683000"/>
            <a:ext cx="3505200" cy="622300"/>
          </a:xfrm>
          <a:prstGeom prst="roundRect">
            <a:avLst>
              <a:gd name="adj" fmla="val 14286"/>
            </a:avLst>
          </a:prstGeom>
          <a:solidFill>
            <a:srgbClr val="4B7FD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· Container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74000" y="4508500"/>
            <a:ext cx="3505200" cy="622300"/>
          </a:xfrm>
          <a:prstGeom prst="roundRect">
            <a:avLst>
              <a:gd name="adj" fmla="val 14286"/>
            </a:avLst>
          </a:prstGeom>
          <a:solidFill>
            <a:srgbClr val="B4510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· SQLite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17688" y="-1204912"/>
            <a:ext cx="5232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15405"/>
            <a:ext cx="3380284" cy="2358380"/>
          </a:xfrm>
          <a:prstGeom prst="roundRect">
            <a:avLst>
              <a:gd name="adj" fmla="val 4173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621780"/>
            <a:ext cx="30565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is needed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6932" y="1967210"/>
            <a:ext cx="2964358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Libraries hold thousands of books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 and loans change daily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must always be accurate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09" y="1415405"/>
            <a:ext cx="3380333" cy="2358380"/>
          </a:xfrm>
          <a:prstGeom prst="roundRect">
            <a:avLst>
              <a:gd name="adj" fmla="val 4173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2184" y="1621780"/>
            <a:ext cx="30566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handling fails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96766" y="1967210"/>
            <a:ext cx="296440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or duplicated records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Slow, error-prone searching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Loans and returns go untracked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92" y="1415405"/>
            <a:ext cx="3380333" cy="2358380"/>
          </a:xfrm>
          <a:prstGeom prst="roundRect">
            <a:avLst>
              <a:gd name="adj" fmla="val 4173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2067" y="1621780"/>
            <a:ext cx="30566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system solves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86649" y="1967210"/>
            <a:ext cx="296440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consistent source of data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search and sort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Borrowing rules enforced in code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15405"/>
            <a:ext cx="1984970" cy="1840161"/>
          </a:xfrm>
          <a:prstGeom prst="roundRect">
            <a:avLst>
              <a:gd name="adj" fmla="val 5349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596380"/>
            <a:ext cx="167382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96950" y="2266900"/>
            <a:ext cx="167382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6950" y="2612330"/>
            <a:ext cx="18008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Books and members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9695" y="1415405"/>
            <a:ext cx="1985020" cy="1840161"/>
          </a:xfrm>
          <a:prstGeom prst="roundRect">
            <a:avLst>
              <a:gd name="adj" fmla="val 5349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0670" y="1596380"/>
            <a:ext cx="167387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140670" y="2266900"/>
            <a:ext cx="16738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40670" y="2612330"/>
            <a:ext cx="16738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 and return books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03465" y="1415405"/>
            <a:ext cx="1985020" cy="1840161"/>
          </a:xfrm>
          <a:prstGeom prst="roundRect">
            <a:avLst>
              <a:gd name="adj" fmla="val 5349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4440" y="1596380"/>
            <a:ext cx="167387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284440" y="2266900"/>
            <a:ext cx="16738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84440" y="2612330"/>
            <a:ext cx="16738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and sort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47235" y="1415405"/>
            <a:ext cx="1985020" cy="1840161"/>
          </a:xfrm>
          <a:prstGeom prst="roundRect">
            <a:avLst>
              <a:gd name="adj" fmla="val 5349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8210" y="1596380"/>
            <a:ext cx="167387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428210" y="2266900"/>
            <a:ext cx="16738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28210" y="2612330"/>
            <a:ext cx="16738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Organized, valid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91005" y="1415405"/>
            <a:ext cx="1985020" cy="1840161"/>
          </a:xfrm>
          <a:prstGeom prst="roundRect">
            <a:avLst>
              <a:gd name="adj" fmla="val 5349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1980" y="1596380"/>
            <a:ext cx="167387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571980" y="2266900"/>
            <a:ext cx="16738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71980" y="2612330"/>
            <a:ext cx="16738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changeable design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Overview &amp; Layered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15405"/>
            <a:ext cx="6343650" cy="527050"/>
          </a:xfrm>
          <a:prstGeom prst="roundRect">
            <a:avLst>
              <a:gd name="adj" fmla="val 13855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545580"/>
            <a:ext cx="1257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55850" y="1563340"/>
            <a:ext cx="45783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ConsoleApp, InputReader: user interaction only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5975" y="2025005"/>
            <a:ext cx="6343650" cy="527050"/>
          </a:xfrm>
          <a:prstGeom prst="roundRect">
            <a:avLst>
              <a:gd name="adj" fmla="val 13855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950" y="2155180"/>
            <a:ext cx="1257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55850" y="2172940"/>
            <a:ext cx="45783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LibraryService: business logic, facade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2634605"/>
            <a:ext cx="6343650" cy="527050"/>
          </a:xfrm>
          <a:prstGeom prst="roundRect">
            <a:avLst>
              <a:gd name="adj" fmla="val 13855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950" y="2764780"/>
            <a:ext cx="1257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55850" y="2782540"/>
            <a:ext cx="45783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Book, Member: entities and rules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3244205"/>
            <a:ext cx="6343650" cy="527050"/>
          </a:xfrm>
          <a:prstGeom prst="roundRect">
            <a:avLst>
              <a:gd name="adj" fmla="val 13855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950" y="3374380"/>
            <a:ext cx="1257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55850" y="3392140"/>
            <a:ext cx="45783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Container: custom doubly linked list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975" y="3853805"/>
            <a:ext cx="6343650" cy="527050"/>
          </a:xfrm>
          <a:prstGeom prst="roundRect">
            <a:avLst>
              <a:gd name="adj" fmla="val 13855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950" y="3983980"/>
            <a:ext cx="1257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355850" y="4001740"/>
            <a:ext cx="45783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Persistence and SQLite operations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69175" y="1415405"/>
            <a:ext cx="4006850" cy="1995190"/>
          </a:xfrm>
          <a:prstGeom prst="roundRect">
            <a:avLst>
              <a:gd name="adj" fmla="val 4933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5550" y="1621780"/>
            <a:ext cx="370192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separate concerns?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73594" y="1967210"/>
            <a:ext cx="359625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layer has one reason to change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the UI without touching logic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storage without touching services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every layer alone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6000" y="3566170"/>
            <a:ext cx="4013200" cy="817860"/>
          </a:xfrm>
          <a:prstGeom prst="roundRect">
            <a:avLst>
              <a:gd name="adj" fmla="val 12423"/>
            </a:avLst>
          </a:prstGeom>
          <a:solidFill>
            <a:srgbClr val="14213D"/>
          </a:solidFill>
          <a:ln/>
        </p:spPr>
        <p:txBody>
          <a:bodyPr wrap="square" lIns="148042" tIns="148042" rIns="38314" bIns="12264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flow:</a:t>
            </a:r>
            <a:r>
              <a:rPr lang="en-US" sz="13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UI → Service → Repository → SQLite, and results flow back up.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Components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24930"/>
          <a:ext cx="10553700" cy="4274641"/>
        </p:xfrm>
        <a:graphic>
          <a:graphicData uri="http://schemas.openxmlformats.org/drawingml/2006/table">
            <a:tbl>
              <a:tblPr/>
              <a:tblGrid>
                <a:gridCol w="3271647"/>
                <a:gridCol w="1371981"/>
                <a:gridCol w="5910072"/>
              </a:tblGrid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Component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Layer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Responsibility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ConsoleApp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Menus, user actions, output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InputReader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Reads and validates input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LibraryService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Facade for all use cases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Book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Domain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ISBN, title, author, availability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Member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Domain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Identity and borrowed books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SearchStrategy / SortStrategy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Pluggable search and sort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Container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doubly linked list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Repository classes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Storage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Persistence behind an interface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Data Structure: Doubly Linked Container</a:t>
            </a:r>
            <a:endParaRPr lang="en-US" sz="3200" dirty="0"/>
          </a:p>
        </p:txBody>
      </p:sp>
      <p:pic>
        <p:nvPicPr>
          <p:cNvPr id="3" name="Image 0" descr="Doubly linked list: four nodes joined by next and prev links, with head and tail markers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12800" y="1412230"/>
            <a:ext cx="10566400" cy="1206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5975" y="2875905"/>
            <a:ext cx="3380284" cy="1748780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2350" y="3082280"/>
            <a:ext cx="30565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custom?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20394" y="3427710"/>
            <a:ext cx="295089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control of ownership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the data structure is understood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Fits library operations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05809" y="2875905"/>
            <a:ext cx="3380333" cy="1748780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12184" y="3082280"/>
            <a:ext cx="30566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10228" y="3427710"/>
            <a:ext cx="2950947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node references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O(1) insert/remove at both ends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Iterator support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95692" y="2875905"/>
            <a:ext cx="3380333" cy="1748780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02067" y="3082280"/>
            <a:ext cx="30566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in the project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00111" y="3427710"/>
            <a:ext cx="2950947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Holds books and members in memory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reads it through iterators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loads and saves it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Patterns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15405"/>
            <a:ext cx="3380284" cy="182498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621780"/>
            <a:ext cx="30565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6932" y="1967210"/>
            <a:ext cx="296435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LibraryService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entry point for the UI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Hides domain and storage details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09" y="1415405"/>
            <a:ext cx="3380333" cy="182498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2184" y="1621780"/>
            <a:ext cx="30566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96766" y="1967210"/>
            <a:ext cx="296440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SearchStrategy, SortStrategy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algorithm at runtime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criteria = new class, no service change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92" y="1415405"/>
            <a:ext cx="3380333" cy="182498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2067" y="1621780"/>
            <a:ext cx="30566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86649" y="1967210"/>
            <a:ext cx="296440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classes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Hides SQLite behind an interface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or mock storage freely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15405"/>
            <a:ext cx="5175250" cy="182498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621780"/>
            <a:ext cx="49053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6932" y="1967210"/>
            <a:ext cx="481317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ISBN: unique identifier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Title, author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status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Invalid data is rejected on creation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415405"/>
            <a:ext cx="5175250" cy="182498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7150" y="1621780"/>
            <a:ext cx="49053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1732" y="1967210"/>
            <a:ext cx="481317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member ID, name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borrowed books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Borrowing limits enforced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Invalid data is rejected on creation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497560"/>
            <a:ext cx="10566400" cy="853380"/>
          </a:xfrm>
          <a:prstGeom prst="roundRect">
            <a:avLst>
              <a:gd name="adj" fmla="val 11906"/>
            </a:avLst>
          </a:prstGeom>
          <a:solidFill>
            <a:srgbClr val="14213D"/>
          </a:solidFill>
          <a:ln/>
        </p:spPr>
        <p:txBody>
          <a:bodyPr wrap="square" lIns="173442" tIns="148042" rIns="0" bIns="1226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Consistency:</a:t>
            </a:r>
            <a:r>
              <a:rPr lang="en-US" sz="14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one ISBN = one book. A book cannot be borrowed twice at once. Rules live in Domain and Service, never in the UI.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&amp; Persistence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31280"/>
            <a:ext cx="2095500" cy="604490"/>
          </a:xfrm>
          <a:prstGeom prst="roundRect">
            <a:avLst>
              <a:gd name="adj" fmla="val 14707"/>
            </a:avLst>
          </a:prstGeom>
          <a:solidFill>
            <a:srgbClr val="14213D"/>
          </a:solidFill>
          <a:ln/>
        </p:spPr>
        <p:txBody>
          <a:bodyPr wrap="square" lIns="99502" tIns="151762" rIns="99502" bIns="126362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LibraryService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140869" y="1520180"/>
            <a:ext cx="315575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36417" y="1431280"/>
            <a:ext cx="2095500" cy="604490"/>
          </a:xfrm>
          <a:prstGeom prst="roundRect">
            <a:avLst>
              <a:gd name="adj" fmla="val 14707"/>
            </a:avLst>
          </a:prstGeom>
          <a:solidFill>
            <a:srgbClr val="14213D"/>
          </a:solidFill>
          <a:ln/>
        </p:spPr>
        <p:txBody>
          <a:bodyPr wrap="square" lIns="99502" tIns="151762" rIns="99502" bIns="126362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interface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64535" y="1520180"/>
            <a:ext cx="315575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60083" y="1431280"/>
            <a:ext cx="2095500" cy="604490"/>
          </a:xfrm>
          <a:prstGeom prst="roundRect">
            <a:avLst>
              <a:gd name="adj" fmla="val 14707"/>
            </a:avLst>
          </a:prstGeom>
          <a:solidFill>
            <a:srgbClr val="B4510A"/>
          </a:solidFill>
          <a:ln/>
        </p:spPr>
        <p:txBody>
          <a:bodyPr wrap="square" lIns="99502" tIns="151762" rIns="99502" bIns="126362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SQLiteRepository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88152" y="1520180"/>
            <a:ext cx="315575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293225" y="1421755"/>
            <a:ext cx="2076450" cy="623540"/>
          </a:xfrm>
          <a:prstGeom prst="roundRect">
            <a:avLst>
              <a:gd name="adj" fmla="val 12730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  <p:txBody>
          <a:bodyPr wrap="square" lIns="112388" tIns="164077" rIns="112388" bIns="138677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library.db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2311995"/>
            <a:ext cx="3380284" cy="15582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2350" y="2518370"/>
            <a:ext cx="30565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apart from storage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6932" y="2863800"/>
            <a:ext cx="296435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never see SQL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changes stay in repositories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05809" y="2311995"/>
            <a:ext cx="3380333" cy="15582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2184" y="2518370"/>
            <a:ext cx="30566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Swappable 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96766" y="2863800"/>
            <a:ext cx="296440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repository implementation plugs in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In-memory version for tests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95692" y="2311995"/>
            <a:ext cx="3380333" cy="15582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067" y="2518370"/>
            <a:ext cx="30566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86649" y="2863800"/>
            <a:ext cx="296440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part has one job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to test and extend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15405"/>
            <a:ext cx="2520950" cy="1169640"/>
          </a:xfrm>
          <a:prstGeom prst="roundRect">
            <a:avLst>
              <a:gd name="adj" fmla="val 8415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596380"/>
            <a:ext cx="22237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book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41810"/>
            <a:ext cx="22237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data, rejects duplicate ISBN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95675" y="1415405"/>
            <a:ext cx="2520950" cy="1169640"/>
          </a:xfrm>
          <a:prstGeom prst="roundRect">
            <a:avLst>
              <a:gd name="adj" fmla="val 8415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76650" y="1596380"/>
            <a:ext cx="22237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book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76650" y="1941810"/>
            <a:ext cx="22237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against loan status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5375" y="1415405"/>
            <a:ext cx="2520950" cy="1169640"/>
          </a:xfrm>
          <a:prstGeom prst="roundRect">
            <a:avLst>
              <a:gd name="adj" fmla="val 8415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6350" y="1596380"/>
            <a:ext cx="22237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books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6350" y="1941810"/>
            <a:ext cx="22237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title, author or ISBN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55075" y="1415405"/>
            <a:ext cx="2520950" cy="1169640"/>
          </a:xfrm>
          <a:prstGeom prst="roundRect">
            <a:avLst>
              <a:gd name="adj" fmla="val 8415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36050" y="1596380"/>
            <a:ext cx="22237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 books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36050" y="1941810"/>
            <a:ext cx="22237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key via SortStrategy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975" y="2743795"/>
            <a:ext cx="2520950" cy="1169640"/>
          </a:xfrm>
          <a:prstGeom prst="roundRect">
            <a:avLst>
              <a:gd name="adj" fmla="val 8415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950" y="2924770"/>
            <a:ext cx="22237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 book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6950" y="3270200"/>
            <a:ext cx="22237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member and availability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95675" y="2743795"/>
            <a:ext cx="2520950" cy="1169640"/>
          </a:xfrm>
          <a:prstGeom prst="roundRect">
            <a:avLst>
              <a:gd name="adj" fmla="val 8415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6650" y="2924770"/>
            <a:ext cx="22237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book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76650" y="3270200"/>
            <a:ext cx="22237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Restores availability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5375" y="2743795"/>
            <a:ext cx="2520950" cy="1169640"/>
          </a:xfrm>
          <a:prstGeom prst="roundRect">
            <a:avLst>
              <a:gd name="adj" fmla="val 8415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6350" y="2924770"/>
            <a:ext cx="22237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members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6350" y="3270200"/>
            <a:ext cx="22237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Add, update, list members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Workflow: Borrow a Book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15405"/>
            <a:ext cx="1984970" cy="1893540"/>
          </a:xfrm>
          <a:prstGeom prst="roundRect">
            <a:avLst>
              <a:gd name="adj" fmla="val 519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59638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B4510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2104380"/>
            <a:ext cx="1673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6950" y="2434580"/>
            <a:ext cx="167382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ConsoleApp shows the menu; user picks Borrow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9695" y="1415405"/>
            <a:ext cx="1985020" cy="1893540"/>
          </a:xfrm>
          <a:prstGeom prst="roundRect">
            <a:avLst>
              <a:gd name="adj" fmla="val 519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0670" y="159638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B4510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40670" y="2104380"/>
            <a:ext cx="16738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input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40670" y="2434580"/>
            <a:ext cx="167387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InputReader parses and validates member ID and ISBN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03465" y="1415405"/>
            <a:ext cx="1985020" cy="1893540"/>
          </a:xfrm>
          <a:prstGeom prst="roundRect">
            <a:avLst>
              <a:gd name="adj" fmla="val 519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4440" y="159638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B4510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4440" y="2104380"/>
            <a:ext cx="16738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rules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84440" y="2434580"/>
            <a:ext cx="167387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LibraryService: member and book exist, book available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47235" y="1415405"/>
            <a:ext cx="1985020" cy="1893540"/>
          </a:xfrm>
          <a:prstGeom prst="roundRect">
            <a:avLst>
              <a:gd name="adj" fmla="val 519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8210" y="159638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B4510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28210" y="2104380"/>
            <a:ext cx="16738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storage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28210" y="2434580"/>
            <a:ext cx="16738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saves the loan in SQLite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91005" y="1415405"/>
            <a:ext cx="1985020" cy="1893540"/>
          </a:xfrm>
          <a:prstGeom prst="roundRect">
            <a:avLst>
              <a:gd name="adj" fmla="val 519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1980" y="159638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B4510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71980" y="2104380"/>
            <a:ext cx="16738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new state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71980" y="2434580"/>
            <a:ext cx="16738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updated, UI confirms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3566120"/>
            <a:ext cx="10566400" cy="604490"/>
          </a:xfrm>
          <a:prstGeom prst="roundRect">
            <a:avLst>
              <a:gd name="adj" fmla="val 16808"/>
            </a:avLst>
          </a:prstGeom>
          <a:solidFill>
            <a:srgbClr val="14213D"/>
          </a:solidFill>
          <a:ln/>
        </p:spPr>
        <p:txBody>
          <a:bodyPr wrap="square" lIns="173442" tIns="148042" rIns="0" bIns="1226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any check fails, the operation stops with a clear message. Storage is never left half-updated.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Reliability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15405"/>
            <a:ext cx="3380284" cy="2358380"/>
          </a:xfrm>
          <a:prstGeom prst="roundRect">
            <a:avLst>
              <a:gd name="adj" fmla="val 4173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621780"/>
            <a:ext cx="30565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6932" y="1967210"/>
            <a:ext cx="2964358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operations and iterators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validation and invariants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rules for borrow and return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09" y="1415405"/>
            <a:ext cx="3380333" cy="2358380"/>
          </a:xfrm>
          <a:prstGeom prst="roundRect">
            <a:avLst>
              <a:gd name="adj" fmla="val 4173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2184" y="1621780"/>
            <a:ext cx="30566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tests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96766" y="1967210"/>
            <a:ext cx="296440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Thousands of insert/remove cycles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borrow and return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structure stays intact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92" y="1415405"/>
            <a:ext cx="3380333" cy="2358380"/>
          </a:xfrm>
          <a:prstGeom prst="roundRect">
            <a:avLst>
              <a:gd name="adj" fmla="val 4173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2067" y="1621780"/>
            <a:ext cx="30566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1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safety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86649" y="1967210"/>
            <a:ext cx="2964409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complete or leave state unchanged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 released on every path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partial updates on failure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&amp; Solutions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24930"/>
          <a:ext cx="10553700" cy="2374801"/>
        </p:xfrm>
        <a:graphic>
          <a:graphicData uri="http://schemas.openxmlformats.org/drawingml/2006/table">
            <a:tbl>
              <a:tblPr/>
              <a:tblGrid>
                <a:gridCol w="3799332"/>
                <a:gridCol w="6754368"/>
              </a:tblGrid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Challenge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Solution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Keeping data consistent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Validate in Domain; Service is the single write path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Designing a reusable container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Generic design with iterator interface, stress tested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Separating UI from logic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Layered design; UI only calls the facade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Flexible search and sort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Strategy interface; new criteria = new class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15405"/>
            <a:ext cx="3380284" cy="1824980"/>
          </a:xfrm>
          <a:prstGeom prst="roundRect">
            <a:avLst>
              <a:gd name="adj" fmla="val 5393"/>
            </a:avLst>
          </a:prstGeom>
          <a:solidFill>
            <a:srgbClr val="1F3158"/>
          </a:solidFill>
          <a:ln w="6350">
            <a:solidFill>
              <a:srgbClr val="2F44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621780"/>
            <a:ext cx="30565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6932" y="1967210"/>
            <a:ext cx="296435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library management system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container at the core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behind a repository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09" y="1415405"/>
            <a:ext cx="3380333" cy="1824980"/>
          </a:xfrm>
          <a:prstGeom prst="roundRect">
            <a:avLst>
              <a:gd name="adj" fmla="val 5393"/>
            </a:avLst>
          </a:prstGeom>
          <a:solidFill>
            <a:srgbClr val="1F3158"/>
          </a:solidFill>
          <a:ln w="6350">
            <a:solidFill>
              <a:srgbClr val="2F44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2184" y="1621780"/>
            <a:ext cx="30566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learned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96766" y="1967210"/>
            <a:ext cx="296440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before coding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Coupling is expensive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protect invariants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92" y="1415405"/>
            <a:ext cx="3380333" cy="1824980"/>
          </a:xfrm>
          <a:prstGeom prst="roundRect">
            <a:avLst>
              <a:gd name="adj" fmla="val 5393"/>
            </a:avLst>
          </a:prstGeom>
          <a:solidFill>
            <a:srgbClr val="1F3158"/>
          </a:solidFill>
          <a:ln w="6350">
            <a:solidFill>
              <a:srgbClr val="2F44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2067" y="1621780"/>
            <a:ext cx="30566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Concepts applied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86649" y="1967210"/>
            <a:ext cx="296440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Separation of concerns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Encapsulation, data structures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Facade, Strategy, Repository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safety, unit testing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15405"/>
            <a:ext cx="3414167" cy="1169640"/>
          </a:xfrm>
          <a:prstGeom prst="roundRect">
            <a:avLst>
              <a:gd name="adj" fmla="val 8415"/>
            </a:avLst>
          </a:prstGeom>
          <a:solidFill>
            <a:srgbClr val="1F3158"/>
          </a:solidFill>
          <a:ln w="6350">
            <a:solidFill>
              <a:srgbClr val="2F44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59638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 version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4181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the console UI; services stay the same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15405"/>
            <a:ext cx="3414167" cy="1169640"/>
          </a:xfrm>
          <a:prstGeom prst="roundRect">
            <a:avLst>
              <a:gd name="adj" fmla="val 8415"/>
            </a:avLst>
          </a:prstGeom>
          <a:solidFill>
            <a:srgbClr val="1F3158"/>
          </a:solidFill>
          <a:ln w="6350">
            <a:solidFill>
              <a:srgbClr val="2F44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9867" y="159638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search filters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69867" y="194181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criteria such as genre, year, availability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15405"/>
            <a:ext cx="3414216" cy="1169640"/>
          </a:xfrm>
          <a:prstGeom prst="roundRect">
            <a:avLst>
              <a:gd name="adj" fmla="val 8415"/>
            </a:avLst>
          </a:prstGeom>
          <a:solidFill>
            <a:srgbClr val="1F3158"/>
          </a:solidFill>
          <a:ln w="6350">
            <a:solidFill>
              <a:srgbClr val="2F44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2784" y="1596380"/>
            <a:ext cx="314383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reporting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42784" y="1941810"/>
            <a:ext cx="314383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Overdue loans, popular books, member activity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2743795"/>
            <a:ext cx="3414167" cy="938510"/>
          </a:xfrm>
          <a:prstGeom prst="roundRect">
            <a:avLst>
              <a:gd name="adj" fmla="val 10487"/>
            </a:avLst>
          </a:prstGeom>
          <a:solidFill>
            <a:srgbClr val="1F3158"/>
          </a:solidFill>
          <a:ln w="6350">
            <a:solidFill>
              <a:srgbClr val="2F44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950" y="292477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&amp; permissions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950" y="3270200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Librarian and member roles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8892" y="2743795"/>
            <a:ext cx="3414167" cy="938510"/>
          </a:xfrm>
          <a:prstGeom prst="roundRect">
            <a:avLst>
              <a:gd name="adj" fmla="val 10487"/>
            </a:avLst>
          </a:prstGeom>
          <a:solidFill>
            <a:srgbClr val="1F3158"/>
          </a:solidFill>
          <a:ln w="6350">
            <a:solidFill>
              <a:srgbClr val="2F4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9867" y="292477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database features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69867" y="3270200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Indexes, migrations, backups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8634" y="2740620"/>
            <a:ext cx="3420566" cy="944860"/>
          </a:xfrm>
          <a:prstGeom prst="roundRect">
            <a:avLst>
              <a:gd name="adj" fmla="val 10753"/>
            </a:avLst>
          </a:prstGeom>
          <a:solidFill>
            <a:srgbClr val="F2A65A"/>
          </a:solidFill>
          <a:ln/>
        </p:spPr>
        <p:txBody>
          <a:bodyPr wrap="square" lIns="148042" tIns="148042" rIns="56093" bIns="148042" rtlCol="0" anchor="ctr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brary Management System — Graduation Project">
  <a:themeElements>
    <a:clrScheme name="Library Management System — Graduation Project">
      <a:dk1>
        <a:srgbClr val="14213D"/>
      </a:dk1>
      <a:lt1>
        <a:srgbClr val="F6F4EF"/>
      </a:lt1>
      <a:dk2>
        <a:srgbClr val="4D566A"/>
      </a:dk2>
      <a:lt2>
        <a:srgbClr val="DFDFDD"/>
      </a:lt2>
      <a:accent1>
        <a:srgbClr val="B4510A"/>
      </a:accent1>
      <a:accent2>
        <a:srgbClr val="F2A65A"/>
      </a:accent2>
      <a:accent3>
        <a:srgbClr val="1F3158"/>
      </a:accent3>
      <a:accent4>
        <a:srgbClr val="2A4A85"/>
      </a:accent4>
      <a:accent5>
        <a:srgbClr val="315BA3"/>
      </a:accent5>
      <a:accent6>
        <a:srgbClr val="3B6CC0"/>
      </a:accent6>
      <a:hlink>
        <a:srgbClr val="0563C1"/>
      </a:hlink>
      <a:folHlink>
        <a:srgbClr val="954F72"/>
      </a:folHlink>
    </a:clrScheme>
    <a:fontScheme name="Library Management System — Graduation Project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— Graduation Project</dc:title>
  <dc:subject/>
  <dc:creator/>
  <cp:lastModifiedBy/>
  <cp:revision>1</cp:revision>
  <dcterms:created xsi:type="dcterms:W3CDTF">2026-10-16T03:42:52Z</dcterms:created>
  <dcterms:modified xsi:type="dcterms:W3CDTF">2026-10-16T03:42:52Z</dcterms:modified>
</cp:coreProperties>
</file>